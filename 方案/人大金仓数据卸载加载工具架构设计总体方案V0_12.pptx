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939" r:id="rId3"/>
    <p:sldId id="412" r:id="rId5"/>
    <p:sldId id="940" r:id="rId6"/>
    <p:sldId id="582" r:id="rId7"/>
    <p:sldId id="941" r:id="rId8"/>
    <p:sldId id="442" r:id="rId9"/>
    <p:sldId id="942" r:id="rId10"/>
    <p:sldId id="943" r:id="rId11"/>
    <p:sldId id="448" r:id="rId12"/>
    <p:sldId id="966" r:id="rId13"/>
    <p:sldId id="453" r:id="rId14"/>
    <p:sldId id="945" r:id="rId15"/>
    <p:sldId id="968" r:id="rId16"/>
    <p:sldId id="947" r:id="rId17"/>
    <p:sldId id="588" r:id="rId18"/>
    <p:sldId id="948" r:id="rId19"/>
    <p:sldId id="969" r:id="rId20"/>
    <p:sldId id="950" r:id="rId21"/>
    <p:sldId id="963" r:id="rId22"/>
    <p:sldId id="951" r:id="rId23"/>
    <p:sldId id="952" r:id="rId24"/>
    <p:sldId id="971" r:id="rId25"/>
    <p:sldId id="954" r:id="rId26"/>
    <p:sldId id="955" r:id="rId27"/>
    <p:sldId id="505" r:id="rId28"/>
    <p:sldId id="956" r:id="rId29"/>
    <p:sldId id="632" r:id="rId30"/>
    <p:sldId id="957" r:id="rId31"/>
    <p:sldId id="633" r:id="rId32"/>
    <p:sldId id="533" r:id="rId33"/>
    <p:sldId id="53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韵东/技术总监室/软件开发中心/总行机关/ABC" initials="赵" lastIdx="2" clrIdx="0"/>
  <p:cmAuthor id="2" name="肖永刚/技术总监室/软件开发中心/总行机关/ABC" initials="肖" lastIdx="3" clrIdx="1"/>
  <p:cmAuthor id="3" name="谢俊/技术总监室/软件开发中心/总行机关/ABC" initials="谢" lastIdx="141" clrIdx="2"/>
  <p:cmAuthor id="4" name="CN=谢俊/OU=技术总监室/OU=软件开发中心/OU=总行机关/O=ABC" initials="C" lastIdx="3" clrIdx="3"/>
  <p:cmAuthor id="5" name="赖强/技术总监室/软件开发中心/总行机关/ABC" initials="赖" lastIdx="5" clrIdx="2"/>
  <p:cmAuthor id="6" name="黄诚/互联网金融研发部/软件开发中心/总行机关/ABC" initials="黄" lastIdx="4" clrIdx="0"/>
  <p:cmAuthor id="7" name="谢钊/应用平台研发部/软件开发中心/总行机关/ABC" initials="谢" lastIdx="10" clrIdx="6"/>
  <p:cmAuthor id="8" name="J" initials="J" lastIdx="10" clrIdx="0"/>
  <p:cmAuthor id="9" name="闫晓林/应用开发一部/软件开发中心/总行机关/ABC" initials="闫" lastIdx="509" clrIdx="1"/>
  <p:cmAuthor id="10" name="Mia Vida Villanueva" initials="M" lastIdx="1" clrIdx="0"/>
  <p:cmAuthor id="11" name="Hao Tang" initials="H" lastIdx="33" clrIdx="1"/>
  <p:cmAuthor id="12" name="kahlen qi" initials="k" lastIdx="2" clrIdx="2"/>
  <p:cmAuthor id="13" name="刘旭/应用平台研发部/软件开发中心/总行机关/ABC" initials="刘" lastIdx="1" clrIdx="0"/>
  <p:cmAuthor id="14" name="moogle" initials="m" lastIdx="1" clrIdx="6"/>
  <p:cmAuthor id="15" name="罗位国/应用平台研发部/软件开发中心/总行机关/ABC" initials="罗" lastIdx="1" clrIdx="1"/>
  <p:cmAuthor id="16" name="lenovo" initials="l" lastIdx="2" clrIdx="6"/>
  <p:cmAuthor id="17" name="ZhangqQi" initials="Z" lastIdx="1" clrIdx="7"/>
  <p:cmAuthor id="18" name="CN=周正贤/OU=架构管理办公室/OU=软件开发中心/OU=总行机关/O=ABC" initials="C" lastIdx="101" clrIdx="3"/>
  <p:cmAuthor id="19" name="fyl" initials="f" lastIdx="3" clrIdx="2"/>
  <p:cmAuthor id="20" name="杨宁/技术总监室/软件开发中心/总行机关/ABC" initials="杨" lastIdx="7" clrIdx="3"/>
  <p:cmAuthor id="21" name="011915056" initials="0" lastIdx="2" clrIdx="5"/>
  <p:cmAuthor id="22" name="wenzi" initials="w" lastIdx="8" clrIdx="0"/>
  <p:cmAuthor id="23" name="部室管理员/软件开发中心/总行机关/ABC" initials="部" lastIdx="1" clrIdx="5"/>
  <p:cmAuthor id="24" name="pearl" initials="p" lastIdx="5" clrIdx="26"/>
  <p:cmAuthor id="25" name="Shirley D Duo" initials="S" lastIdx="1" clrIdx="27"/>
  <p:cmAuthor id="26" name="周轶奇/上研技术保障部/研发中心/总行机关/ABC" initials="周" lastIdx="6" clrIdx="26"/>
  <p:cmAuthor id="27" name="杨庆辰" initials="杨" lastIdx="9" clrIdx="27"/>
  <p:cmAuthor id="28" name="霍桃梅/成研开发二部/研发中心/总行机关/ABC" initials="霍" lastIdx="5" clrIdx="28"/>
  <p:cmAuthor id="29" name="ketchup" initials="k" lastIdx="47" clrIdx="29"/>
  <p:cmAuthor id="30" name="Administrator" initials="A" lastIdx="1" clrIdx="29"/>
  <p:cmAuthor id="0" name="康晓宇" initials="k" lastIdx="13" clrIdx="0"/>
  <p:cmAuthor id="31" name="wangyuanyuan" initials="w" lastIdx="1" clrIdx="30"/>
  <p:cmAuthor id="32" name="yanbi" initials="y" lastIdx="1" clrIdx="31"/>
  <p:cmAuthor id="33" name="Yaguang Ma" initials="Y" lastIdx="1" clrIdx="0"/>
  <p:cmAuthor id="34" name="元鹏 王" initials="元" lastIdx="1" clrIdx="1"/>
  <p:cmAuthor id="35" name="赵成文" initials="赵" lastIdx="4" clrIdx="1"/>
  <p:cmAuthor id="36" name="未知用户13" initials="未" lastIdx="16" clrIdx="0"/>
  <p:cmAuthor id="38" name="刘俐孜" initials="llz" lastIdx="4" clrIdx="37"/>
  <p:cmAuthor id="39" name="admin" initials="a" lastIdx="0" clrIdx="38"/>
  <p:cmAuthor id="40" name="CSITS-P-panry" initials="C" lastIdx="0" clrIdx="3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096E6"/>
    <a:srgbClr val="F0F0F0"/>
    <a:srgbClr val="5B9BD5"/>
    <a:srgbClr val="004CA1"/>
    <a:srgbClr val="01B4ED"/>
    <a:srgbClr val="0890D4"/>
    <a:srgbClr val="0556A7"/>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38" dt="2025-05-13T16:13:59.862" idx="2">
    <p:pos x="-1965" y="4322"/>
    <p:text/>
  </p:cm>
</p:cmLst>
</file>

<file path=ppt/comments/comment2.xml><?xml version="1.0" encoding="utf-8"?>
<p:cmLst xmlns:a="http://schemas.openxmlformats.org/drawingml/2006/main" xmlns:r="http://schemas.openxmlformats.org/officeDocument/2006/relationships" xmlns:p="http://schemas.openxmlformats.org/presentationml/2006/main">
  <p:cm authorId="38" dt="2025-05-13T16:13:59.862" idx="3">
    <p:pos x="-1965" y="4322"/>
    <p:text/>
  </p:cm>
</p:cmLst>
</file>

<file path=ppt/comments/comment3.xml><?xml version="1.0" encoding="utf-8"?>
<p:cmLst xmlns:a="http://schemas.openxmlformats.org/drawingml/2006/main" xmlns:r="http://schemas.openxmlformats.org/officeDocument/2006/relationships" xmlns:p="http://schemas.openxmlformats.org/presentationml/2006/main">
  <p:cm authorId="38" dt="2025-05-13T16:13:59.862" idx="4">
    <p:pos x="-1965" y="4322"/>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是否需要和</a:t>
            </a:r>
            <a:r>
              <a:rPr lang="en-US" altLang="zh-CN">
                <a:sym typeface="+mn-ea"/>
              </a:rPr>
              <a:t>“</a:t>
            </a:r>
            <a:r>
              <a:rPr lang="zh-CN" altLang="en-US">
                <a:sym typeface="+mn-ea"/>
              </a:rPr>
              <a:t>基本情况</a:t>
            </a:r>
            <a:r>
              <a:rPr lang="en-US" altLang="zh-CN">
                <a:sym typeface="+mn-ea"/>
              </a:rPr>
              <a:t>”</a:t>
            </a:r>
            <a:r>
              <a:rPr lang="zh-CN" altLang="en-US">
                <a:sym typeface="+mn-ea"/>
              </a:rPr>
              <a:t>合并？</a:t>
            </a:r>
            <a:endParaRPr lang="zh-CN" altLang="en-US">
              <a:sym typeface="+mn-ea"/>
            </a:endParaRPr>
          </a:p>
          <a:p>
            <a:r>
              <a:rPr lang="zh-CN" altLang="en-US">
                <a:highlight>
                  <a:srgbClr val="FFFF00"/>
                </a:highlight>
                <a:sym typeface="+mn-ea"/>
              </a:rPr>
              <a:t>整体结构</a:t>
            </a:r>
            <a:r>
              <a:rPr lang="zh-CN" altLang="en-US">
                <a:sym typeface="+mn-ea"/>
              </a:rPr>
              <a:t>：通过系统实现目的（项目需求）</a:t>
            </a:r>
            <a:r>
              <a:rPr lang="en-US" altLang="zh-CN">
                <a:sym typeface="+mn-ea"/>
              </a:rPr>
              <a:t>-</a:t>
            </a:r>
            <a:r>
              <a:rPr lang="zh-CN" altLang="en-US">
                <a:sym typeface="+mn-ea"/>
              </a:rPr>
              <a:t>具体功能简单介绍（项目背景</a:t>
            </a:r>
            <a:r>
              <a:rPr lang="en-US" altLang="zh-CN">
                <a:sym typeface="+mn-ea"/>
              </a:rPr>
              <a:t>=</a:t>
            </a:r>
            <a:r>
              <a:rPr lang="zh-CN" altLang="en-US">
                <a:sym typeface="+mn-ea"/>
              </a:rPr>
              <a:t>业务痛点）</a:t>
            </a:r>
            <a:r>
              <a:rPr lang="en-US" altLang="zh-CN">
                <a:sym typeface="+mn-ea"/>
              </a:rPr>
              <a:t>-</a:t>
            </a:r>
            <a:r>
              <a:rPr lang="zh-CN" altLang="en-US">
                <a:sym typeface="+mn-ea"/>
              </a:rPr>
              <a:t>现阶段做到哪个程度了（业务痛点）</a:t>
            </a:r>
            <a:r>
              <a:rPr lang="en-US" altLang="zh-CN">
                <a:sym typeface="+mn-ea"/>
              </a:rPr>
              <a:t>-</a:t>
            </a:r>
            <a:r>
              <a:rPr lang="zh-CN" altLang="en-US">
                <a:sym typeface="+mn-ea"/>
              </a:rPr>
              <a:t>要解决什么问题</a:t>
            </a:r>
            <a:r>
              <a:rPr lang="en-US" altLang="zh-CN">
                <a:sym typeface="+mn-ea"/>
              </a:rPr>
              <a:t>/</a:t>
            </a:r>
            <a:r>
              <a:rPr lang="zh-CN" altLang="en-US">
                <a:sym typeface="+mn-ea"/>
              </a:rPr>
              <a:t>方案（业务规划</a:t>
            </a:r>
            <a:r>
              <a:rPr lang="en-US" altLang="zh-CN">
                <a:sym typeface="+mn-ea"/>
              </a:rPr>
              <a:t>/</a:t>
            </a:r>
            <a:r>
              <a:rPr lang="zh-CN" altLang="en-US">
                <a:sym typeface="+mn-ea"/>
              </a:rPr>
              <a:t>实施计划）</a:t>
            </a:r>
            <a:r>
              <a:rPr lang="en-US" altLang="zh-CN">
                <a:sym typeface="+mn-ea"/>
              </a:rPr>
              <a:t>-</a:t>
            </a:r>
            <a:r>
              <a:rPr lang="zh-CN" altLang="en-US">
                <a:sym typeface="+mn-ea"/>
              </a:rPr>
              <a:t>架构的增删改对现有架构有什么影响</a:t>
            </a:r>
            <a:r>
              <a:rPr lang="en-US" altLang="zh-CN">
                <a:sym typeface="+mn-ea"/>
              </a:rPr>
              <a:t>-</a:t>
            </a:r>
            <a:r>
              <a:rPr lang="zh-CN" altLang="en-US">
                <a:sym typeface="+mn-ea"/>
              </a:rPr>
              <a:t>请示事项</a:t>
            </a:r>
            <a:endParaRPr lang="zh-CN" altLang="en-US"/>
          </a:p>
          <a:p>
            <a:r>
              <a:rPr lang="zh-CN" altLang="en-US">
                <a:highlight>
                  <a:srgbClr val="FFFF00"/>
                </a:highlight>
              </a:rPr>
              <a:t>两张图：</a:t>
            </a:r>
            <a:r>
              <a:rPr lang="zh-CN" altLang="en-US"/>
              <a:t>技术架构、数据流向图</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p:cNvSpPr>
          <p:nvPr>
            <p:ph type="sldImg"/>
          </p:nvPr>
        </p:nvSpPr>
        <p:spPr/>
      </p:sp>
      <p:sp>
        <p:nvSpPr>
          <p:cNvPr id="88066" name="文本占位符 2"/>
          <p:cNvSpPr>
            <a:spLocks noGrp="1"/>
          </p:cNvSpPr>
          <p:nvPr>
            <p:ph type="body"/>
          </p:nvPr>
        </p:nvSpPr>
        <p:spPr/>
        <p:txBody>
          <a:bodyPr lIns="91550" tIns="45775" rIns="91550" bIns="45775" anchor="ctr"/>
          <a:p>
            <a:pPr lvl="0" indent="0"/>
            <a:r>
              <a:rPr lang="zh-CN" altLang="en-US" dirty="0">
                <a:latin typeface="微软雅黑" panose="020B0503020204020204" pitchFamily="34" charset="-122"/>
                <a:ea typeface="微软雅黑" panose="020B0503020204020204" pitchFamily="34" charset="-122"/>
              </a:rPr>
              <a:t>入口的定义  </a:t>
            </a:r>
            <a:endParaRPr lang="en-US" altLang="zh-CN" dirty="0">
              <a:latin typeface="微软雅黑" panose="020B0503020204020204" pitchFamily="34" charset="-122"/>
              <a:ea typeface="微软雅黑" panose="020B0503020204020204" pitchFamily="34" charset="-122"/>
            </a:endParaRPr>
          </a:p>
          <a:p>
            <a:pPr lvl="0" indent="0"/>
            <a:r>
              <a:rPr lang="en-US" altLang="zh-CN" dirty="0">
                <a:latin typeface="微软雅黑" panose="020B0503020204020204" pitchFamily="34" charset="-122"/>
                <a:ea typeface="微软雅黑" panose="020B0503020204020204" pitchFamily="34" charset="-122"/>
              </a:rPr>
              <a:t>esj</a:t>
            </a:r>
            <a:endParaRPr lang="zh-CN" altLang="en-US"/>
          </a:p>
          <a:p>
            <a:pPr lvl="0" indent="0"/>
            <a:r>
              <a:rPr lang="zh-CN" altLang="en-US"/>
              <a:t>总体架构应该对后面三个架构的主要内容有充分表达</a:t>
            </a:r>
            <a:endParaRPr lang="zh-CN" altLang="en-US"/>
          </a:p>
          <a:p>
            <a:pPr lvl="0" indent="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幻灯片图像占位符 1"/>
          <p:cNvSpPr>
            <a:spLocks noGrp="1" noRot="1"/>
          </p:cNvSpPr>
          <p:nvPr>
            <p:ph type="sldImg"/>
          </p:nvPr>
        </p:nvSpPr>
        <p:spPr/>
      </p:sp>
      <p:sp>
        <p:nvSpPr>
          <p:cNvPr id="105474" name="文本占位符 2"/>
          <p:cNvSpPr>
            <a:spLocks noGrp="1"/>
          </p:cNvSpPr>
          <p:nvPr>
            <p:ph type="body"/>
          </p:nvPr>
        </p:nvSpPr>
        <p:spPr/>
        <p:txBody>
          <a:bodyPr lIns="91550" tIns="45775" rIns="91550" bIns="45775" anchor="ctr"/>
          <a:p>
            <a:pPr lvl="0" indent="0"/>
            <a:endParaRPr lang="zh-CN" altLang="en-US">
              <a:highlight>
                <a:srgbClr val="FFFF00"/>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幻灯片图像占位符 1"/>
          <p:cNvSpPr>
            <a:spLocks noGrp="1"/>
          </p:cNvSpPr>
          <p:nvPr>
            <p:ph type="sldImg"/>
          </p:nvPr>
        </p:nvSpPr>
        <p:spPr/>
      </p:sp>
      <p:sp>
        <p:nvSpPr>
          <p:cNvPr id="143362" name="文本占位符 2"/>
          <p:cNvSpPr>
            <a:spLocks noGrp="1"/>
          </p:cNvSpPr>
          <p:nvPr>
            <p:ph type="body"/>
          </p:nvPr>
        </p:nvSpPr>
        <p:spPr/>
        <p:txBody>
          <a:bodyPr lIns="91550" tIns="45775" rIns="91550" bIns="45775" anchor="ctr" anchorCtr="0"/>
          <a:p>
            <a:pPr lvl="0"/>
            <a:endParaRPr lang="zh-CN" altLang="en-US">
              <a:solidFill>
                <a:srgbClr val="FF0000"/>
              </a:solidFill>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r>
              <a:rPr lang="zh-CN" altLang="en-US">
                <a:highlight>
                  <a:srgbClr val="FFFF00"/>
                </a:highlight>
              </a:rPr>
              <a:t>运行状态中间件描述</a:t>
            </a:r>
            <a:endParaRPr lang="zh-CN" altLang="en-US">
              <a:highlight>
                <a:srgbClr val="FFFF00"/>
              </a:highlight>
            </a:endParaRPr>
          </a:p>
          <a:p>
            <a:pPr lvl="0"/>
            <a:r>
              <a:rPr lang="en-US" altLang="zh-CN">
                <a:highlight>
                  <a:srgbClr val="FFFF00"/>
                </a:highlight>
              </a:rPr>
              <a:t>nacos</a:t>
            </a:r>
            <a:r>
              <a:rPr lang="zh-CN" altLang="en-US">
                <a:highlight>
                  <a:srgbClr val="FFFF00"/>
                </a:highlight>
              </a:rPr>
              <a:t>：放组件里</a:t>
            </a:r>
            <a:endParaRPr lang="zh-CN" altLang="en-US">
              <a:highlight>
                <a:srgbClr val="FFFF00"/>
              </a:high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资源节约</a:t>
            </a:r>
            <a:endParaRPr lang="zh-CN" altLang="en-US"/>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幻灯片图像占位符 1"/>
          <p:cNvSpPr>
            <a:spLocks noGrp="1" noRot="1"/>
          </p:cNvSpPr>
          <p:nvPr>
            <p:ph type="sldImg"/>
          </p:nvPr>
        </p:nvSpPr>
        <p:spPr/>
      </p:sp>
      <p:sp>
        <p:nvSpPr>
          <p:cNvPr id="229378" name="文本占位符 2"/>
          <p:cNvSpPr>
            <a:spLocks noGrp="1"/>
          </p:cNvSpPr>
          <p:nvPr>
            <p:ph type="body"/>
          </p:nvPr>
        </p:nvSpPr>
        <p:spPr/>
        <p:txBody>
          <a:bodyPr lIns="91550" tIns="45775" rIns="91550" bIns="45775" anchor="ctr"/>
          <a:p>
            <a:pPr lvl="0" indent="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标题占位符 1"/>
          <p:cNvSpPr txBox="1">
            <a:spLocks noGrp="1"/>
          </p:cNvSpPr>
          <p:nvPr>
            <p:ph type="title"/>
            <p:custDataLst>
              <p:tags r:id="rId3"/>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8" name="灯片编号占位符 7"/>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占位符 1"/>
          <p:cNvSpPr txBox="1">
            <a:spLocks noGrp="1"/>
          </p:cNvSpPr>
          <p:nvPr>
            <p:ph type="title"/>
            <p:custDataLst>
              <p:tags r:id="rId2"/>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2"/>
            </p:custDataLst>
          </p:nvPr>
        </p:nvSpPr>
        <p:spPr>
          <a:xfrm>
            <a:off x="6277540" y="5268555"/>
            <a:ext cx="3960000" cy="316800"/>
          </a:xfrm>
        </p:spPr>
        <p:txBody>
          <a:bodyPr/>
          <a:lstStyle/>
          <a:p>
            <a:endParaRPr lang="zh-CN" altLang="en-US"/>
          </a:p>
        </p:txBody>
      </p:sp>
      <p:sp>
        <p:nvSpPr>
          <p:cNvPr id="7" name="内容占位符 6"/>
          <p:cNvSpPr>
            <a:spLocks noGrp="1"/>
          </p:cNvSpPr>
          <p:nvPr>
            <p:ph sz="quarter" idx="13"/>
            <p:custDataLst>
              <p:tags r:id="rId3"/>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3"/>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标题和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txBox="1">
            <a:spLocks noGrp="1"/>
          </p:cNvSpPr>
          <p:nvPr>
            <p:ph type="title"/>
            <p:custDataLst>
              <p:tags r:id="rId11"/>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7" name="Picture 3" descr="未标题-2"/>
          <p:cNvPicPr>
            <a:picLocks noChangeAspect="1"/>
          </p:cNvPicPr>
          <p:nvPr userDrawn="1"/>
        </p:nvPicPr>
        <p:blipFill>
          <a:blip r:embed="rId13"/>
          <a:stretch>
            <a:fillRect/>
          </a:stretch>
        </p:blipFill>
        <p:spPr>
          <a:xfrm>
            <a:off x="246063" y="565150"/>
            <a:ext cx="11699875" cy="211138"/>
          </a:xfrm>
          <a:prstGeom prst="rect">
            <a:avLst/>
          </a:prstGeom>
          <a:noFill/>
          <a:ln w="9525">
            <a:noFill/>
          </a:ln>
        </p:spPr>
      </p:pic>
      <p:pic>
        <p:nvPicPr>
          <p:cNvPr id="8" name="图片 8" descr="微信图片_20200527103432"/>
          <p:cNvPicPr>
            <a:picLocks noChangeAspect="1"/>
          </p:cNvPicPr>
          <p:nvPr userDrawn="1"/>
        </p:nvPicPr>
        <p:blipFill>
          <a:blip r:embed="rId14"/>
          <a:stretch>
            <a:fillRect/>
          </a:stretch>
        </p:blipFill>
        <p:spPr>
          <a:xfrm>
            <a:off x="514350" y="-71437"/>
            <a:ext cx="1514475" cy="946150"/>
          </a:xfrm>
          <a:prstGeom prst="rect">
            <a:avLst/>
          </a:prstGeom>
          <a:noFill/>
          <a:ln w="9525">
            <a:noFill/>
          </a:ln>
        </p:spPr>
      </p:pic>
      <p:pic>
        <p:nvPicPr>
          <p:cNvPr id="15361" name="Picture 3" descr="未标题-2"/>
          <p:cNvPicPr>
            <a:picLocks noChangeAspect="1"/>
          </p:cNvPicPr>
          <p:nvPr userDrawn="1"/>
        </p:nvPicPr>
        <p:blipFill>
          <a:blip r:embed="rId15"/>
          <a:stretch>
            <a:fillRect/>
          </a:stretch>
        </p:blipFill>
        <p:spPr>
          <a:xfrm>
            <a:off x="1588" y="6231573"/>
            <a:ext cx="12192000" cy="573087"/>
          </a:xfrm>
          <a:prstGeom prst="rect">
            <a:avLst/>
          </a:prstGeom>
          <a:noFill/>
          <a:ln w="9525">
            <a:noFill/>
          </a:ln>
        </p:spPr>
      </p:pic>
      <p:sp>
        <p:nvSpPr>
          <p:cNvPr id="15362" name="Text Box 7"/>
          <p:cNvSpPr txBox="1"/>
          <p:nvPr userDrawn="1"/>
        </p:nvSpPr>
        <p:spPr>
          <a:xfrm>
            <a:off x="590550" y="6509385"/>
            <a:ext cx="1579563" cy="319088"/>
          </a:xfrm>
          <a:prstGeom prst="rect">
            <a:avLst/>
          </a:prstGeom>
          <a:noFill/>
          <a:ln w="9525">
            <a:noFill/>
          </a:ln>
        </p:spPr>
        <p:txBody>
          <a:bodyPr wrap="none" anchor="t">
            <a:spAutoFit/>
          </a:bodyPr>
          <a:p>
            <a:r>
              <a:rPr lang="zh-CN" altLang="zh-CN" sz="1400" dirty="0">
                <a:solidFill>
                  <a:schemeClr val="bg1"/>
                </a:solidFill>
                <a:latin typeface="微软雅黑" panose="020B0503020204020204" pitchFamily="34" charset="-122"/>
                <a:ea typeface="微软雅黑" panose="020B0503020204020204" pitchFamily="34" charset="-122"/>
              </a:rPr>
              <a:t>www.csits.</a:t>
            </a:r>
            <a:r>
              <a:rPr lang="en-US" altLang="zh-CN" sz="1400" dirty="0">
                <a:solidFill>
                  <a:schemeClr val="bg1"/>
                </a:solidFill>
                <a:latin typeface="微软雅黑" panose="020B0503020204020204" pitchFamily="34" charset="-122"/>
                <a:ea typeface="微软雅黑" panose="020B0503020204020204" pitchFamily="34" charset="-122"/>
              </a:rPr>
              <a:t>org.cn</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5363" name="矩形 6"/>
          <p:cNvSpPr/>
          <p:nvPr userDrawn="1"/>
        </p:nvSpPr>
        <p:spPr>
          <a:xfrm>
            <a:off x="9017000" y="6231890"/>
            <a:ext cx="3175000" cy="319088"/>
          </a:xfrm>
          <a:prstGeom prst="rect">
            <a:avLst/>
          </a:prstGeom>
          <a:noFill/>
          <a:ln w="9525">
            <a:noFill/>
          </a:ln>
        </p:spPr>
        <p:txBody>
          <a:bodyPr anchor="ctr" anchorCtr="1">
            <a:spAutoFit/>
          </a:bodyPr>
          <a:p>
            <a:pPr algn="ctr"/>
            <a:r>
              <a:rPr lang="zh-CN" altLang="en-US" sz="1400" dirty="0">
                <a:solidFill>
                  <a:schemeClr val="bg1"/>
                </a:solidFill>
                <a:latin typeface="微软雅黑" panose="020B0503020204020204" pitchFamily="34" charset="-122"/>
                <a:ea typeface="微软雅黑" panose="020B0503020204020204" pitchFamily="34" charset="-122"/>
              </a:rPr>
              <a:t>中证信息技术服务有限责任公司</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9" Type="http://schemas.openxmlformats.org/officeDocument/2006/relationships/tags" Target="../tags/tag26.xml"/><Relationship Id="rId82" Type="http://schemas.openxmlformats.org/officeDocument/2006/relationships/notesSlide" Target="../notesSlides/notesSlide3.xml"/><Relationship Id="rId81" Type="http://schemas.openxmlformats.org/officeDocument/2006/relationships/slideLayout" Target="../slideLayouts/slideLayout9.xml"/><Relationship Id="rId80" Type="http://schemas.openxmlformats.org/officeDocument/2006/relationships/tags" Target="../tags/tag97.xml"/><Relationship Id="rId8" Type="http://schemas.openxmlformats.org/officeDocument/2006/relationships/tags" Target="../tags/tag25.xml"/><Relationship Id="rId79" Type="http://schemas.openxmlformats.org/officeDocument/2006/relationships/tags" Target="../tags/tag96.xml"/><Relationship Id="rId78" Type="http://schemas.openxmlformats.org/officeDocument/2006/relationships/tags" Target="../tags/tag95.xml"/><Relationship Id="rId77" Type="http://schemas.openxmlformats.org/officeDocument/2006/relationships/tags" Target="../tags/tag94.xml"/><Relationship Id="rId76" Type="http://schemas.openxmlformats.org/officeDocument/2006/relationships/tags" Target="../tags/tag93.xml"/><Relationship Id="rId75" Type="http://schemas.openxmlformats.org/officeDocument/2006/relationships/tags" Target="../tags/tag92.xml"/><Relationship Id="rId74" Type="http://schemas.openxmlformats.org/officeDocument/2006/relationships/tags" Target="../tags/tag91.xml"/><Relationship Id="rId73" Type="http://schemas.openxmlformats.org/officeDocument/2006/relationships/tags" Target="../tags/tag90.xml"/><Relationship Id="rId72" Type="http://schemas.openxmlformats.org/officeDocument/2006/relationships/tags" Target="../tags/tag89.xml"/><Relationship Id="rId71" Type="http://schemas.openxmlformats.org/officeDocument/2006/relationships/tags" Target="../tags/tag88.xml"/><Relationship Id="rId70" Type="http://schemas.openxmlformats.org/officeDocument/2006/relationships/tags" Target="../tags/tag87.xml"/><Relationship Id="rId7" Type="http://schemas.openxmlformats.org/officeDocument/2006/relationships/tags" Target="../tags/tag24.xml"/><Relationship Id="rId69" Type="http://schemas.openxmlformats.org/officeDocument/2006/relationships/tags" Target="../tags/tag86.xml"/><Relationship Id="rId68" Type="http://schemas.openxmlformats.org/officeDocument/2006/relationships/tags" Target="../tags/tag85.xml"/><Relationship Id="rId67" Type="http://schemas.openxmlformats.org/officeDocument/2006/relationships/tags" Target="../tags/tag84.xml"/><Relationship Id="rId66" Type="http://schemas.openxmlformats.org/officeDocument/2006/relationships/tags" Target="../tags/tag83.xml"/><Relationship Id="rId65" Type="http://schemas.openxmlformats.org/officeDocument/2006/relationships/tags" Target="../tags/tag82.xml"/><Relationship Id="rId64" Type="http://schemas.openxmlformats.org/officeDocument/2006/relationships/tags" Target="../tags/tag81.xml"/><Relationship Id="rId63" Type="http://schemas.openxmlformats.org/officeDocument/2006/relationships/tags" Target="../tags/tag80.xml"/><Relationship Id="rId62" Type="http://schemas.openxmlformats.org/officeDocument/2006/relationships/tags" Target="../tags/tag79.xml"/><Relationship Id="rId61" Type="http://schemas.openxmlformats.org/officeDocument/2006/relationships/tags" Target="../tags/tag78.xml"/><Relationship Id="rId60" Type="http://schemas.openxmlformats.org/officeDocument/2006/relationships/tags" Target="../tags/tag77.xml"/><Relationship Id="rId6" Type="http://schemas.openxmlformats.org/officeDocument/2006/relationships/tags" Target="../tags/tag23.xml"/><Relationship Id="rId59" Type="http://schemas.openxmlformats.org/officeDocument/2006/relationships/tags" Target="../tags/tag76.xml"/><Relationship Id="rId58" Type="http://schemas.openxmlformats.org/officeDocument/2006/relationships/tags" Target="../tags/tag75.xml"/><Relationship Id="rId57" Type="http://schemas.openxmlformats.org/officeDocument/2006/relationships/tags" Target="../tags/tag74.xml"/><Relationship Id="rId56" Type="http://schemas.openxmlformats.org/officeDocument/2006/relationships/tags" Target="../tags/tag73.xml"/><Relationship Id="rId55" Type="http://schemas.openxmlformats.org/officeDocument/2006/relationships/tags" Target="../tags/tag72.xml"/><Relationship Id="rId54" Type="http://schemas.openxmlformats.org/officeDocument/2006/relationships/tags" Target="../tags/tag71.xml"/><Relationship Id="rId53" Type="http://schemas.openxmlformats.org/officeDocument/2006/relationships/tags" Target="../tags/tag70.xml"/><Relationship Id="rId52" Type="http://schemas.openxmlformats.org/officeDocument/2006/relationships/tags" Target="../tags/tag69.xml"/><Relationship Id="rId51" Type="http://schemas.openxmlformats.org/officeDocument/2006/relationships/tags" Target="../tags/tag68.xml"/><Relationship Id="rId50" Type="http://schemas.openxmlformats.org/officeDocument/2006/relationships/tags" Target="../tags/tag67.xml"/><Relationship Id="rId5" Type="http://schemas.openxmlformats.org/officeDocument/2006/relationships/tags" Target="../tags/tag22.xml"/><Relationship Id="rId49" Type="http://schemas.openxmlformats.org/officeDocument/2006/relationships/tags" Target="../tags/tag66.xml"/><Relationship Id="rId48" Type="http://schemas.openxmlformats.org/officeDocument/2006/relationships/tags" Target="../tags/tag65.xml"/><Relationship Id="rId47" Type="http://schemas.openxmlformats.org/officeDocument/2006/relationships/tags" Target="../tags/tag64.xml"/><Relationship Id="rId46" Type="http://schemas.openxmlformats.org/officeDocument/2006/relationships/tags" Target="../tags/tag63.xml"/><Relationship Id="rId45" Type="http://schemas.openxmlformats.org/officeDocument/2006/relationships/tags" Target="../tags/tag62.xml"/><Relationship Id="rId44" Type="http://schemas.openxmlformats.org/officeDocument/2006/relationships/tags" Target="../tags/tag61.xml"/><Relationship Id="rId43" Type="http://schemas.openxmlformats.org/officeDocument/2006/relationships/tags" Target="../tags/tag60.xml"/><Relationship Id="rId42" Type="http://schemas.openxmlformats.org/officeDocument/2006/relationships/tags" Target="../tags/tag59.xml"/><Relationship Id="rId41" Type="http://schemas.openxmlformats.org/officeDocument/2006/relationships/tags" Target="../tags/tag58.xml"/><Relationship Id="rId40" Type="http://schemas.openxmlformats.org/officeDocument/2006/relationships/tags" Target="../tags/tag57.xml"/><Relationship Id="rId4" Type="http://schemas.openxmlformats.org/officeDocument/2006/relationships/tags" Target="../tags/tag21.xml"/><Relationship Id="rId39" Type="http://schemas.openxmlformats.org/officeDocument/2006/relationships/tags" Target="../tags/tag56.xml"/><Relationship Id="rId38" Type="http://schemas.openxmlformats.org/officeDocument/2006/relationships/tags" Target="../tags/tag55.xml"/><Relationship Id="rId37" Type="http://schemas.openxmlformats.org/officeDocument/2006/relationships/tags" Target="../tags/tag54.xml"/><Relationship Id="rId36" Type="http://schemas.openxmlformats.org/officeDocument/2006/relationships/tags" Target="../tags/tag53.xml"/><Relationship Id="rId35" Type="http://schemas.openxmlformats.org/officeDocument/2006/relationships/tags" Target="../tags/tag52.xml"/><Relationship Id="rId34" Type="http://schemas.openxmlformats.org/officeDocument/2006/relationships/tags" Target="../tags/tag51.xml"/><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0.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tags" Target="../tags/tag99.xml"/><Relationship Id="rId1" Type="http://schemas.openxmlformats.org/officeDocument/2006/relationships/tags" Target="../tags/tag9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1" Type="http://schemas.openxmlformats.org/officeDocument/2006/relationships/notesSlide" Target="../notesSlides/notesSlide5.xml"/><Relationship Id="rId20" Type="http://schemas.openxmlformats.org/officeDocument/2006/relationships/slideLayout" Target="../slideLayouts/slideLayout9.xml"/><Relationship Id="rId2" Type="http://schemas.openxmlformats.org/officeDocument/2006/relationships/tags" Target="../tags/tag101.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2" Type="http://schemas.openxmlformats.org/officeDocument/2006/relationships/notesSlide" Target="../notesSlides/notesSlide6.xml"/><Relationship Id="rId11" Type="http://schemas.openxmlformats.org/officeDocument/2006/relationships/slideLayout" Target="../slideLayouts/slideLayout9.xml"/><Relationship Id="rId10" Type="http://schemas.openxmlformats.org/officeDocument/2006/relationships/tags" Target="../tags/tag128.xml"/><Relationship Id="rId1" Type="http://schemas.openxmlformats.org/officeDocument/2006/relationships/tags" Target="../tags/tag119.xml"/></Relationships>
</file>

<file path=ppt/slides/_rels/slide13.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4" Type="http://schemas.openxmlformats.org/officeDocument/2006/relationships/comments" Target="../comments/comment1.xml"/><Relationship Id="rId63" Type="http://schemas.openxmlformats.org/officeDocument/2006/relationships/notesSlide" Target="../notesSlides/notesSlide7.xml"/><Relationship Id="rId62" Type="http://schemas.openxmlformats.org/officeDocument/2006/relationships/slideLayout" Target="../slideLayouts/slideLayout9.xml"/><Relationship Id="rId61" Type="http://schemas.openxmlformats.org/officeDocument/2006/relationships/tags" Target="../tags/tag185.xml"/><Relationship Id="rId60" Type="http://schemas.openxmlformats.org/officeDocument/2006/relationships/tags" Target="../tags/tag184.xml"/><Relationship Id="rId6" Type="http://schemas.openxmlformats.org/officeDocument/2006/relationships/tags" Target="../tags/tag133.xml"/><Relationship Id="rId59" Type="http://schemas.openxmlformats.org/officeDocument/2006/relationships/tags" Target="../tags/tag183.xml"/><Relationship Id="rId58" Type="http://schemas.openxmlformats.org/officeDocument/2006/relationships/tags" Target="../tags/tag182.xml"/><Relationship Id="rId57" Type="http://schemas.openxmlformats.org/officeDocument/2006/relationships/tags" Target="../tags/tag181.xml"/><Relationship Id="rId56" Type="http://schemas.openxmlformats.org/officeDocument/2006/relationships/tags" Target="../tags/tag180.xml"/><Relationship Id="rId55" Type="http://schemas.openxmlformats.org/officeDocument/2006/relationships/tags" Target="../tags/tag179.xml"/><Relationship Id="rId54" Type="http://schemas.openxmlformats.org/officeDocument/2006/relationships/tags" Target="../tags/tag178.xml"/><Relationship Id="rId53" Type="http://schemas.openxmlformats.org/officeDocument/2006/relationships/tags" Target="../tags/tag177.xml"/><Relationship Id="rId52" Type="http://schemas.openxmlformats.org/officeDocument/2006/relationships/tags" Target="../tags/tag176.xml"/><Relationship Id="rId51" Type="http://schemas.openxmlformats.org/officeDocument/2006/relationships/tags" Target="../tags/tag175.xml"/><Relationship Id="rId50" Type="http://schemas.openxmlformats.org/officeDocument/2006/relationships/tags" Target="../tags/tag174.xml"/><Relationship Id="rId5" Type="http://schemas.openxmlformats.org/officeDocument/2006/relationships/image" Target="../media/image4.png"/><Relationship Id="rId49" Type="http://schemas.openxmlformats.org/officeDocument/2006/relationships/tags" Target="../tags/tag173.xml"/><Relationship Id="rId48" Type="http://schemas.openxmlformats.org/officeDocument/2006/relationships/tags" Target="../tags/tag172.xml"/><Relationship Id="rId47" Type="http://schemas.openxmlformats.org/officeDocument/2006/relationships/tags" Target="../tags/tag171.xml"/><Relationship Id="rId46" Type="http://schemas.openxmlformats.org/officeDocument/2006/relationships/tags" Target="../tags/tag170.xml"/><Relationship Id="rId45" Type="http://schemas.openxmlformats.org/officeDocument/2006/relationships/tags" Target="../tags/tag169.xml"/><Relationship Id="rId44" Type="http://schemas.openxmlformats.org/officeDocument/2006/relationships/tags" Target="../tags/tag168.xml"/><Relationship Id="rId43" Type="http://schemas.openxmlformats.org/officeDocument/2006/relationships/tags" Target="../tags/tag167.xml"/><Relationship Id="rId42" Type="http://schemas.openxmlformats.org/officeDocument/2006/relationships/tags" Target="../tags/tag166.xml"/><Relationship Id="rId41" Type="http://schemas.openxmlformats.org/officeDocument/2006/relationships/tags" Target="../tags/tag165.xml"/><Relationship Id="rId40" Type="http://schemas.openxmlformats.org/officeDocument/2006/relationships/tags" Target="../tags/tag164.xml"/><Relationship Id="rId4" Type="http://schemas.openxmlformats.org/officeDocument/2006/relationships/tags" Target="../tags/tag132.xml"/><Relationship Id="rId39" Type="http://schemas.openxmlformats.org/officeDocument/2006/relationships/tags" Target="../tags/tag163.xml"/><Relationship Id="rId38" Type="http://schemas.openxmlformats.org/officeDocument/2006/relationships/tags" Target="../tags/tag162.xml"/><Relationship Id="rId37" Type="http://schemas.openxmlformats.org/officeDocument/2006/relationships/tags" Target="../tags/tag161.xml"/><Relationship Id="rId36" Type="http://schemas.openxmlformats.org/officeDocument/2006/relationships/tags" Target="../tags/tag160.xml"/><Relationship Id="rId35" Type="http://schemas.openxmlformats.org/officeDocument/2006/relationships/tags" Target="../tags/tag159.xml"/><Relationship Id="rId34" Type="http://schemas.openxmlformats.org/officeDocument/2006/relationships/tags" Target="../tags/tag158.xml"/><Relationship Id="rId33" Type="http://schemas.openxmlformats.org/officeDocument/2006/relationships/tags" Target="../tags/tag157.xml"/><Relationship Id="rId32" Type="http://schemas.openxmlformats.org/officeDocument/2006/relationships/tags" Target="../tags/tag156.xml"/><Relationship Id="rId31" Type="http://schemas.openxmlformats.org/officeDocument/2006/relationships/tags" Target="../tags/tag155.xml"/><Relationship Id="rId30" Type="http://schemas.openxmlformats.org/officeDocument/2006/relationships/tags" Target="../tags/tag154.xml"/><Relationship Id="rId3" Type="http://schemas.openxmlformats.org/officeDocument/2006/relationships/tags" Target="../tags/tag131.xml"/><Relationship Id="rId29" Type="http://schemas.openxmlformats.org/officeDocument/2006/relationships/tags" Target="../tags/tag153.xml"/><Relationship Id="rId28" Type="http://schemas.openxmlformats.org/officeDocument/2006/relationships/image" Target="../media/image7.png"/><Relationship Id="rId27" Type="http://schemas.openxmlformats.org/officeDocument/2006/relationships/tags" Target="../tags/tag152.xml"/><Relationship Id="rId26" Type="http://schemas.openxmlformats.org/officeDocument/2006/relationships/tags" Target="../tags/tag151.xml"/><Relationship Id="rId25" Type="http://schemas.openxmlformats.org/officeDocument/2006/relationships/tags" Target="../tags/tag150.xml"/><Relationship Id="rId24" Type="http://schemas.openxmlformats.org/officeDocument/2006/relationships/tags" Target="../tags/tag149.xml"/><Relationship Id="rId23" Type="http://schemas.openxmlformats.org/officeDocument/2006/relationships/tags" Target="../tags/tag148.xml"/><Relationship Id="rId22" Type="http://schemas.openxmlformats.org/officeDocument/2006/relationships/tags" Target="../tags/tag147.xml"/><Relationship Id="rId21" Type="http://schemas.openxmlformats.org/officeDocument/2006/relationships/tags" Target="../tags/tag146.xml"/><Relationship Id="rId20" Type="http://schemas.openxmlformats.org/officeDocument/2006/relationships/tags" Target="../tags/tag145.xml"/><Relationship Id="rId2" Type="http://schemas.openxmlformats.org/officeDocument/2006/relationships/tags" Target="../tags/tag130.xml"/><Relationship Id="rId19" Type="http://schemas.openxmlformats.org/officeDocument/2006/relationships/tags" Target="../tags/tag144.xml"/><Relationship Id="rId18" Type="http://schemas.openxmlformats.org/officeDocument/2006/relationships/tags" Target="../tags/tag143.xml"/><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image" Target="../media/image6.png"/><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image" Target="../media/image5.png"/><Relationship Id="rId1" Type="http://schemas.openxmlformats.org/officeDocument/2006/relationships/tags" Target="../tags/tag1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oleObject" Target="../embeddings/oleObject3.bin"/><Relationship Id="rId7" Type="http://schemas.openxmlformats.org/officeDocument/2006/relationships/image" Target="../media/image9.png"/><Relationship Id="rId6" Type="http://schemas.openxmlformats.org/officeDocument/2006/relationships/tags" Target="../tags/tag188.xml"/><Relationship Id="rId5" Type="http://schemas.openxmlformats.org/officeDocument/2006/relationships/oleObject" Target="../embeddings/oleObject2.bin"/><Relationship Id="rId4" Type="http://schemas.openxmlformats.org/officeDocument/2006/relationships/image" Target="../media/image8.emf"/><Relationship Id="rId3" Type="http://schemas.openxmlformats.org/officeDocument/2006/relationships/oleObject" Target="../embeddings/oleObject1.bin"/><Relationship Id="rId2" Type="http://schemas.openxmlformats.org/officeDocument/2006/relationships/tags" Target="../tags/tag187.xml"/><Relationship Id="rId19" Type="http://schemas.openxmlformats.org/officeDocument/2006/relationships/comments" Target="../comments/comment2.xml"/><Relationship Id="rId18" Type="http://schemas.openxmlformats.org/officeDocument/2006/relationships/notesSlide" Target="../notesSlides/notesSlide9.xml"/><Relationship Id="rId17" Type="http://schemas.openxmlformats.org/officeDocument/2006/relationships/vmlDrawing" Target="../drawings/vmlDrawing1.vml"/><Relationship Id="rId16" Type="http://schemas.openxmlformats.org/officeDocument/2006/relationships/slideLayout" Target="../slideLayouts/slideLayout9.xml"/><Relationship Id="rId15" Type="http://schemas.openxmlformats.org/officeDocument/2006/relationships/tags" Target="../tags/tag191.xml"/><Relationship Id="rId14" Type="http://schemas.openxmlformats.org/officeDocument/2006/relationships/oleObject" Target="../embeddings/oleObject7.bin"/><Relationship Id="rId13" Type="http://schemas.openxmlformats.org/officeDocument/2006/relationships/oleObject" Target="../embeddings/oleObject6.bin"/><Relationship Id="rId12" Type="http://schemas.openxmlformats.org/officeDocument/2006/relationships/tags" Target="../tags/tag190.xml"/><Relationship Id="rId11" Type="http://schemas.openxmlformats.org/officeDocument/2006/relationships/oleObject" Target="../embeddings/oleObject5.bin"/><Relationship Id="rId10" Type="http://schemas.openxmlformats.org/officeDocument/2006/relationships/oleObject" Target="../embeddings/oleObject4.bin"/><Relationship Id="rId1" Type="http://schemas.openxmlformats.org/officeDocument/2006/relationships/tags" Target="../tags/tag18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9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5.xml"/><Relationship Id="rId2" Type="http://schemas.openxmlformats.org/officeDocument/2006/relationships/tags" Target="../tags/tag194.xml"/><Relationship Id="rId1" Type="http://schemas.openxmlformats.org/officeDocument/2006/relationships/tags" Target="../tags/tag19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95.xml"/></Relationships>
</file>

<file path=ppt/slides/_rels/slide22.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image" Target="../media/image12.png"/><Relationship Id="rId73" Type="http://schemas.openxmlformats.org/officeDocument/2006/relationships/comments" Target="../comments/comment3.xml"/><Relationship Id="rId72" Type="http://schemas.openxmlformats.org/officeDocument/2006/relationships/notesSlide" Target="../notesSlides/notesSlide13.xml"/><Relationship Id="rId71" Type="http://schemas.openxmlformats.org/officeDocument/2006/relationships/slideLayout" Target="../slideLayouts/slideLayout9.xml"/><Relationship Id="rId70" Type="http://schemas.openxmlformats.org/officeDocument/2006/relationships/tags" Target="../tags/tag261.xml"/><Relationship Id="rId7" Type="http://schemas.openxmlformats.org/officeDocument/2006/relationships/tags" Target="../tags/tag201.xml"/><Relationship Id="rId69" Type="http://schemas.openxmlformats.org/officeDocument/2006/relationships/tags" Target="../tags/tag260.xml"/><Relationship Id="rId68" Type="http://schemas.openxmlformats.org/officeDocument/2006/relationships/tags" Target="../tags/tag259.xml"/><Relationship Id="rId67" Type="http://schemas.openxmlformats.org/officeDocument/2006/relationships/tags" Target="../tags/tag258.xml"/><Relationship Id="rId66" Type="http://schemas.openxmlformats.org/officeDocument/2006/relationships/tags" Target="../tags/tag257.xml"/><Relationship Id="rId65" Type="http://schemas.openxmlformats.org/officeDocument/2006/relationships/tags" Target="../tags/tag256.xml"/><Relationship Id="rId64" Type="http://schemas.openxmlformats.org/officeDocument/2006/relationships/tags" Target="../tags/tag255.xml"/><Relationship Id="rId63" Type="http://schemas.openxmlformats.org/officeDocument/2006/relationships/tags" Target="../tags/tag254.xml"/><Relationship Id="rId62" Type="http://schemas.openxmlformats.org/officeDocument/2006/relationships/tags" Target="../tags/tag253.xml"/><Relationship Id="rId61" Type="http://schemas.openxmlformats.org/officeDocument/2006/relationships/tags" Target="../tags/tag252.xml"/><Relationship Id="rId60" Type="http://schemas.openxmlformats.org/officeDocument/2006/relationships/tags" Target="../tags/tag251.xml"/><Relationship Id="rId6" Type="http://schemas.openxmlformats.org/officeDocument/2006/relationships/tags" Target="../tags/tag200.xml"/><Relationship Id="rId59" Type="http://schemas.openxmlformats.org/officeDocument/2006/relationships/tags" Target="../tags/tag250.xml"/><Relationship Id="rId58" Type="http://schemas.openxmlformats.org/officeDocument/2006/relationships/tags" Target="../tags/tag249.xml"/><Relationship Id="rId57" Type="http://schemas.openxmlformats.org/officeDocument/2006/relationships/tags" Target="../tags/tag248.xml"/><Relationship Id="rId56" Type="http://schemas.openxmlformats.org/officeDocument/2006/relationships/tags" Target="../tags/tag247.xml"/><Relationship Id="rId55" Type="http://schemas.openxmlformats.org/officeDocument/2006/relationships/tags" Target="../tags/tag246.xml"/><Relationship Id="rId54" Type="http://schemas.openxmlformats.org/officeDocument/2006/relationships/tags" Target="../tags/tag245.xml"/><Relationship Id="rId53" Type="http://schemas.openxmlformats.org/officeDocument/2006/relationships/tags" Target="../tags/tag244.xml"/><Relationship Id="rId52" Type="http://schemas.openxmlformats.org/officeDocument/2006/relationships/tags" Target="../tags/tag243.xml"/><Relationship Id="rId51" Type="http://schemas.openxmlformats.org/officeDocument/2006/relationships/tags" Target="../tags/tag242.xml"/><Relationship Id="rId50" Type="http://schemas.openxmlformats.org/officeDocument/2006/relationships/tags" Target="../tags/tag241.xml"/><Relationship Id="rId5" Type="http://schemas.openxmlformats.org/officeDocument/2006/relationships/image" Target="../media/image11.jpeg"/><Relationship Id="rId49" Type="http://schemas.openxmlformats.org/officeDocument/2006/relationships/tags" Target="../tags/tag240.xml"/><Relationship Id="rId48" Type="http://schemas.openxmlformats.org/officeDocument/2006/relationships/tags" Target="../tags/tag239.xml"/><Relationship Id="rId47" Type="http://schemas.openxmlformats.org/officeDocument/2006/relationships/tags" Target="../tags/tag238.xml"/><Relationship Id="rId46" Type="http://schemas.openxmlformats.org/officeDocument/2006/relationships/tags" Target="../tags/tag237.xml"/><Relationship Id="rId45" Type="http://schemas.openxmlformats.org/officeDocument/2006/relationships/tags" Target="../tags/tag236.xml"/><Relationship Id="rId44" Type="http://schemas.openxmlformats.org/officeDocument/2006/relationships/tags" Target="../tags/tag235.xml"/><Relationship Id="rId43" Type="http://schemas.openxmlformats.org/officeDocument/2006/relationships/tags" Target="../tags/tag234.xml"/><Relationship Id="rId42" Type="http://schemas.openxmlformats.org/officeDocument/2006/relationships/tags" Target="../tags/tag233.xml"/><Relationship Id="rId41" Type="http://schemas.openxmlformats.org/officeDocument/2006/relationships/tags" Target="../tags/tag232.xml"/><Relationship Id="rId40" Type="http://schemas.openxmlformats.org/officeDocument/2006/relationships/tags" Target="../tags/tag231.xml"/><Relationship Id="rId4" Type="http://schemas.openxmlformats.org/officeDocument/2006/relationships/tags" Target="../tags/tag199.xml"/><Relationship Id="rId39" Type="http://schemas.openxmlformats.org/officeDocument/2006/relationships/tags" Target="../tags/tag230.xml"/><Relationship Id="rId38" Type="http://schemas.openxmlformats.org/officeDocument/2006/relationships/tags" Target="../tags/tag229.xml"/><Relationship Id="rId37" Type="http://schemas.openxmlformats.org/officeDocument/2006/relationships/tags" Target="../tags/tag228.xml"/><Relationship Id="rId36" Type="http://schemas.openxmlformats.org/officeDocument/2006/relationships/tags" Target="../tags/tag227.xml"/><Relationship Id="rId35" Type="http://schemas.openxmlformats.org/officeDocument/2006/relationships/tags" Target="../tags/tag226.xml"/><Relationship Id="rId34" Type="http://schemas.openxmlformats.org/officeDocument/2006/relationships/tags" Target="../tags/tag225.xml"/><Relationship Id="rId33" Type="http://schemas.openxmlformats.org/officeDocument/2006/relationships/tags" Target="../tags/tag224.xml"/><Relationship Id="rId32" Type="http://schemas.openxmlformats.org/officeDocument/2006/relationships/tags" Target="../tags/tag223.xml"/><Relationship Id="rId31" Type="http://schemas.openxmlformats.org/officeDocument/2006/relationships/tags" Target="../tags/tag222.xml"/><Relationship Id="rId30" Type="http://schemas.openxmlformats.org/officeDocument/2006/relationships/tags" Target="../tags/tag221.xml"/><Relationship Id="rId3" Type="http://schemas.openxmlformats.org/officeDocument/2006/relationships/tags" Target="../tags/tag198.xml"/><Relationship Id="rId29" Type="http://schemas.openxmlformats.org/officeDocument/2006/relationships/tags" Target="../tags/tag220.xml"/><Relationship Id="rId28" Type="http://schemas.openxmlformats.org/officeDocument/2006/relationships/tags" Target="../tags/tag219.xml"/><Relationship Id="rId27" Type="http://schemas.openxmlformats.org/officeDocument/2006/relationships/tags" Target="../tags/tag218.xml"/><Relationship Id="rId26" Type="http://schemas.openxmlformats.org/officeDocument/2006/relationships/tags" Target="../tags/tag217.xml"/><Relationship Id="rId25" Type="http://schemas.openxmlformats.org/officeDocument/2006/relationships/tags" Target="../tags/tag216.xml"/><Relationship Id="rId24" Type="http://schemas.openxmlformats.org/officeDocument/2006/relationships/tags" Target="../tags/tag215.xml"/><Relationship Id="rId23" Type="http://schemas.openxmlformats.org/officeDocument/2006/relationships/tags" Target="../tags/tag214.xml"/><Relationship Id="rId22" Type="http://schemas.openxmlformats.org/officeDocument/2006/relationships/tags" Target="../tags/tag213.xml"/><Relationship Id="rId21" Type="http://schemas.openxmlformats.org/officeDocument/2006/relationships/tags" Target="../tags/tag212.xml"/><Relationship Id="rId20" Type="http://schemas.openxmlformats.org/officeDocument/2006/relationships/tags" Target="../tags/tag211.xml"/><Relationship Id="rId2" Type="http://schemas.openxmlformats.org/officeDocument/2006/relationships/tags" Target="../tags/tag197.xml"/><Relationship Id="rId19" Type="http://schemas.openxmlformats.org/officeDocument/2006/relationships/tags" Target="../tags/tag210.xml"/><Relationship Id="rId18" Type="http://schemas.openxmlformats.org/officeDocument/2006/relationships/tags" Target="../tags/tag209.xml"/><Relationship Id="rId17" Type="http://schemas.openxmlformats.org/officeDocument/2006/relationships/tags" Target="../tags/tag208.xml"/><Relationship Id="rId16" Type="http://schemas.openxmlformats.org/officeDocument/2006/relationships/tags" Target="../tags/tag207.xml"/><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image" Target="../media/image14.png"/><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image" Target="../media/image13.png"/><Relationship Id="rId1" Type="http://schemas.openxmlformats.org/officeDocument/2006/relationships/tags" Target="../tags/tag19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6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26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287145"/>
            <a:ext cx="9799320" cy="3575685"/>
          </a:xfrm>
        </p:spPr>
        <p:txBody>
          <a:bodyPr>
            <a:normAutofit/>
          </a:bodyPr>
          <a:p>
            <a:r>
              <a:rPr sz="4800">
                <a:sym typeface="+mn-ea"/>
              </a:rPr>
              <a:t>人大金仓数据卸载加载工具</a:t>
            </a:r>
            <a:br>
              <a:rPr sz="4800"/>
            </a:br>
            <a:r>
              <a:rPr sz="4800"/>
              <a:t>总体方案设计</a:t>
            </a:r>
            <a:br>
              <a:rPr sz="4800"/>
            </a:br>
            <a:r>
              <a:rPr lang="en-US" altLang="zh-CN"/>
              <a:t>                           </a:t>
            </a:r>
            <a:r>
              <a:rPr sz="2400">
                <a:sym typeface="+mn-ea"/>
              </a:rPr>
              <a:t>业务支撑系统</a:t>
            </a:r>
            <a:r>
              <a:rPr lang="en-US" altLang="zh-CN" sz="2400">
                <a:sym typeface="+mn-ea"/>
              </a:rPr>
              <a:t>-</a:t>
            </a:r>
            <a:r>
              <a:rPr sz="2400">
                <a:sym typeface="+mn-ea"/>
              </a:rPr>
              <a:t>公共模块</a:t>
            </a:r>
            <a:endParaRPr sz="2400">
              <a:sym typeface="+mn-ea"/>
            </a:endParaRPr>
          </a:p>
        </p:txBody>
      </p:sp>
      <p:sp>
        <p:nvSpPr>
          <p:cNvPr id="4" name="文本框 3"/>
          <p:cNvSpPr txBox="1"/>
          <p:nvPr/>
        </p:nvSpPr>
        <p:spPr>
          <a:xfrm>
            <a:off x="5172710" y="4745990"/>
            <a:ext cx="1852295" cy="553085"/>
          </a:xfrm>
          <a:prstGeom prst="rect">
            <a:avLst/>
          </a:prstGeom>
          <a:effectLst>
            <a:glow rad="139700">
              <a:schemeClr val="accent1">
                <a:satMod val="175000"/>
                <a:alpha val="40000"/>
              </a:schemeClr>
            </a:glow>
          </a:effectLst>
        </p:spPr>
        <p:txBody>
          <a:bodyPr wrap="square" rtlCol="0" anchor="b">
            <a:sp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ctr">
              <a:lnSpc>
                <a:spcPct val="150000"/>
              </a:lnSpc>
              <a:buClrTx/>
              <a:buSzTx/>
              <a:buFont typeface="Arial" panose="020B0604020202090204" pitchFamily="34" charset="0"/>
              <a:defRPr/>
            </a:pP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20</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26</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1</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月</a:t>
            </a:r>
            <a:endPar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基本情况</a:t>
            </a:r>
            <a:endParaRPr lang="en-US"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Box 3"/>
          <p:cNvSpPr/>
          <p:nvPr/>
        </p:nvSpPr>
        <p:spPr>
          <a:xfrm>
            <a:off x="1212215" y="1212215"/>
            <a:ext cx="9708515" cy="4488815"/>
          </a:xfrm>
          <a:prstGeom prst="rect">
            <a:avLst/>
          </a:prstGeom>
          <a:noFill/>
          <a:ln w="19050" cap="flat" cmpd="sng">
            <a:noFill/>
            <a:prstDash val="lgDash"/>
            <a:miter/>
            <a:headEnd type="none" w="med" len="med"/>
            <a:tailEnd type="none" w="med" len="med"/>
          </a:ln>
        </p:spPr>
        <p:txBody>
          <a:bodyPr wrap="square" anchor="t"/>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项目中文名称“</a:t>
            </a:r>
            <a:r>
              <a:rPr lang="zh-CN" altLang="en-US">
                <a:sym typeface="+mn-ea"/>
              </a:rPr>
              <a:t>人大金仓数据卸载加载工具</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项目相关方：</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项目需求方：</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监管业务系统开发部、监督大数据技术部、测试部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研发部门：监管业务系统开发部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使用部门：</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监管业务系统开发部、监督大数据技术部、</a:t>
            </a:r>
            <a:r>
              <a:rPr lang="zh-CN" altLang="en-US" dirty="0">
                <a:latin typeface="微软雅黑" panose="020B0503020204020204" pitchFamily="34" charset="-122"/>
                <a:ea typeface="微软雅黑" panose="020B0503020204020204" pitchFamily="34" charset="-122"/>
                <a:cs typeface="+mn-ea"/>
                <a:sym typeface="Arial" panose="020B0604020202090204" charset="-122"/>
              </a:rPr>
              <a:t>测试部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90204" charset="-122"/>
              </a:rPr>
              <a:t>运行部门：运维部、基础设施部</a:t>
            </a:r>
            <a:endParaRPr lang="zh-CN" altLang="en-US" dirty="0">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前期工作情况：为了解决各项目组在数据入库过程中面临的开发维护成本高以及模块分散导致的冗余建设等实际问题，开展了业务调研。期间完成了人大金仓</a:t>
            </a:r>
            <a:r>
              <a:rPr lang="en-US" altLang="zh-CN" sz="1800" dirty="0">
                <a:latin typeface="微软雅黑" panose="020B0503020204020204" pitchFamily="34" charset="-122"/>
                <a:ea typeface="微软雅黑" panose="020B0503020204020204" pitchFamily="34" charset="-122"/>
                <a:cs typeface="+mn-ea"/>
                <a:sym typeface="Arial" panose="020B0604020202090204" charset="-122"/>
              </a:rPr>
              <a:t>COPY</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命令</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使用的验证，在与各业务相关方充分沟通协作效率后，最终确立了人大金仓数据卸载加载工具的标准化设计路线与流程规范。</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p:txBody>
      </p:sp>
      <p:sp>
        <p:nvSpPr>
          <p:cNvPr id="43010" name="Text Box 16"/>
          <p:cNvSpPr/>
          <p:nvPr/>
        </p:nvSpPr>
        <p:spPr>
          <a:xfrm>
            <a:off x="590550" y="875030"/>
            <a:ext cx="246443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项目情况</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3011" name="标题 4"/>
          <p:cNvSpPr>
            <a:spLocks noGrp="1"/>
          </p:cNvSpPr>
          <p:nvPr>
            <p:ph type="title"/>
          </p:nvPr>
        </p:nvSpPr>
        <p:spPr>
          <a:xfrm>
            <a:off x="3573780" y="76835"/>
            <a:ext cx="8337550" cy="577850"/>
          </a:xfrm>
        </p:spPr>
        <p:txBody>
          <a:bodyPr lIns="91440" tIns="45720" rIns="91440" bIns="45720" anchor="ctr"/>
          <a:p>
            <a:r>
              <a:rPr lang="en-US" altLang="zh-CN"/>
              <a:t>1.1</a:t>
            </a:r>
            <a:r>
              <a:rPr lang="zh-CN" altLang="zh-CN"/>
              <a:t>基本情况</a:t>
            </a:r>
            <a:endParaRPr lang="zh-CN" altLang="en-US"/>
          </a:p>
        </p:txBody>
      </p:sp>
      <p:sp>
        <p:nvSpPr>
          <p:cNvPr id="4"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基本情况</a:t>
            </a:r>
            <a:endParaRPr lang="en-US"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2"/>
          <p:cNvSpPr>
            <a:spLocks noGrp="1"/>
          </p:cNvSpPr>
          <p:nvPr>
            <p:ph type="title" idx="4294967295"/>
          </p:nvPr>
        </p:nvSpPr>
        <p:spPr/>
        <p:txBody>
          <a:bodyPr wrap="square" lIns="91440" tIns="45720" rIns="91440" bIns="45720" anchor="ctr"/>
          <a:p>
            <a:r>
              <a:rPr lang="en-US" altLang="zh-CN" dirty="0">
                <a:latin typeface="Arial" panose="020B0604020202090204" charset="-122"/>
                <a:sym typeface="宋体" panose="02010600030101010101" pitchFamily="2" charset="-122"/>
              </a:rPr>
              <a:t> 1.2</a:t>
            </a:r>
            <a:r>
              <a:rPr lang="zh-CN" altLang="en-US" dirty="0">
                <a:latin typeface="Arial" panose="020B0604020202090204" charset="-122"/>
                <a:sym typeface="宋体" panose="02010600030101010101" pitchFamily="2" charset="-122"/>
              </a:rPr>
              <a:t>业务规划</a:t>
            </a:r>
            <a:endParaRPr lang="zh-CN" altLang="en-US" dirty="0">
              <a:latin typeface="Arial" panose="020B0604020202090204" charset="-122"/>
              <a:sym typeface="宋体" panose="02010600030101010101" pitchFamily="2" charset="-122"/>
            </a:endParaRPr>
          </a:p>
        </p:txBody>
      </p:sp>
      <p:sp>
        <p:nvSpPr>
          <p:cNvPr id="32770" name="TextBox 3"/>
          <p:cNvSpPr/>
          <p:nvPr/>
        </p:nvSpPr>
        <p:spPr>
          <a:xfrm>
            <a:off x="553720" y="1619250"/>
            <a:ext cx="10866755" cy="2571115"/>
          </a:xfrm>
          <a:prstGeom prst="rect">
            <a:avLst/>
          </a:prstGeom>
          <a:noFill/>
          <a:ln w="19050" cap="flat" cmpd="sng">
            <a:solidFill>
              <a:srgbClr val="5B9BD5"/>
            </a:solidFill>
            <a:prstDash val="lgDash"/>
            <a:bevel/>
            <a:headEnd type="none" w="med" len="med"/>
            <a:tailEnd type="none" w="med" len="med"/>
          </a:ln>
        </p:spPr>
        <p:txBody>
          <a:bodyPr wrap="square" anchor="t"/>
          <a:p>
            <a:pPr algn="l">
              <a:lnSpc>
                <a:spcPct val="125000"/>
              </a:lnSpc>
              <a:spcAft>
                <a:spcPts val="0"/>
              </a:spcAft>
              <a:buClrTx/>
              <a:buSzTx/>
              <a:buFontTx/>
            </a:pPr>
            <a:r>
              <a:rPr lang="zh-CN" altLang="en-US" b="1" dirty="0">
                <a:latin typeface="微软雅黑" panose="020B0503020204020204" pitchFamily="34" charset="-122"/>
                <a:ea typeface="微软雅黑" panose="020B0503020204020204" pitchFamily="34" charset="-122"/>
                <a:cs typeface="+mn-ea"/>
                <a:sym typeface="+mn-ea"/>
              </a:rPr>
              <a:t>     </a:t>
            </a:r>
            <a:r>
              <a:rPr lang="en-US" altLang="zh-CN" b="1" dirty="0">
                <a:latin typeface="微软雅黑" panose="020B0503020204020204" pitchFamily="34" charset="-122"/>
                <a:ea typeface="微软雅黑" panose="020B0503020204020204" pitchFamily="34" charset="-122"/>
                <a:cs typeface="+mn-ea"/>
                <a:sym typeface="+mn-ea"/>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为减轻各项目组在</a:t>
            </a:r>
            <a:r>
              <a:rPr lang="zh-CN" altLang="en-US" dirty="0">
                <a:latin typeface="微软雅黑" panose="020B0503020204020204" pitchFamily="34" charset="-122"/>
                <a:ea typeface="微软雅黑" panose="020B0503020204020204" pitchFamily="34" charset="-122"/>
                <a:sym typeface="Arial" panose="020B0604020202090204" charset="-122"/>
              </a:rPr>
              <a:t>大数据智慧监督平台和会内监管业务系统入一库项目中，</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数据卸载加载的开发维护成本，避免分散开发导致的冗余建设和协作效率问题，构建一套标准化的数据卸载与加载工具</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工具核心能力包括将人大金仓数据库和服务器文件高效卸载为本地加密数据包，并支持全量、增量及跨库加载还原</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a:t>
            </a:r>
            <a:endParaRPr lang="zh-CN" altLang="en-US" strike="noStrike" noProof="1" dirty="0">
              <a:latin typeface="微软雅黑" panose="020B0503020204020204" pitchFamily="34" charset="-122"/>
              <a:ea typeface="微软雅黑" panose="020B0503020204020204" pitchFamily="34" charset="-122"/>
              <a:sym typeface="Arial" panose="020B0604020202090204" charset="-122"/>
            </a:endParaRPr>
          </a:p>
        </p:txBody>
      </p:sp>
      <p:sp>
        <p:nvSpPr>
          <p:cNvPr id="45059" name="Text Box 16"/>
          <p:cNvSpPr/>
          <p:nvPr/>
        </p:nvSpPr>
        <p:spPr>
          <a:xfrm>
            <a:off x="377825" y="866775"/>
            <a:ext cx="240220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业务规划</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8397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8398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8398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9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925003"/>
            <a:ext cx="2527300" cy="255333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总体架构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功能架构</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8399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400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6"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66260" y="0"/>
            <a:ext cx="7597140" cy="622935"/>
          </a:xfrm>
        </p:spPr>
        <p:txBody>
          <a:bodyPr/>
          <a:p>
            <a:r>
              <a:rPr lang="en-US" altLang="zh-CN">
                <a:latin typeface="Arial" panose="020B0604020202090204" pitchFamily="34" charset="0"/>
                <a:sym typeface="宋体" panose="02010600030101010101" pitchFamily="2" charset="-122"/>
              </a:rPr>
              <a:t>2.1</a:t>
            </a:r>
            <a:r>
              <a:rPr>
                <a:sym typeface="+mn-ea"/>
              </a:rPr>
              <a:t>人大金仓数据卸载加载工具</a:t>
            </a:r>
            <a:r>
              <a:rPr>
                <a:latin typeface="Arial" panose="020B0604020202090204" pitchFamily="34" charset="0"/>
                <a:sym typeface="宋体" panose="02010600030101010101" pitchFamily="2" charset="-122"/>
              </a:rPr>
              <a:t>整体架构</a:t>
            </a:r>
            <a:endParaRPr lang="zh-CN" altLang="en-US"/>
          </a:p>
        </p:txBody>
      </p:sp>
      <p:sp>
        <p:nvSpPr>
          <p:cNvPr id="4" name="灯片编号占位符 3"/>
          <p:cNvSpPr>
            <a:spLocks noGrp="1"/>
          </p:cNvSpPr>
          <p:nvPr>
            <p:ph type="sldNum" sz="quarter" idx="12"/>
          </p:nvPr>
        </p:nvSpPr>
        <p:spPr>
          <a:xfrm>
            <a:off x="5615093" y="653605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7</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39" name="直接连接符 38"/>
          <p:cNvCxnSpPr/>
          <p:nvPr>
            <p:custDataLst>
              <p:tags r:id="rId1"/>
            </p:custDataLst>
          </p:nvPr>
        </p:nvCxnSpPr>
        <p:spPr>
          <a:xfrm flipH="1">
            <a:off x="2590165" y="908685"/>
            <a:ext cx="38735" cy="5627370"/>
          </a:xfrm>
          <a:prstGeom prst="line">
            <a:avLst/>
          </a:prstGeom>
          <a:ln>
            <a:solidFill>
              <a:schemeClr val="tx1"/>
            </a:solidFill>
            <a:prstDash val="sysDot"/>
          </a:ln>
        </p:spPr>
        <p:style>
          <a:lnRef idx="2">
            <a:schemeClr val="accent1"/>
          </a:lnRef>
          <a:fillRef idx="0">
            <a:srgbClr val="FFFFFF"/>
          </a:fillRef>
          <a:effectRef idx="0">
            <a:srgbClr val="FFFFFF"/>
          </a:effectRef>
          <a:fontRef idx="minor">
            <a:schemeClr val="tx1"/>
          </a:fontRef>
        </p:style>
      </p:cxnSp>
      <p:sp>
        <p:nvSpPr>
          <p:cNvPr id="90" name="矩形 32"/>
          <p:cNvSpPr/>
          <p:nvPr>
            <p:custDataLst>
              <p:tags r:id="rId2"/>
            </p:custDataLst>
          </p:nvPr>
        </p:nvSpPr>
        <p:spPr>
          <a:xfrm>
            <a:off x="11311255" y="3116580"/>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调度平台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graphicFrame>
        <p:nvGraphicFramePr>
          <p:cNvPr id="6" name="表格 5"/>
          <p:cNvGraphicFramePr/>
          <p:nvPr>
            <p:custDataLst>
              <p:tags r:id="rId3"/>
            </p:custDataLst>
          </p:nvPr>
        </p:nvGraphicFramePr>
        <p:xfrm>
          <a:off x="0" y="788035"/>
          <a:ext cx="2568575" cy="5794375"/>
        </p:xfrm>
        <a:graphic>
          <a:graphicData uri="http://schemas.openxmlformats.org/drawingml/2006/table">
            <a:tbl>
              <a:tblPr firstRow="1" bandRow="1">
                <a:tableStyleId>{5C22544A-7EE6-4342-B048-85BDC9FD1C3A}</a:tableStyleId>
              </a:tblPr>
              <a:tblGrid>
                <a:gridCol w="520700"/>
                <a:gridCol w="242570"/>
                <a:gridCol w="1805305"/>
              </a:tblGrid>
              <a:tr h="485140">
                <a:tc gridSpan="3">
                  <a:txBody>
                    <a:bodyPr/>
                    <a:p>
                      <a:pPr algn="ctr">
                        <a:buNone/>
                      </a:pPr>
                      <a:r>
                        <a:rPr lang="zh-CN" altLang="en-US" sz="800"/>
                        <a:t>人大金仓数据卸载加载</a:t>
                      </a:r>
                      <a:endParaRPr lang="zh-CN" altLang="en-US" sz="800"/>
                    </a:p>
                  </a:txBody>
                  <a:tcPr anchor="ctr" anchorCtr="0"/>
                </a:tc>
                <a:tc hMerge="1">
                  <a:tcPr/>
                </a:tc>
                <a:tc hMerge="1">
                  <a:tcPr/>
                </a:tc>
              </a:tr>
              <a:tr h="824865">
                <a:tc>
                  <a:txBody>
                    <a:bodyPr/>
                    <a:p>
                      <a:pPr algn="ctr">
                        <a:buClrTx/>
                        <a:buSzTx/>
                        <a:buFontTx/>
                        <a:buNone/>
                      </a:pPr>
                      <a:r>
                        <a:rPr lang="en-US" altLang="zh-CN" sz="800" b="1">
                          <a:solidFill>
                            <a:schemeClr val="lt1"/>
                          </a:solidFill>
                          <a:sym typeface="+mn-ea"/>
                        </a:rPr>
                        <a:t>模块调整内容</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新增</a:t>
                      </a:r>
                      <a:r>
                        <a:rPr lang="zh-CN" altLang="en-US" sz="800">
                          <a:sym typeface="+mn-ea"/>
                        </a:rPr>
                        <a:t>人大金仓数据卸载加载工具，</a:t>
                      </a:r>
                      <a:r>
                        <a:rPr lang="zh-CN" altLang="en-US" sz="800"/>
                        <a:t>负责数据人大金仓数据的卸载加载和非结构话文件的采集还原，以及管理功能。</a:t>
                      </a:r>
                      <a:endParaRPr lang="zh-CN" altLang="en-US" sz="800"/>
                    </a:p>
                  </a:txBody>
                  <a:tcPr anchor="ctr" anchorCtr="0"/>
                </a:tc>
                <a:tc hMerge="1">
                  <a:tcPr anchor="ctr" anchorCtr="0"/>
                </a:tc>
              </a:tr>
              <a:tr h="901065">
                <a:tc>
                  <a:txBody>
                    <a:bodyPr/>
                    <a:p>
                      <a:pPr algn="ctr">
                        <a:buClrTx/>
                        <a:buSzTx/>
                        <a:buFontTx/>
                        <a:buNone/>
                      </a:pPr>
                      <a:r>
                        <a:rPr lang="en-US" altLang="zh-CN" sz="800" b="1">
                          <a:solidFill>
                            <a:schemeClr val="lt1"/>
                          </a:solidFill>
                        </a:rPr>
                        <a:t>调整原因</a:t>
                      </a:r>
                      <a:endParaRPr lang="en-US" altLang="zh-CN" sz="800" b="1">
                        <a:solidFill>
                          <a:schemeClr val="lt1"/>
                        </a:solidFill>
                      </a:endParaRPr>
                    </a:p>
                  </a:txBody>
                  <a:tcPr anchor="ctr" anchorCtr="0">
                    <a:solidFill>
                      <a:srgbClr val="6096E6"/>
                    </a:solidFill>
                  </a:tcPr>
                </a:tc>
                <a:tc>
                  <a:txBody>
                    <a:bodyPr/>
                    <a:p>
                      <a:pPr algn="ctr">
                        <a:buNone/>
                      </a:pPr>
                      <a:r>
                        <a:rPr lang="zh-CN" altLang="en-US" sz="800"/>
                        <a:t>服务</a:t>
                      </a:r>
                      <a:r>
                        <a:rPr lang="en-US" altLang="zh-CN" sz="800"/>
                        <a:t>/</a:t>
                      </a:r>
                      <a:r>
                        <a:rPr lang="zh-CN" altLang="en-US" sz="800"/>
                        <a:t>功能</a:t>
                      </a:r>
                      <a:endParaRPr lang="zh-CN" altLang="en-US" sz="800"/>
                    </a:p>
                  </a:txBody>
                  <a:tcPr anchor="ctr" anchorCtr="0"/>
                </a:tc>
                <a:tc>
                  <a:txBody>
                    <a:bodyPr/>
                    <a:p>
                      <a:pPr>
                        <a:buNone/>
                      </a:pPr>
                      <a:endParaRPr lang="zh-CN" altLang="en-US" sz="800"/>
                    </a:p>
                  </a:txBody>
                  <a:tcPr anchor="ctr" anchorCtr="0"/>
                </a:tc>
              </a:tr>
              <a:tr h="902335">
                <a:tc>
                  <a:txBody>
                    <a:bodyPr/>
                    <a:p>
                      <a:pPr algn="ctr">
                        <a:buClrTx/>
                        <a:buSzTx/>
                        <a:buFontTx/>
                        <a:buNone/>
                      </a:pPr>
                      <a:r>
                        <a:rPr lang="en-US" altLang="zh-CN" sz="800" b="1">
                          <a:solidFill>
                            <a:schemeClr val="lt1"/>
                          </a:solidFill>
                        </a:rPr>
                        <a:t>是否可提供swagger</a:t>
                      </a:r>
                      <a:endParaRPr lang="en-US" altLang="zh-CN" sz="800" b="1">
                        <a:solidFill>
                          <a:schemeClr val="lt1"/>
                        </a:solidFill>
                      </a:endParaRPr>
                    </a:p>
                  </a:txBody>
                  <a:tcPr anchor="ctr" anchorCtr="0">
                    <a:solidFill>
                      <a:srgbClr val="6096E6"/>
                    </a:solidFill>
                  </a:tcPr>
                </a:tc>
                <a:tc gridSpan="2">
                  <a:txBody>
                    <a:bodyPr/>
                    <a:p>
                      <a:pPr algn="l">
                        <a:buNone/>
                      </a:pPr>
                      <a:r>
                        <a:rPr lang="zh-CN" altLang="en-US" sz="800"/>
                        <a:t>是</a:t>
                      </a:r>
                      <a:endParaRPr lang="zh-CN" altLang="en-US" sz="800"/>
                    </a:p>
                  </a:txBody>
                  <a:tcPr anchor="ctr" anchorCtr="0"/>
                </a:tc>
                <a:tc hMerge="1">
                  <a:tcPr anchor="ctr" anchorCtr="0"/>
                </a:tc>
              </a:tr>
              <a:tr h="777240">
                <a:tc>
                  <a:txBody>
                    <a:bodyPr/>
                    <a:p>
                      <a:pPr algn="ctr">
                        <a:buClrTx/>
                        <a:buSzTx/>
                        <a:buFontTx/>
                        <a:buNone/>
                      </a:pPr>
                      <a:r>
                        <a:rPr lang="en-US" altLang="zh-CN" sz="800" b="1">
                          <a:solidFill>
                            <a:schemeClr val="lt1"/>
                          </a:solidFill>
                          <a:sym typeface="+mn-ea"/>
                        </a:rPr>
                        <a:t>功能复用情况</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不涉及</a:t>
                      </a:r>
                      <a:endParaRPr lang="zh-CN" altLang="en-US" sz="800"/>
                    </a:p>
                  </a:txBody>
                  <a:tcPr anchor="ctr" anchorCtr="0"/>
                </a:tc>
                <a:tc hMerge="1">
                  <a:tcPr anchor="ctr" anchorCtr="0"/>
                </a:tc>
              </a:tr>
              <a:tr h="1057910">
                <a:tc rowSpan="2">
                  <a:txBody>
                    <a:bodyPr/>
                    <a:p>
                      <a:pPr algn="ctr">
                        <a:buClrTx/>
                        <a:buSzTx/>
                        <a:buFontTx/>
                        <a:buNone/>
                      </a:pPr>
                      <a:r>
                        <a:rPr lang="en-US" altLang="zh-CN" sz="800" b="1">
                          <a:solidFill>
                            <a:schemeClr val="lt1"/>
                          </a:solidFill>
                          <a:sym typeface="+mn-ea"/>
                        </a:rPr>
                        <a:t>功能实现方式</a:t>
                      </a:r>
                      <a:endParaRPr lang="en-US" altLang="zh-CN" sz="800" b="1">
                        <a:solidFill>
                          <a:schemeClr val="lt1"/>
                        </a:solidFill>
                        <a:sym typeface="+mn-ea"/>
                      </a:endParaRPr>
                    </a:p>
                  </a:txBody>
                  <a:tcPr anchor="ctr" anchorCtr="0">
                    <a:solidFill>
                      <a:srgbClr val="6096E6"/>
                    </a:solidFill>
                  </a:tcPr>
                </a:tc>
                <a:tc>
                  <a:txBody>
                    <a:bodyPr/>
                    <a:p>
                      <a:pPr algn="l">
                        <a:buNone/>
                      </a:pPr>
                      <a:r>
                        <a:rPr lang="zh-CN" altLang="en-US" sz="800">
                          <a:sym typeface="+mn-ea"/>
                        </a:rPr>
                        <a:t>数据卸载</a:t>
                      </a:r>
                      <a:r>
                        <a:rPr lang="zh-CN" altLang="en-US" sz="800">
                          <a:sym typeface="+mn-ea"/>
                        </a:rPr>
                        <a:t>加载</a:t>
                      </a:r>
                      <a:endParaRPr lang="zh-CN" altLang="en-US" sz="800">
                        <a:sym typeface="+mn-ea"/>
                      </a:endParaRPr>
                    </a:p>
                  </a:txBody>
                  <a:tcPr anchor="ctr" anchorCtr="0"/>
                </a:tc>
                <a:tc>
                  <a:txBody>
                    <a:bodyPr/>
                    <a:p>
                      <a:pPr algn="l">
                        <a:lnSpc>
                          <a:spcPct val="125000"/>
                        </a:lnSpc>
                        <a:spcAft>
                          <a:spcPts val="0"/>
                        </a:spcAft>
                        <a:buClrTx/>
                        <a:buSzTx/>
                        <a:buFontTx/>
                      </a:pPr>
                      <a:r>
                        <a:rPr lang="zh-CN" altLang="en-US" sz="800">
                          <a:sym typeface="+mn-ea"/>
                        </a:rPr>
                        <a:t>利用</a:t>
                      </a:r>
                      <a:r>
                        <a:rPr lang="en-US" altLang="zh-CN" sz="800">
                          <a:sym typeface="+mn-ea"/>
                        </a:rPr>
                        <a:t> COPY </a:t>
                      </a:r>
                      <a:r>
                        <a:rPr lang="zh-CN" altLang="en-US" sz="800">
                          <a:sym typeface="+mn-ea"/>
                        </a:rPr>
                        <a:t>命令或时间规则提取数据，经分片压缩与国密</a:t>
                      </a:r>
                      <a:r>
                        <a:rPr lang="en-US" altLang="zh-CN" sz="800">
                          <a:sym typeface="+mn-ea"/>
                        </a:rPr>
                        <a:t> SM4 </a:t>
                      </a:r>
                      <a:r>
                        <a:rPr lang="zh-CN" altLang="en-US" sz="800">
                          <a:sym typeface="+mn-ea"/>
                        </a:rPr>
                        <a:t>加密后生成带清单的数据包交付</a:t>
                      </a:r>
                      <a:r>
                        <a:rPr lang="en-US" altLang="zh-CN" sz="800">
                          <a:sym typeface="+mn-ea"/>
                        </a:rPr>
                        <a:t> </a:t>
                      </a:r>
                      <a:r>
                        <a:rPr lang="zh-CN" altLang="en-US" sz="800">
                          <a:sym typeface="+mn-ea"/>
                        </a:rPr>
                        <a:t>；加载端校验清单并解密还原，通过事务模式批量入库或原路径还原文件</a:t>
                      </a:r>
                      <a:r>
                        <a:rPr lang="en-US" altLang="zh-CN" sz="800">
                          <a:sym typeface="+mn-ea"/>
                        </a:rPr>
                        <a:t> </a:t>
                      </a:r>
                      <a:endParaRPr lang="zh-CN" altLang="en-US" sz="800"/>
                    </a:p>
                  </a:txBody>
                  <a:tcPr anchor="ctr" anchorCtr="0"/>
                </a:tc>
              </a:tr>
              <a:tr h="845820">
                <a:tc vMerge="1">
                  <a:tcPr/>
                </a:tc>
                <a:tc>
                  <a:txBody>
                    <a:bodyPr/>
                    <a:p>
                      <a:pPr algn="l">
                        <a:buNone/>
                      </a:pPr>
                      <a:r>
                        <a:rPr lang="zh-CN" altLang="en-US" sz="800"/>
                        <a:t>管控</a:t>
                      </a:r>
                      <a:r>
                        <a:rPr lang="zh-CN" altLang="en-US" sz="800"/>
                        <a:t>中心</a:t>
                      </a:r>
                      <a:endParaRPr lang="zh-CN" altLang="en-US" sz="800"/>
                    </a:p>
                  </a:txBody>
                  <a:tcPr anchor="ctr" anchorCtr="0"/>
                </a:tc>
                <a:tc>
                  <a:txBody>
                    <a:bodyPr/>
                    <a:p>
                      <a:pPr>
                        <a:buNone/>
                      </a:pPr>
                      <a:r>
                        <a:rPr lang="zh-CN" altLang="en-US" sz="800">
                          <a:sym typeface="+mn-ea"/>
                        </a:rPr>
                        <a:t>通过管理作业元数据，实现配置化上线，提供后台进行监控和人工干预</a:t>
                      </a:r>
                      <a:r>
                        <a:rPr lang="en-US" altLang="zh-CN" sz="800">
                          <a:sym typeface="+mn-ea"/>
                        </a:rPr>
                        <a:t> </a:t>
                      </a:r>
                      <a:r>
                        <a:rPr lang="zh-CN" altLang="en-US" sz="800">
                          <a:sym typeface="+mn-ea"/>
                        </a:rPr>
                        <a:t>。</a:t>
                      </a:r>
                      <a:endParaRPr lang="zh-CN" altLang="en-US" sz="800">
                        <a:sym typeface="+mn-ea"/>
                      </a:endParaRPr>
                    </a:p>
                  </a:txBody>
                  <a:tcPr anchor="ctr" anchorCtr="0"/>
                </a:tc>
              </a:tr>
            </a:tbl>
          </a:graphicData>
        </a:graphic>
      </p:graphicFrame>
      <p:sp>
        <p:nvSpPr>
          <p:cNvPr id="132" name="文本框 131"/>
          <p:cNvSpPr txBox="1"/>
          <p:nvPr/>
        </p:nvSpPr>
        <p:spPr>
          <a:xfrm>
            <a:off x="11182985" y="2658110"/>
            <a:ext cx="1031240" cy="287020"/>
          </a:xfrm>
          <a:prstGeom prst="rect">
            <a:avLst/>
          </a:prstGeom>
          <a:noFill/>
        </p:spPr>
        <p:txBody>
          <a:bodyPr wrap="square" rtlCol="0">
            <a:spAutoFit/>
          </a:bodyPr>
          <a:p>
            <a:pPr algn="ctr"/>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26" name="矩形 125"/>
          <p:cNvSpPr/>
          <p:nvPr/>
        </p:nvSpPr>
        <p:spPr>
          <a:xfrm>
            <a:off x="11170920" y="2945130"/>
            <a:ext cx="1031240" cy="1157605"/>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56" name="矩形 32"/>
          <p:cNvSpPr/>
          <p:nvPr>
            <p:custDataLst>
              <p:tags r:id="rId4"/>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57" name="直接箭头连接符 56"/>
          <p:cNvCxnSpPr/>
          <p:nvPr>
            <p:custDataLst>
              <p:tags r:id="rId5"/>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矩形 32"/>
          <p:cNvSpPr/>
          <p:nvPr>
            <p:custDataLst>
              <p:tags r:id="rId6"/>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61" name="矩形 32"/>
          <p:cNvSpPr/>
          <p:nvPr>
            <p:custDataLst>
              <p:tags r:id="rId7"/>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62" name="矩形 32"/>
          <p:cNvSpPr/>
          <p:nvPr>
            <p:custDataLst>
              <p:tags r:id="rId8"/>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63" name="矩形 32"/>
          <p:cNvSpPr/>
          <p:nvPr>
            <p:custDataLst>
              <p:tags r:id="rId9"/>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71" name="Text Box 133"/>
          <p:cNvSpPr txBox="1"/>
          <p:nvPr>
            <p:custDataLst>
              <p:tags r:id="rId10"/>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72"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73" name="矩形 32"/>
          <p:cNvSpPr/>
          <p:nvPr>
            <p:custDataLst>
              <p:tags r:id="rId11"/>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74" name="直接箭头连接符 73"/>
          <p:cNvCxnSpPr/>
          <p:nvPr>
            <p:custDataLst>
              <p:tags r:id="rId12"/>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5" name="矩形 32"/>
          <p:cNvSpPr/>
          <p:nvPr>
            <p:custDataLst>
              <p:tags r:id="rId13"/>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76" name="矩形 32"/>
          <p:cNvSpPr/>
          <p:nvPr>
            <p:custDataLst>
              <p:tags r:id="rId14"/>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77" name="矩形 32"/>
          <p:cNvSpPr/>
          <p:nvPr>
            <p:custDataLst>
              <p:tags r:id="rId15"/>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78" name="矩形 32"/>
          <p:cNvSpPr/>
          <p:nvPr>
            <p:custDataLst>
              <p:tags r:id="rId16"/>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80" name="Text Box 133"/>
          <p:cNvSpPr txBox="1"/>
          <p:nvPr>
            <p:custDataLst>
              <p:tags r:id="rId17"/>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81"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44" name="矩形 32"/>
          <p:cNvSpPr/>
          <p:nvPr>
            <p:custDataLst>
              <p:tags r:id="rId18"/>
            </p:custDataLst>
          </p:nvPr>
        </p:nvSpPr>
        <p:spPr>
          <a:xfrm>
            <a:off x="11345545" y="3586480"/>
            <a:ext cx="822325" cy="28448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权限系统</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cxnSp>
        <p:nvCxnSpPr>
          <p:cNvPr id="35" name="直接连接符 34"/>
          <p:cNvCxnSpPr/>
          <p:nvPr>
            <p:custDataLst>
              <p:tags r:id="rId19"/>
            </p:custDataLst>
          </p:nvPr>
        </p:nvCxnSpPr>
        <p:spPr>
          <a:xfrm flipV="1">
            <a:off x="2442210" y="3127375"/>
            <a:ext cx="9089390" cy="1905"/>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20"/>
            </p:custDataLst>
          </p:nvPr>
        </p:nvCxnSpPr>
        <p:spPr>
          <a:xfrm flipV="1">
            <a:off x="6986905" y="2844165"/>
            <a:ext cx="0" cy="2953385"/>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 name="文本框 46"/>
          <p:cNvSpPr txBox="1"/>
          <p:nvPr>
            <p:custDataLst>
              <p:tags r:id="rId21"/>
            </p:custDataLst>
          </p:nvPr>
        </p:nvSpPr>
        <p:spPr>
          <a:xfrm>
            <a:off x="2590165" y="3129280"/>
            <a:ext cx="982980" cy="337185"/>
          </a:xfrm>
          <a:prstGeom prst="rect">
            <a:avLst/>
          </a:prstGeom>
          <a:noFill/>
        </p:spPr>
        <p:txBody>
          <a:bodyPr wrap="square" rtlCol="0">
            <a:spAutoFit/>
          </a:bodyPr>
          <a:p>
            <a:pPr algn="l">
              <a:buClrTx/>
              <a:buSzTx/>
              <a:buFontTx/>
            </a:pPr>
            <a:r>
              <a:rPr lang="zh-CN" altLang="en-US" sz="1600"/>
              <a:t>互联网</a:t>
            </a:r>
            <a:endParaRPr lang="zh-CN" altLang="en-US" sz="1600"/>
          </a:p>
        </p:txBody>
      </p:sp>
      <p:sp>
        <p:nvSpPr>
          <p:cNvPr id="49" name="文本框 48"/>
          <p:cNvSpPr txBox="1"/>
          <p:nvPr>
            <p:custDataLst>
              <p:tags r:id="rId22"/>
            </p:custDataLst>
          </p:nvPr>
        </p:nvSpPr>
        <p:spPr>
          <a:xfrm>
            <a:off x="6923405" y="3159760"/>
            <a:ext cx="809625" cy="306705"/>
          </a:xfrm>
          <a:prstGeom prst="rect">
            <a:avLst/>
          </a:prstGeom>
          <a:noFill/>
        </p:spPr>
        <p:txBody>
          <a:bodyPr wrap="square" rtlCol="0">
            <a:spAutoFit/>
          </a:bodyPr>
          <a:p>
            <a:r>
              <a:rPr lang="zh-CN" altLang="en-US" sz="1400"/>
              <a:t>证联网</a:t>
            </a:r>
            <a:endParaRPr lang="zh-CN" altLang="en-US" sz="1400"/>
          </a:p>
        </p:txBody>
      </p:sp>
      <p:cxnSp>
        <p:nvCxnSpPr>
          <p:cNvPr id="53" name="直接连接符 52"/>
          <p:cNvCxnSpPr/>
          <p:nvPr>
            <p:custDataLst>
              <p:tags r:id="rId23"/>
            </p:custDataLst>
          </p:nvPr>
        </p:nvCxnSpPr>
        <p:spPr>
          <a:xfrm flipV="1">
            <a:off x="6986905" y="997585"/>
            <a:ext cx="0" cy="1747520"/>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628900" y="788035"/>
            <a:ext cx="1151890" cy="337185"/>
          </a:xfrm>
          <a:prstGeom prst="rect">
            <a:avLst/>
          </a:prstGeom>
          <a:noFill/>
        </p:spPr>
        <p:txBody>
          <a:bodyPr wrap="square" rtlCol="0">
            <a:spAutoFit/>
          </a:bodyPr>
          <a:p>
            <a:r>
              <a:rPr lang="zh-CN" altLang="en-US" sz="1600"/>
              <a:t>涉密内网</a:t>
            </a:r>
            <a:endParaRPr lang="zh-CN" altLang="en-US" sz="1600"/>
          </a:p>
        </p:txBody>
      </p:sp>
      <p:sp>
        <p:nvSpPr>
          <p:cNvPr id="19" name="文本框 18"/>
          <p:cNvSpPr txBox="1"/>
          <p:nvPr/>
        </p:nvSpPr>
        <p:spPr>
          <a:xfrm>
            <a:off x="6960235" y="682625"/>
            <a:ext cx="1536700" cy="337185"/>
          </a:xfrm>
          <a:prstGeom prst="rect">
            <a:avLst/>
          </a:prstGeom>
          <a:noFill/>
        </p:spPr>
        <p:txBody>
          <a:bodyPr wrap="square" rtlCol="0">
            <a:spAutoFit/>
          </a:bodyPr>
          <a:p>
            <a:r>
              <a:rPr lang="zh-CN" altLang="en-US" sz="1600"/>
              <a:t>非</a:t>
            </a:r>
            <a:r>
              <a:rPr lang="zh-CN" altLang="en-US" sz="1600"/>
              <a:t>涉密内网</a:t>
            </a:r>
            <a:endParaRPr lang="zh-CN" altLang="en-US" sz="1600"/>
          </a:p>
        </p:txBody>
      </p:sp>
      <p:cxnSp>
        <p:nvCxnSpPr>
          <p:cNvPr id="164" name="直接箭头连接符 163"/>
          <p:cNvCxnSpPr/>
          <p:nvPr>
            <p:custDataLst>
              <p:tags r:id="rId24"/>
            </p:custDataLst>
          </p:nvPr>
        </p:nvCxnSpPr>
        <p:spPr>
          <a:xfrm>
            <a:off x="7882255" y="4913630"/>
            <a:ext cx="0" cy="39497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7" name="组合 106"/>
          <p:cNvGrpSpPr/>
          <p:nvPr/>
        </p:nvGrpSpPr>
        <p:grpSpPr>
          <a:xfrm>
            <a:off x="7381875" y="5347970"/>
            <a:ext cx="1503680" cy="582930"/>
            <a:chOff x="11985" y="8548"/>
            <a:chExt cx="2368" cy="918"/>
          </a:xfrm>
        </p:grpSpPr>
        <p:sp>
          <p:nvSpPr>
            <p:cNvPr id="157" name="流程图: 磁盘 156"/>
            <p:cNvSpPr/>
            <p:nvPr>
              <p:custDataLst>
                <p:tags r:id="rId25"/>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非公数据库</a:t>
              </a:r>
              <a:endParaRPr lang="zh-CN" altLang="en-US" sz="900" dirty="0">
                <a:latin typeface="微软雅黑" panose="020B0503020204020204" pitchFamily="34" charset="-122"/>
                <a:ea typeface="微软雅黑" panose="020B0503020204020204" pitchFamily="34" charset="-122"/>
                <a:sym typeface="+mn-ea"/>
              </a:endParaRPr>
            </a:p>
          </p:txBody>
        </p:sp>
        <p:sp>
          <p:nvSpPr>
            <p:cNvPr id="29" name="流程图: 磁盘 28"/>
            <p:cNvSpPr/>
            <p:nvPr>
              <p:custDataLst>
                <p:tags r:id="rId26"/>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非公</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sp>
          <p:nvSpPr>
            <p:cNvPr id="38" name="圆角矩形 3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3" name="组合 182"/>
          <p:cNvGrpSpPr/>
          <p:nvPr/>
        </p:nvGrpSpPr>
        <p:grpSpPr>
          <a:xfrm>
            <a:off x="3277870" y="3316605"/>
            <a:ext cx="2035810" cy="1050290"/>
            <a:chOff x="5162" y="6185"/>
            <a:chExt cx="3206" cy="1654"/>
          </a:xfrm>
        </p:grpSpPr>
        <p:sp>
          <p:nvSpPr>
            <p:cNvPr id="101" name="矩形 100"/>
            <p:cNvSpPr/>
            <p:nvPr/>
          </p:nvSpPr>
          <p:spPr>
            <a:xfrm>
              <a:off x="5162" y="6185"/>
              <a:ext cx="3206" cy="165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04" name="圆角矩形 103"/>
            <p:cNvSpPr/>
            <p:nvPr/>
          </p:nvSpPr>
          <p:spPr>
            <a:xfrm>
              <a:off x="6765" y="6979"/>
              <a:ext cx="1052" cy="739"/>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r>
                <a:rPr lang="zh-CN" altLang="en-US" sz="1200">
                  <a:solidFill>
                    <a:schemeClr val="tx1"/>
                  </a:solidFill>
                </a:rPr>
                <a:t>作业</a:t>
              </a:r>
              <a:endParaRPr lang="zh-CN" altLang="en-US" sz="1200">
                <a:solidFill>
                  <a:schemeClr val="tx1"/>
                </a:solidFill>
              </a:endParaRPr>
            </a:p>
          </p:txBody>
        </p:sp>
        <p:sp>
          <p:nvSpPr>
            <p:cNvPr id="105" name="圆角矩形 104"/>
            <p:cNvSpPr/>
            <p:nvPr/>
          </p:nvSpPr>
          <p:spPr>
            <a:xfrm>
              <a:off x="5481" y="7010"/>
              <a:ext cx="889" cy="728"/>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grpSp>
      <p:grpSp>
        <p:nvGrpSpPr>
          <p:cNvPr id="108" name="组合 107"/>
          <p:cNvGrpSpPr/>
          <p:nvPr/>
        </p:nvGrpSpPr>
        <p:grpSpPr>
          <a:xfrm>
            <a:off x="3342005" y="4929505"/>
            <a:ext cx="1503680" cy="582930"/>
            <a:chOff x="11985" y="8548"/>
            <a:chExt cx="2368" cy="918"/>
          </a:xfrm>
        </p:grpSpPr>
        <p:sp>
          <p:nvSpPr>
            <p:cNvPr id="109" name="流程图: 磁盘 108"/>
            <p:cNvSpPr/>
            <p:nvPr>
              <p:custDataLst>
                <p:tags r:id="rId27"/>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采服数据库</a:t>
              </a:r>
              <a:endParaRPr lang="zh-CN" altLang="en-US" sz="900" dirty="0">
                <a:latin typeface="微软雅黑" panose="020B0503020204020204" pitchFamily="34" charset="-122"/>
                <a:ea typeface="微软雅黑" panose="020B0503020204020204" pitchFamily="34" charset="-122"/>
                <a:sym typeface="+mn-ea"/>
              </a:endParaRPr>
            </a:p>
          </p:txBody>
        </p:sp>
        <p:sp>
          <p:nvSpPr>
            <p:cNvPr id="110" name="流程图: 磁盘 109"/>
            <p:cNvSpPr/>
            <p:nvPr>
              <p:custDataLst>
                <p:tags r:id="rId28"/>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采服</a:t>
              </a:r>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sp>
          <p:nvSpPr>
            <p:cNvPr id="111" name="圆角矩形 110"/>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12" name="直接箭头连接符 111"/>
          <p:cNvCxnSpPr/>
          <p:nvPr>
            <p:custDataLst>
              <p:tags r:id="rId29"/>
            </p:custDataLst>
          </p:nvPr>
        </p:nvCxnSpPr>
        <p:spPr>
          <a:xfrm>
            <a:off x="4121785" y="4474210"/>
            <a:ext cx="0" cy="41719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custDataLst>
              <p:tags r:id="rId30"/>
            </p:custDataLst>
          </p:nvPr>
        </p:nvCxnSpPr>
        <p:spPr>
          <a:xfrm>
            <a:off x="5306695" y="3523615"/>
            <a:ext cx="400685"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流程图: 磁盘 115"/>
          <p:cNvSpPr/>
          <p:nvPr>
            <p:custDataLst>
              <p:tags r:id="rId31"/>
            </p:custDataLst>
          </p:nvPr>
        </p:nvSpPr>
        <p:spPr>
          <a:xfrm>
            <a:off x="8223885" y="68262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发行</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17" name="流程图: 磁盘 116"/>
          <p:cNvSpPr/>
          <p:nvPr>
            <p:custDataLst>
              <p:tags r:id="rId32"/>
            </p:custDataLst>
          </p:nvPr>
        </p:nvSpPr>
        <p:spPr>
          <a:xfrm>
            <a:off x="7266940" y="99631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发行</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36" name="流程图: 磁盘 135"/>
          <p:cNvSpPr/>
          <p:nvPr>
            <p:custDataLst>
              <p:tags r:id="rId33"/>
            </p:custDataLst>
          </p:nvPr>
        </p:nvSpPr>
        <p:spPr>
          <a:xfrm>
            <a:off x="8885555" y="68262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上市</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37" name="流程图: 磁盘 136"/>
          <p:cNvSpPr/>
          <p:nvPr>
            <p:custDataLst>
              <p:tags r:id="rId34"/>
            </p:custDataLst>
          </p:nvPr>
        </p:nvSpPr>
        <p:spPr>
          <a:xfrm>
            <a:off x="7266940" y="148463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上市</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40" name="流程图: 磁盘 139"/>
          <p:cNvSpPr/>
          <p:nvPr>
            <p:custDataLst>
              <p:tags r:id="rId35"/>
            </p:custDataLst>
          </p:nvPr>
        </p:nvSpPr>
        <p:spPr>
          <a:xfrm>
            <a:off x="9588500" y="69278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会计</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41" name="流程图: 磁盘 140"/>
          <p:cNvSpPr/>
          <p:nvPr>
            <p:custDataLst>
              <p:tags r:id="rId36"/>
            </p:custDataLst>
          </p:nvPr>
        </p:nvSpPr>
        <p:spPr>
          <a:xfrm>
            <a:off x="7266940" y="197167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会计</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44" name="流程图: 磁盘 143"/>
          <p:cNvSpPr/>
          <p:nvPr>
            <p:custDataLst>
              <p:tags r:id="rId37"/>
            </p:custDataLst>
          </p:nvPr>
        </p:nvSpPr>
        <p:spPr>
          <a:xfrm>
            <a:off x="10262870" y="68262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公共</a:t>
            </a:r>
            <a:r>
              <a:rPr lang="zh-CN" altLang="en-US" sz="800" dirty="0">
                <a:latin typeface="微软雅黑" panose="020B0503020204020204" pitchFamily="34" charset="-122"/>
                <a:ea typeface="微软雅黑" panose="020B0503020204020204" pitchFamily="34" charset="-122"/>
                <a:sym typeface="+mn-ea"/>
              </a:rPr>
              <a:t>模块</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45" name="流程图: 磁盘 144"/>
          <p:cNvSpPr/>
          <p:nvPr>
            <p:custDataLst>
              <p:tags r:id="rId38"/>
            </p:custDataLst>
          </p:nvPr>
        </p:nvSpPr>
        <p:spPr>
          <a:xfrm>
            <a:off x="7247255" y="247015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公共模块</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66" name="流程图: 磁盘 165"/>
          <p:cNvSpPr/>
          <p:nvPr>
            <p:custDataLst>
              <p:tags r:id="rId39"/>
            </p:custDataLst>
          </p:nvPr>
        </p:nvSpPr>
        <p:spPr>
          <a:xfrm>
            <a:off x="3660775" y="77851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稽查</a:t>
            </a:r>
            <a:r>
              <a:rPr lang="zh-CN" altLang="en-US" sz="800" dirty="0">
                <a:latin typeface="微软雅黑" panose="020B0503020204020204" pitchFamily="34" charset="-122"/>
                <a:ea typeface="微软雅黑" panose="020B0503020204020204" pitchFamily="34" charset="-122"/>
                <a:sym typeface="+mn-ea"/>
              </a:rPr>
              <a:t>案管</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67" name="流程图: 磁盘 166"/>
          <p:cNvSpPr/>
          <p:nvPr>
            <p:custDataLst>
              <p:tags r:id="rId40"/>
            </p:custDataLst>
          </p:nvPr>
        </p:nvSpPr>
        <p:spPr>
          <a:xfrm>
            <a:off x="4186555" y="77787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稽查案管</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70" name="流程图: 磁盘 169"/>
          <p:cNvSpPr/>
          <p:nvPr>
            <p:custDataLst>
              <p:tags r:id="rId41"/>
            </p:custDataLst>
          </p:nvPr>
        </p:nvSpPr>
        <p:spPr>
          <a:xfrm>
            <a:off x="4845685" y="77787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处罚</a:t>
            </a:r>
            <a:r>
              <a:rPr lang="zh-CN" altLang="en-US" sz="800" dirty="0">
                <a:latin typeface="微软雅黑" panose="020B0503020204020204" pitchFamily="34" charset="-122"/>
                <a:ea typeface="微软雅黑" panose="020B0503020204020204" pitchFamily="34" charset="-122"/>
                <a:sym typeface="+mn-ea"/>
              </a:rPr>
              <a:t>委</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71" name="流程图: 磁盘 170"/>
          <p:cNvSpPr/>
          <p:nvPr>
            <p:custDataLst>
              <p:tags r:id="rId42"/>
            </p:custDataLst>
          </p:nvPr>
        </p:nvSpPr>
        <p:spPr>
          <a:xfrm>
            <a:off x="5444490" y="81089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处罚</a:t>
            </a:r>
            <a:r>
              <a:rPr lang="zh-CN" altLang="en-US" sz="800" dirty="0">
                <a:latin typeface="微软雅黑" panose="020B0503020204020204" pitchFamily="34" charset="-122"/>
                <a:ea typeface="微软雅黑" panose="020B0503020204020204" pitchFamily="34" charset="-122"/>
                <a:sym typeface="+mn-ea"/>
              </a:rPr>
              <a:t>委</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cxnSp>
        <p:nvCxnSpPr>
          <p:cNvPr id="173" name="直接箭头连接符 172"/>
          <p:cNvCxnSpPr/>
          <p:nvPr>
            <p:custDataLst>
              <p:tags r:id="rId43"/>
            </p:custDataLst>
          </p:nvPr>
        </p:nvCxnSpPr>
        <p:spPr>
          <a:xfrm flipV="1">
            <a:off x="4479290" y="1125710"/>
            <a:ext cx="0" cy="25273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5" name="组合 174"/>
          <p:cNvGrpSpPr/>
          <p:nvPr/>
        </p:nvGrpSpPr>
        <p:grpSpPr>
          <a:xfrm>
            <a:off x="3761740" y="2656205"/>
            <a:ext cx="1229995" cy="461010"/>
            <a:chOff x="11985" y="8548"/>
            <a:chExt cx="2368" cy="918"/>
          </a:xfrm>
        </p:grpSpPr>
        <p:sp>
          <p:nvSpPr>
            <p:cNvPr id="176" name="流程图: 磁盘 175"/>
            <p:cNvSpPr/>
            <p:nvPr>
              <p:custDataLst>
                <p:tags r:id="rId44"/>
              </p:custDataLst>
            </p:nvPr>
          </p:nvSpPr>
          <p:spPr>
            <a:xfrm>
              <a:off x="1213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监督</a:t>
              </a:r>
              <a:r>
                <a:rPr lang="zh-CN" altLang="en-US" sz="800" dirty="0">
                  <a:latin typeface="微软雅黑" panose="020B0503020204020204" pitchFamily="34" charset="-122"/>
                  <a:ea typeface="微软雅黑" panose="020B0503020204020204" pitchFamily="34" charset="-122"/>
                  <a:sym typeface="+mn-ea"/>
                </a:rPr>
                <a:t>系统</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177" name="流程图: 磁盘 176"/>
            <p:cNvSpPr/>
            <p:nvPr>
              <p:custDataLst>
                <p:tags r:id="rId45"/>
              </p:custDataLst>
            </p:nvPr>
          </p:nvSpPr>
          <p:spPr>
            <a:xfrm>
              <a:off x="13279" y="8662"/>
              <a:ext cx="888" cy="692"/>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监督系统</a:t>
              </a:r>
              <a:r>
                <a:rPr lang="en-US" altLang="zh-CN" sz="800" dirty="0">
                  <a:latin typeface="微软雅黑" panose="020B0503020204020204" pitchFamily="34" charset="-122"/>
                  <a:ea typeface="微软雅黑" panose="020B0503020204020204" pitchFamily="34" charset="-122"/>
                  <a:sym typeface="+mn-ea"/>
                </a:rPr>
                <a:t>NAS</a:t>
              </a:r>
              <a:endParaRPr lang="en-US" altLang="zh-CN" sz="800" dirty="0">
                <a:latin typeface="微软雅黑" panose="020B0503020204020204" pitchFamily="34" charset="-122"/>
                <a:ea typeface="微软雅黑" panose="020B0503020204020204" pitchFamily="34" charset="-122"/>
                <a:sym typeface="+mn-ea"/>
              </a:endParaRPr>
            </a:p>
          </p:txBody>
        </p:sp>
        <p:sp>
          <p:nvSpPr>
            <p:cNvPr id="178" name="圆角矩形 177"/>
            <p:cNvSpPr/>
            <p:nvPr/>
          </p:nvSpPr>
          <p:spPr>
            <a:xfrm>
              <a:off x="11985" y="8548"/>
              <a:ext cx="2368" cy="919"/>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79" name="直接箭头连接符 178"/>
          <p:cNvCxnSpPr/>
          <p:nvPr>
            <p:custDataLst>
              <p:tags r:id="rId46"/>
            </p:custDataLst>
          </p:nvPr>
        </p:nvCxnSpPr>
        <p:spPr>
          <a:xfrm>
            <a:off x="4366260" y="2416175"/>
            <a:ext cx="0" cy="25971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接箭头连接符 180"/>
          <p:cNvCxnSpPr/>
          <p:nvPr>
            <p:custDataLst>
              <p:tags r:id="rId47"/>
            </p:custDataLst>
          </p:nvPr>
        </p:nvCxnSpPr>
        <p:spPr>
          <a:xfrm flipH="1">
            <a:off x="3891280" y="1140460"/>
            <a:ext cx="0" cy="26098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4" name="组合 183"/>
          <p:cNvGrpSpPr/>
          <p:nvPr/>
        </p:nvGrpSpPr>
        <p:grpSpPr>
          <a:xfrm>
            <a:off x="7101205" y="3862705"/>
            <a:ext cx="2035810" cy="1050290"/>
            <a:chOff x="5162" y="6185"/>
            <a:chExt cx="3206" cy="1654"/>
          </a:xfrm>
        </p:grpSpPr>
        <p:sp>
          <p:nvSpPr>
            <p:cNvPr id="185" name="矩形 184"/>
            <p:cNvSpPr/>
            <p:nvPr/>
          </p:nvSpPr>
          <p:spPr>
            <a:xfrm>
              <a:off x="5162" y="6185"/>
              <a:ext cx="3206" cy="165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86" name="圆角矩形 185"/>
            <p:cNvSpPr/>
            <p:nvPr/>
          </p:nvSpPr>
          <p:spPr>
            <a:xfrm>
              <a:off x="6765" y="6979"/>
              <a:ext cx="1052" cy="739"/>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r>
                <a:rPr lang="zh-CN" altLang="en-US" sz="1200">
                  <a:solidFill>
                    <a:schemeClr val="tx1"/>
                  </a:solidFill>
                </a:rPr>
                <a:t>作业</a:t>
              </a:r>
              <a:endParaRPr lang="zh-CN" altLang="en-US" sz="1200">
                <a:solidFill>
                  <a:schemeClr val="tx1"/>
                </a:solidFill>
              </a:endParaRPr>
            </a:p>
          </p:txBody>
        </p:sp>
        <p:sp>
          <p:nvSpPr>
            <p:cNvPr id="187" name="圆角矩形 186"/>
            <p:cNvSpPr/>
            <p:nvPr/>
          </p:nvSpPr>
          <p:spPr>
            <a:xfrm>
              <a:off x="5481" y="7010"/>
              <a:ext cx="889" cy="728"/>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grpSp>
      <p:sp>
        <p:nvSpPr>
          <p:cNvPr id="189" name="矩形 188"/>
          <p:cNvSpPr/>
          <p:nvPr/>
        </p:nvSpPr>
        <p:spPr>
          <a:xfrm>
            <a:off x="8131175" y="1230630"/>
            <a:ext cx="3051810" cy="104457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90" name="圆角矩形 189"/>
          <p:cNvSpPr/>
          <p:nvPr/>
        </p:nvSpPr>
        <p:spPr>
          <a:xfrm>
            <a:off x="10271125" y="1682115"/>
            <a:ext cx="741680" cy="56007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endParaRPr lang="en-US" altLang="zh-CN" sz="1200">
              <a:solidFill>
                <a:schemeClr val="tx1"/>
              </a:solidFill>
            </a:endParaRPr>
          </a:p>
          <a:p>
            <a:pPr algn="ctr"/>
            <a:r>
              <a:rPr lang="zh-CN" altLang="en-US" sz="1200">
                <a:solidFill>
                  <a:schemeClr val="tx1"/>
                </a:solidFill>
              </a:rPr>
              <a:t>作业</a:t>
            </a:r>
            <a:endParaRPr lang="zh-CN" altLang="en-US" sz="1200">
              <a:solidFill>
                <a:schemeClr val="tx1"/>
              </a:solidFill>
            </a:endParaRPr>
          </a:p>
        </p:txBody>
      </p:sp>
      <p:sp>
        <p:nvSpPr>
          <p:cNvPr id="191" name="圆角矩形 190"/>
          <p:cNvSpPr/>
          <p:nvPr/>
        </p:nvSpPr>
        <p:spPr>
          <a:xfrm>
            <a:off x="8357870" y="1658620"/>
            <a:ext cx="626745" cy="58356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sp>
        <p:nvSpPr>
          <p:cNvPr id="194" name="矩形 193"/>
          <p:cNvSpPr/>
          <p:nvPr/>
        </p:nvSpPr>
        <p:spPr>
          <a:xfrm>
            <a:off x="2744470" y="1419225"/>
            <a:ext cx="3469640" cy="106616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r>
              <a:rPr lang="zh-CN" altLang="en-US" sz="1400" b="1">
                <a:solidFill>
                  <a:schemeClr val="tx1"/>
                </a:solidFill>
                <a:latin typeface="+mn-ea"/>
                <a:sym typeface="+mn-ea"/>
              </a:rPr>
              <a:t>人大金仓数据</a:t>
            </a:r>
            <a:endParaRPr lang="zh-CN" altLang="en-US" sz="1400" b="1">
              <a:solidFill>
                <a:schemeClr val="tx1"/>
              </a:solidFill>
              <a:latin typeface="+mn-ea"/>
              <a:sym typeface="+mn-ea"/>
            </a:endParaRPr>
          </a:p>
          <a:p>
            <a:pPr lvl="0" algn="ctr"/>
            <a:r>
              <a:rPr lang="zh-CN" altLang="en-US" sz="1400" b="1">
                <a:solidFill>
                  <a:schemeClr val="tx1"/>
                </a:solidFill>
                <a:latin typeface="+mn-ea"/>
                <a:sym typeface="+mn-ea"/>
              </a:rPr>
              <a:t>加载卸载工具</a:t>
            </a:r>
            <a:endParaRPr lang="zh-CN" altLang="en-US" sz="1400" b="1">
              <a:solidFill>
                <a:schemeClr val="tx1"/>
              </a:solidFill>
              <a:latin typeface="+mn-ea"/>
              <a:sym typeface="+mn-ea"/>
            </a:endParaRPr>
          </a:p>
        </p:txBody>
      </p:sp>
      <p:sp>
        <p:nvSpPr>
          <p:cNvPr id="195" name="圆角矩形 194"/>
          <p:cNvSpPr/>
          <p:nvPr/>
        </p:nvSpPr>
        <p:spPr>
          <a:xfrm>
            <a:off x="4044950" y="1892300"/>
            <a:ext cx="763905" cy="54165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卸载</a:t>
            </a:r>
            <a:r>
              <a:rPr lang="en-US" altLang="zh-CN" sz="1200">
                <a:solidFill>
                  <a:schemeClr val="tx1"/>
                </a:solidFill>
              </a:rPr>
              <a:t> </a:t>
            </a:r>
            <a:endParaRPr lang="en-US" altLang="zh-CN" sz="1200">
              <a:solidFill>
                <a:schemeClr val="tx1"/>
              </a:solidFill>
            </a:endParaRPr>
          </a:p>
          <a:p>
            <a:pPr algn="ctr"/>
            <a:r>
              <a:rPr lang="zh-CN" altLang="en-US" sz="1200">
                <a:solidFill>
                  <a:schemeClr val="tx1"/>
                </a:solidFill>
              </a:rPr>
              <a:t>作业</a:t>
            </a:r>
            <a:endParaRPr lang="zh-CN" altLang="en-US" sz="1200">
              <a:solidFill>
                <a:schemeClr val="tx1"/>
              </a:solidFill>
            </a:endParaRPr>
          </a:p>
        </p:txBody>
      </p:sp>
      <p:sp>
        <p:nvSpPr>
          <p:cNvPr id="196" name="圆角矩形 195"/>
          <p:cNvSpPr/>
          <p:nvPr/>
        </p:nvSpPr>
        <p:spPr>
          <a:xfrm>
            <a:off x="2970530" y="1889760"/>
            <a:ext cx="690245" cy="53403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a:solidFill>
                  <a:schemeClr val="tx1"/>
                </a:solidFill>
                <a:sym typeface="等线" panose="02010600030101010101" pitchFamily="2" charset="-122"/>
              </a:rPr>
              <a:t>管控</a:t>
            </a:r>
            <a:r>
              <a:rPr lang="zh-CN" altLang="en-US" sz="1200">
                <a:solidFill>
                  <a:schemeClr val="tx1"/>
                </a:solidFill>
                <a:sym typeface="等线" panose="02010600030101010101" pitchFamily="2" charset="-122"/>
              </a:rPr>
              <a:t>中心</a:t>
            </a:r>
            <a:endParaRPr lang="zh-CN" altLang="en-US" sz="1200">
              <a:solidFill>
                <a:schemeClr val="tx1"/>
              </a:solidFill>
              <a:sym typeface="等线" panose="02010600030101010101" pitchFamily="2" charset="-122"/>
            </a:endParaRPr>
          </a:p>
        </p:txBody>
      </p:sp>
      <p:sp>
        <p:nvSpPr>
          <p:cNvPr id="197" name="圆角矩形 196"/>
          <p:cNvSpPr/>
          <p:nvPr/>
        </p:nvSpPr>
        <p:spPr>
          <a:xfrm>
            <a:off x="5141595" y="1835150"/>
            <a:ext cx="763905" cy="54165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tx1"/>
                </a:solidFill>
              </a:rPr>
              <a:t>加载</a:t>
            </a:r>
            <a:r>
              <a:rPr lang="en-US" altLang="zh-CN" sz="1200">
                <a:solidFill>
                  <a:schemeClr val="tx1"/>
                </a:solidFill>
              </a:rPr>
              <a:t> </a:t>
            </a:r>
            <a:endParaRPr lang="en-US" altLang="zh-CN" sz="1200">
              <a:solidFill>
                <a:schemeClr val="tx1"/>
              </a:solidFill>
            </a:endParaRPr>
          </a:p>
          <a:p>
            <a:pPr algn="ctr"/>
            <a:r>
              <a:rPr lang="zh-CN" altLang="en-US" sz="1200">
                <a:solidFill>
                  <a:schemeClr val="tx1"/>
                </a:solidFill>
              </a:rPr>
              <a:t>作业</a:t>
            </a:r>
            <a:endParaRPr lang="zh-CN" altLang="en-US" sz="1200">
              <a:solidFill>
                <a:schemeClr val="tx1"/>
              </a:solidFill>
            </a:endParaRPr>
          </a:p>
        </p:txBody>
      </p:sp>
      <p:sp>
        <p:nvSpPr>
          <p:cNvPr id="7" name="流程图: 磁盘 6"/>
          <p:cNvSpPr/>
          <p:nvPr>
            <p:custDataLst>
              <p:tags r:id="rId48"/>
            </p:custDataLst>
          </p:nvPr>
        </p:nvSpPr>
        <p:spPr>
          <a:xfrm>
            <a:off x="7660005" y="3253740"/>
            <a:ext cx="563880" cy="439420"/>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非公交换</a:t>
            </a:r>
            <a:r>
              <a:rPr lang="zh-CN" altLang="en-US" sz="900" dirty="0">
                <a:latin typeface="微软雅黑" panose="020B0503020204020204" pitchFamily="34" charset="-122"/>
                <a:ea typeface="微软雅黑" panose="020B0503020204020204" pitchFamily="34" charset="-122"/>
                <a:sym typeface="+mn-ea"/>
              </a:rPr>
              <a:t>区</a:t>
            </a:r>
            <a:endParaRPr lang="zh-CN" altLang="en-US" sz="900" dirty="0">
              <a:latin typeface="微软雅黑" panose="020B0503020204020204" pitchFamily="34" charset="-122"/>
              <a:ea typeface="微软雅黑" panose="020B0503020204020204" pitchFamily="34" charset="-122"/>
              <a:sym typeface="+mn-ea"/>
            </a:endParaRPr>
          </a:p>
        </p:txBody>
      </p:sp>
      <p:sp>
        <p:nvSpPr>
          <p:cNvPr id="8" name="流程图: 磁盘 7"/>
          <p:cNvSpPr/>
          <p:nvPr>
            <p:custDataLst>
              <p:tags r:id="rId49"/>
            </p:custDataLst>
          </p:nvPr>
        </p:nvSpPr>
        <p:spPr>
          <a:xfrm>
            <a:off x="5814060" y="3253740"/>
            <a:ext cx="563880" cy="439420"/>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900" dirty="0">
                <a:latin typeface="微软雅黑" panose="020B0503020204020204" pitchFamily="34" charset="-122"/>
                <a:ea typeface="微软雅黑" panose="020B0503020204020204" pitchFamily="34" charset="-122"/>
                <a:sym typeface="+mn-ea"/>
              </a:rPr>
              <a:t>采服交换</a:t>
            </a:r>
            <a:r>
              <a:rPr lang="zh-CN" altLang="en-US" sz="900" dirty="0">
                <a:latin typeface="微软雅黑" panose="020B0503020204020204" pitchFamily="34" charset="-122"/>
                <a:ea typeface="微软雅黑" panose="020B0503020204020204" pitchFamily="34" charset="-122"/>
                <a:sym typeface="+mn-ea"/>
              </a:rPr>
              <a:t>区</a:t>
            </a:r>
            <a:endParaRPr lang="zh-CN" altLang="en-US" sz="900" dirty="0">
              <a:latin typeface="微软雅黑" panose="020B0503020204020204" pitchFamily="34" charset="-122"/>
              <a:ea typeface="微软雅黑" panose="020B0503020204020204" pitchFamily="34" charset="-122"/>
              <a:sym typeface="+mn-ea"/>
            </a:endParaRPr>
          </a:p>
        </p:txBody>
      </p:sp>
      <p:cxnSp>
        <p:nvCxnSpPr>
          <p:cNvPr id="13" name="直接箭头连接符 12"/>
          <p:cNvCxnSpPr/>
          <p:nvPr>
            <p:custDataLst>
              <p:tags r:id="rId50"/>
            </p:custDataLst>
          </p:nvPr>
        </p:nvCxnSpPr>
        <p:spPr>
          <a:xfrm flipH="1">
            <a:off x="7675245" y="1300335"/>
            <a:ext cx="39116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custDataLst>
              <p:tags r:id="rId51"/>
            </p:custDataLst>
          </p:nvPr>
        </p:nvCxnSpPr>
        <p:spPr>
          <a:xfrm>
            <a:off x="7675245" y="1220325"/>
            <a:ext cx="39624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custDataLst>
              <p:tags r:id="rId52"/>
            </p:custDataLst>
          </p:nvPr>
        </p:nvCxnSpPr>
        <p:spPr>
          <a:xfrm flipH="1">
            <a:off x="4366260" y="1150620"/>
            <a:ext cx="0" cy="26098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custDataLst>
              <p:tags r:id="rId53"/>
            </p:custDataLst>
          </p:nvPr>
        </p:nvCxnSpPr>
        <p:spPr>
          <a:xfrm flipH="1">
            <a:off x="5083175" y="1125220"/>
            <a:ext cx="0" cy="26098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custDataLst>
              <p:tags r:id="rId54"/>
            </p:custDataLst>
          </p:nvPr>
        </p:nvCxnSpPr>
        <p:spPr>
          <a:xfrm flipV="1">
            <a:off x="5774690" y="1166350"/>
            <a:ext cx="0" cy="25273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custDataLst>
              <p:tags r:id="rId55"/>
            </p:custDataLst>
          </p:nvPr>
        </p:nvCxnSpPr>
        <p:spPr>
          <a:xfrm flipH="1">
            <a:off x="5615305" y="1149985"/>
            <a:ext cx="0" cy="26098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流程图: 磁盘 30"/>
          <p:cNvSpPr/>
          <p:nvPr>
            <p:custDataLst>
              <p:tags r:id="rId56"/>
            </p:custDataLst>
          </p:nvPr>
        </p:nvSpPr>
        <p:spPr>
          <a:xfrm>
            <a:off x="11502390" y="101981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诚信与</a:t>
            </a:r>
            <a:r>
              <a:rPr lang="zh-CN" altLang="en-US" sz="800" dirty="0">
                <a:latin typeface="微软雅黑" panose="020B0503020204020204" pitchFamily="34" charset="-122"/>
                <a:ea typeface="微软雅黑" panose="020B0503020204020204" pitchFamily="34" charset="-122"/>
                <a:sym typeface="+mn-ea"/>
              </a:rPr>
              <a:t>法规数据库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32" name="流程图: 磁盘 31"/>
          <p:cNvSpPr/>
          <p:nvPr>
            <p:custDataLst>
              <p:tags r:id="rId57"/>
            </p:custDataLst>
          </p:nvPr>
        </p:nvSpPr>
        <p:spPr>
          <a:xfrm>
            <a:off x="11502390" y="143764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机构</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33" name="流程图: 磁盘 32"/>
          <p:cNvSpPr/>
          <p:nvPr>
            <p:custDataLst>
              <p:tags r:id="rId58"/>
            </p:custDataLst>
          </p:nvPr>
        </p:nvSpPr>
        <p:spPr>
          <a:xfrm>
            <a:off x="11502390" y="188976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私募</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sp>
        <p:nvSpPr>
          <p:cNvPr id="34" name="流程图: 磁盘 33"/>
          <p:cNvSpPr/>
          <p:nvPr>
            <p:custDataLst>
              <p:tags r:id="rId59"/>
            </p:custDataLst>
          </p:nvPr>
        </p:nvSpPr>
        <p:spPr>
          <a:xfrm>
            <a:off x="11531600" y="231076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外网</a:t>
            </a:r>
            <a:r>
              <a:rPr lang="zh-CN" altLang="en-US" sz="800" dirty="0">
                <a:latin typeface="微软雅黑" panose="020B0503020204020204" pitchFamily="34" charset="-122"/>
                <a:ea typeface="微软雅黑" panose="020B0503020204020204" pitchFamily="34" charset="-122"/>
                <a:sym typeface="+mn-ea"/>
              </a:rPr>
              <a:t>门户</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数据库</a:t>
            </a:r>
            <a:endParaRPr lang="zh-CN" altLang="en-US" sz="800" dirty="0">
              <a:latin typeface="微软雅黑" panose="020B0503020204020204" pitchFamily="34" charset="-122"/>
              <a:ea typeface="微软雅黑" panose="020B0503020204020204" pitchFamily="34" charset="-122"/>
              <a:sym typeface="+mn-ea"/>
            </a:endParaRPr>
          </a:p>
        </p:txBody>
      </p:sp>
      <p:cxnSp>
        <p:nvCxnSpPr>
          <p:cNvPr id="36" name="直接箭头连接符 35"/>
          <p:cNvCxnSpPr>
            <a:stCxn id="116" idx="3"/>
          </p:cNvCxnSpPr>
          <p:nvPr/>
        </p:nvCxnSpPr>
        <p:spPr>
          <a:xfrm>
            <a:off x="8454390" y="1029970"/>
            <a:ext cx="0" cy="20066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a:off x="9137015" y="1006475"/>
            <a:ext cx="0" cy="20066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9819005" y="1010920"/>
            <a:ext cx="0" cy="20066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stCxn id="144" idx="3"/>
          </p:cNvCxnSpPr>
          <p:nvPr/>
        </p:nvCxnSpPr>
        <p:spPr>
          <a:xfrm>
            <a:off x="10493375" y="1029970"/>
            <a:ext cx="0" cy="211455"/>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flipH="1">
            <a:off x="6227445" y="1304925"/>
            <a:ext cx="991235" cy="21082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52" name="直接箭头连接符 51"/>
          <p:cNvCxnSpPr>
            <a:stCxn id="137" idx="2"/>
          </p:cNvCxnSpPr>
          <p:nvPr/>
        </p:nvCxnSpPr>
        <p:spPr>
          <a:xfrm flipH="1">
            <a:off x="6214110" y="1658620"/>
            <a:ext cx="1052830" cy="126365"/>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nvCxnSpPr>
        <p:spPr>
          <a:xfrm flipH="1">
            <a:off x="6194425" y="2145665"/>
            <a:ext cx="1035050" cy="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nvCxnSpPr>
        <p:spPr>
          <a:xfrm flipH="1" flipV="1">
            <a:off x="6247130" y="2275205"/>
            <a:ext cx="1019810" cy="317500"/>
          </a:xfrm>
          <a:prstGeom prst="straightConnector1">
            <a:avLst/>
          </a:prstGeom>
          <a:ln>
            <a:solidFill>
              <a:schemeClr val="tx2"/>
            </a:solidFill>
            <a:tailEnd type="arrow"/>
          </a:ln>
        </p:spPr>
        <p:style>
          <a:lnRef idx="2">
            <a:schemeClr val="accent1"/>
          </a:lnRef>
          <a:fillRef idx="0">
            <a:srgbClr val="FFFFFF"/>
          </a:fillRef>
          <a:effectRef idx="0">
            <a:srgbClr val="FFFFFF"/>
          </a:effectRef>
          <a:fontRef idx="minor">
            <a:schemeClr val="tx1"/>
          </a:fontRef>
        </p:style>
      </p:cxnSp>
      <p:cxnSp>
        <p:nvCxnSpPr>
          <p:cNvPr id="59" name="直接箭头连接符 58"/>
          <p:cNvCxnSpPr/>
          <p:nvPr>
            <p:custDataLst>
              <p:tags r:id="rId60"/>
            </p:custDataLst>
          </p:nvPr>
        </p:nvCxnSpPr>
        <p:spPr>
          <a:xfrm flipH="1">
            <a:off x="7727950" y="1738485"/>
            <a:ext cx="39116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custDataLst>
              <p:tags r:id="rId61"/>
            </p:custDataLst>
          </p:nvPr>
        </p:nvCxnSpPr>
        <p:spPr>
          <a:xfrm>
            <a:off x="7727950" y="1658475"/>
            <a:ext cx="39624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custDataLst>
              <p:tags r:id="rId62"/>
            </p:custDataLst>
          </p:nvPr>
        </p:nvCxnSpPr>
        <p:spPr>
          <a:xfrm flipH="1">
            <a:off x="7733030" y="2145520"/>
            <a:ext cx="39116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custDataLst>
              <p:tags r:id="rId63"/>
            </p:custDataLst>
          </p:nvPr>
        </p:nvCxnSpPr>
        <p:spPr>
          <a:xfrm>
            <a:off x="7727950" y="2063605"/>
            <a:ext cx="396240" cy="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custDataLst>
              <p:tags r:id="rId64"/>
            </p:custDataLst>
          </p:nvPr>
        </p:nvCxnSpPr>
        <p:spPr>
          <a:xfrm flipH="1">
            <a:off x="7733030" y="2309985"/>
            <a:ext cx="396240" cy="20066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custDataLst>
              <p:tags r:id="rId65"/>
            </p:custDataLst>
          </p:nvPr>
        </p:nvCxnSpPr>
        <p:spPr>
          <a:xfrm flipV="1">
            <a:off x="7708265" y="2236960"/>
            <a:ext cx="371475" cy="226695"/>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8581390" y="1019810"/>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4" name="直接箭头连接符 83"/>
          <p:cNvCxnSpPr/>
          <p:nvPr/>
        </p:nvCxnSpPr>
        <p:spPr>
          <a:xfrm>
            <a:off x="9246235" y="997585"/>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5" name="直接箭头连接符 84"/>
          <p:cNvCxnSpPr/>
          <p:nvPr/>
        </p:nvCxnSpPr>
        <p:spPr>
          <a:xfrm>
            <a:off x="9944735" y="997585"/>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6" name="直接箭头连接符 85"/>
          <p:cNvCxnSpPr/>
          <p:nvPr/>
        </p:nvCxnSpPr>
        <p:spPr>
          <a:xfrm>
            <a:off x="10619740" y="1010920"/>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7" name="直接箭头连接符 86"/>
          <p:cNvCxnSpPr/>
          <p:nvPr>
            <p:custDataLst>
              <p:tags r:id="rId66"/>
            </p:custDataLst>
          </p:nvPr>
        </p:nvCxnSpPr>
        <p:spPr>
          <a:xfrm flipH="1">
            <a:off x="11140440" y="1241280"/>
            <a:ext cx="381000" cy="0"/>
          </a:xfrm>
          <a:prstGeom prst="straightConnector1">
            <a:avLst/>
          </a:prstGeom>
          <a:solidFill>
            <a:schemeClr val="bg1"/>
          </a:solidFill>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custDataLst>
              <p:tags r:id="rId67"/>
            </p:custDataLst>
          </p:nvPr>
        </p:nvCxnSpPr>
        <p:spPr>
          <a:xfrm flipH="1">
            <a:off x="11121390" y="1658475"/>
            <a:ext cx="381000" cy="0"/>
          </a:xfrm>
          <a:prstGeom prst="straightConnector1">
            <a:avLst/>
          </a:prstGeom>
          <a:solidFill>
            <a:schemeClr val="bg1"/>
          </a:solidFill>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custDataLst>
              <p:tags r:id="rId68"/>
            </p:custDataLst>
          </p:nvPr>
        </p:nvCxnSpPr>
        <p:spPr>
          <a:xfrm flipH="1">
            <a:off x="11121390" y="2063605"/>
            <a:ext cx="381000" cy="0"/>
          </a:xfrm>
          <a:prstGeom prst="straightConnector1">
            <a:avLst/>
          </a:prstGeom>
          <a:solidFill>
            <a:schemeClr val="bg1"/>
          </a:solidFill>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p:nvPr>
            <p:custDataLst>
              <p:tags r:id="rId69"/>
            </p:custDataLst>
          </p:nvPr>
        </p:nvCxnSpPr>
        <p:spPr>
          <a:xfrm flipH="1" flipV="1">
            <a:off x="11152505" y="2222355"/>
            <a:ext cx="349885" cy="252730"/>
          </a:xfrm>
          <a:prstGeom prst="straightConnector1">
            <a:avLst/>
          </a:prstGeom>
          <a:solidFill>
            <a:schemeClr val="bg1"/>
          </a:solidFill>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2" name="流程图: 磁盘 91"/>
          <p:cNvSpPr/>
          <p:nvPr>
            <p:custDataLst>
              <p:tags r:id="rId70"/>
            </p:custDataLst>
          </p:nvPr>
        </p:nvSpPr>
        <p:spPr>
          <a:xfrm>
            <a:off x="8322945" y="2286000"/>
            <a:ext cx="461010" cy="33718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发行</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93" name="流程图: 磁盘 92"/>
          <p:cNvSpPr/>
          <p:nvPr>
            <p:custDataLst>
              <p:tags r:id="rId71"/>
            </p:custDataLst>
          </p:nvPr>
        </p:nvSpPr>
        <p:spPr>
          <a:xfrm>
            <a:off x="8984615" y="228600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上市</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94" name="流程图: 磁盘 93"/>
          <p:cNvSpPr/>
          <p:nvPr>
            <p:custDataLst>
              <p:tags r:id="rId72"/>
            </p:custDataLst>
          </p:nvPr>
        </p:nvSpPr>
        <p:spPr>
          <a:xfrm>
            <a:off x="9687560" y="229616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会计</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95" name="流程图: 磁盘 94"/>
          <p:cNvSpPr/>
          <p:nvPr>
            <p:custDataLst>
              <p:tags r:id="rId73"/>
            </p:custDataLst>
          </p:nvPr>
        </p:nvSpPr>
        <p:spPr>
          <a:xfrm>
            <a:off x="10361930" y="228600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公共</a:t>
            </a:r>
            <a:r>
              <a:rPr lang="zh-CN" altLang="en-US" sz="800" dirty="0">
                <a:latin typeface="微软雅黑" panose="020B0503020204020204" pitchFamily="34" charset="-122"/>
                <a:ea typeface="微软雅黑" panose="020B0503020204020204" pitchFamily="34" charset="-122"/>
                <a:sym typeface="+mn-ea"/>
              </a:rPr>
              <a:t>模块</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99" name="流程图: 磁盘 98"/>
          <p:cNvSpPr/>
          <p:nvPr>
            <p:custDataLst>
              <p:tags r:id="rId74"/>
            </p:custDataLst>
          </p:nvPr>
        </p:nvSpPr>
        <p:spPr>
          <a:xfrm>
            <a:off x="8322945" y="266763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诚信与法规</a:t>
            </a:r>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100" name="流程图: 磁盘 99"/>
          <p:cNvSpPr/>
          <p:nvPr>
            <p:custDataLst>
              <p:tags r:id="rId75"/>
            </p:custDataLst>
          </p:nvPr>
        </p:nvSpPr>
        <p:spPr>
          <a:xfrm>
            <a:off x="8984615" y="2678430"/>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机构</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103" name="流程图: 磁盘 102"/>
          <p:cNvSpPr/>
          <p:nvPr>
            <p:custDataLst>
              <p:tags r:id="rId76"/>
            </p:custDataLst>
          </p:nvPr>
        </p:nvSpPr>
        <p:spPr>
          <a:xfrm>
            <a:off x="9687560" y="266763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私募</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106" name="流程图: 磁盘 105"/>
          <p:cNvSpPr/>
          <p:nvPr>
            <p:custDataLst>
              <p:tags r:id="rId77"/>
            </p:custDataLst>
          </p:nvPr>
        </p:nvSpPr>
        <p:spPr>
          <a:xfrm>
            <a:off x="10361930" y="268033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外网</a:t>
            </a:r>
            <a:r>
              <a:rPr lang="zh-CN" altLang="en-US" sz="800" dirty="0">
                <a:latin typeface="微软雅黑" panose="020B0503020204020204" pitchFamily="34" charset="-122"/>
                <a:ea typeface="微软雅黑" panose="020B0503020204020204" pitchFamily="34" charset="-122"/>
                <a:sym typeface="+mn-ea"/>
              </a:rPr>
              <a:t>门户</a:t>
            </a:r>
            <a:endParaRPr lang="zh-CN" altLang="en-US" sz="800" dirty="0">
              <a:latin typeface="微软雅黑" panose="020B0503020204020204" pitchFamily="34" charset="-122"/>
              <a:ea typeface="微软雅黑" panose="020B0503020204020204" pitchFamily="34" charset="-122"/>
              <a:sym typeface="+mn-ea"/>
            </a:endParaRPr>
          </a:p>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120" name="矩形 119"/>
          <p:cNvSpPr/>
          <p:nvPr/>
        </p:nvSpPr>
        <p:spPr>
          <a:xfrm>
            <a:off x="8168005" y="2260600"/>
            <a:ext cx="2889885" cy="800100"/>
          </a:xfrm>
          <a:prstGeom prst="rect">
            <a:avLst/>
          </a:prstGeom>
          <a:noFill/>
          <a:ln w="12700" cmpd="sng">
            <a:solidFill>
              <a:srgbClr val="FF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22" name="直接箭头连接符 121"/>
          <p:cNvCxnSpPr/>
          <p:nvPr/>
        </p:nvCxnSpPr>
        <p:spPr>
          <a:xfrm>
            <a:off x="9544050" y="2215515"/>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28" name="直接箭头连接符 127"/>
          <p:cNvCxnSpPr/>
          <p:nvPr>
            <p:custDataLst>
              <p:tags r:id="rId78"/>
            </p:custDataLst>
          </p:nvPr>
        </p:nvCxnSpPr>
        <p:spPr>
          <a:xfrm flipV="1">
            <a:off x="8043545" y="3693015"/>
            <a:ext cx="0" cy="144000"/>
          </a:xfrm>
          <a:prstGeom prst="straightConnector1">
            <a:avLst/>
          </a:prstGeom>
          <a:solidFill>
            <a:schemeClr val="bg1"/>
          </a:solidFill>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矩形 32"/>
          <p:cNvSpPr/>
          <p:nvPr>
            <p:custDataLst>
              <p:tags r:id="rId79"/>
            </p:custDataLst>
          </p:nvPr>
        </p:nvSpPr>
        <p:spPr>
          <a:xfrm>
            <a:off x="9950450" y="4063365"/>
            <a:ext cx="669290" cy="41783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一库</a:t>
            </a:r>
            <a:endParaRPr lang="zh-CN" altLang="en-US" sz="1000" dirty="0">
              <a:latin typeface="微软雅黑" panose="020B0503020204020204" pitchFamily="34" charset="-122"/>
              <a:ea typeface="微软雅黑" panose="020B0503020204020204" pitchFamily="34" charset="-122"/>
            </a:endParaRPr>
          </a:p>
        </p:txBody>
      </p:sp>
      <p:sp>
        <p:nvSpPr>
          <p:cNvPr id="131" name="流程图: 磁盘 130"/>
          <p:cNvSpPr/>
          <p:nvPr>
            <p:custDataLst>
              <p:tags r:id="rId80"/>
            </p:custDataLst>
          </p:nvPr>
        </p:nvSpPr>
        <p:spPr>
          <a:xfrm>
            <a:off x="10032365" y="3523615"/>
            <a:ext cx="461010" cy="347345"/>
          </a:xfrm>
          <a:prstGeom prst="flowChartMagneticDisk">
            <a:avLst/>
          </a:prstGeom>
          <a:solidFill>
            <a:srgbClr val="FFCA3B"/>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800" dirty="0">
                <a:latin typeface="微软雅黑" panose="020B0503020204020204" pitchFamily="34" charset="-122"/>
                <a:ea typeface="微软雅黑" panose="020B0503020204020204" pitchFamily="34" charset="-122"/>
                <a:sym typeface="+mn-ea"/>
              </a:rPr>
              <a:t>交换区</a:t>
            </a:r>
            <a:endParaRPr lang="zh-CN" altLang="en-US" sz="800" dirty="0">
              <a:latin typeface="微软雅黑" panose="020B0503020204020204" pitchFamily="34" charset="-122"/>
              <a:ea typeface="微软雅黑" panose="020B0503020204020204" pitchFamily="34" charset="-122"/>
              <a:sym typeface="+mn-ea"/>
            </a:endParaRPr>
          </a:p>
        </p:txBody>
      </p:sp>
      <p:sp>
        <p:nvSpPr>
          <p:cNvPr id="133" name="下箭头 132"/>
          <p:cNvSpPr/>
          <p:nvPr/>
        </p:nvSpPr>
        <p:spPr>
          <a:xfrm>
            <a:off x="10148570" y="3117850"/>
            <a:ext cx="200660" cy="30607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4" name="文本框 133"/>
          <p:cNvSpPr txBox="1"/>
          <p:nvPr/>
        </p:nvSpPr>
        <p:spPr>
          <a:xfrm>
            <a:off x="9346565" y="3159760"/>
            <a:ext cx="1574800" cy="306705"/>
          </a:xfrm>
          <a:prstGeom prst="rect">
            <a:avLst/>
          </a:prstGeom>
          <a:noFill/>
        </p:spPr>
        <p:txBody>
          <a:bodyPr wrap="square" rtlCol="0">
            <a:noAutofit/>
          </a:bodyPr>
          <a:p>
            <a:r>
              <a:rPr lang="en-US" altLang="zh-CN" sz="1400">
                <a:solidFill>
                  <a:srgbClr val="FF0000"/>
                </a:solidFill>
              </a:rPr>
              <a:t> </a:t>
            </a:r>
            <a:r>
              <a:rPr lang="zh-CN" altLang="en-US" sz="1400">
                <a:solidFill>
                  <a:srgbClr val="FF0000"/>
                </a:solidFill>
              </a:rPr>
              <a:t>运维人员</a:t>
            </a:r>
            <a:r>
              <a:rPr lang="en-US" altLang="zh-CN" sz="1400">
                <a:solidFill>
                  <a:srgbClr val="FF0000"/>
                </a:solidFill>
              </a:rPr>
              <a:t>    </a:t>
            </a:r>
            <a:r>
              <a:rPr lang="zh-CN" altLang="en-US" sz="1400">
                <a:solidFill>
                  <a:srgbClr val="FF0000"/>
                </a:solidFill>
              </a:rPr>
              <a:t>导出</a:t>
            </a:r>
            <a:endParaRPr lang="zh-CN" altLang="en-US" sz="1400">
              <a:solidFill>
                <a:srgbClr val="FF0000"/>
              </a:solidFill>
            </a:endParaRPr>
          </a:p>
        </p:txBody>
      </p:sp>
      <p:cxnSp>
        <p:nvCxnSpPr>
          <p:cNvPr id="154" name="直接箭头连接符 153"/>
          <p:cNvCxnSpPr/>
          <p:nvPr/>
        </p:nvCxnSpPr>
        <p:spPr>
          <a:xfrm>
            <a:off x="10262870" y="3862705"/>
            <a:ext cx="0" cy="2006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55" name="上箭头 154"/>
          <p:cNvSpPr/>
          <p:nvPr/>
        </p:nvSpPr>
        <p:spPr>
          <a:xfrm rot="3180000">
            <a:off x="6612890" y="2678430"/>
            <a:ext cx="323850" cy="82486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6" name="上箭头 155"/>
          <p:cNvSpPr/>
          <p:nvPr/>
        </p:nvSpPr>
        <p:spPr>
          <a:xfrm rot="21180000">
            <a:off x="7528895" y="2762938"/>
            <a:ext cx="324000" cy="50400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8" name="文本框 157"/>
          <p:cNvSpPr txBox="1"/>
          <p:nvPr/>
        </p:nvSpPr>
        <p:spPr>
          <a:xfrm>
            <a:off x="6291580" y="2884170"/>
            <a:ext cx="809625" cy="275590"/>
          </a:xfrm>
          <a:prstGeom prst="rect">
            <a:avLst/>
          </a:prstGeom>
          <a:noFill/>
        </p:spPr>
        <p:txBody>
          <a:bodyPr wrap="square" rtlCol="0">
            <a:spAutoFit/>
          </a:bodyPr>
          <a:p>
            <a:r>
              <a:rPr lang="zh-CN" altLang="en-US" sz="1200"/>
              <a:t>文件交换</a:t>
            </a:r>
            <a:endParaRPr lang="zh-CN" altLang="en-US" sz="1200"/>
          </a:p>
        </p:txBody>
      </p:sp>
      <p:sp>
        <p:nvSpPr>
          <p:cNvPr id="160" name="文本框 159"/>
          <p:cNvSpPr txBox="1"/>
          <p:nvPr/>
        </p:nvSpPr>
        <p:spPr>
          <a:xfrm>
            <a:off x="7358380" y="2884170"/>
            <a:ext cx="809625" cy="275590"/>
          </a:xfrm>
          <a:prstGeom prst="rect">
            <a:avLst/>
          </a:prstGeom>
          <a:noFill/>
        </p:spPr>
        <p:txBody>
          <a:bodyPr wrap="square" rtlCol="0">
            <a:spAutoFit/>
          </a:bodyPr>
          <a:p>
            <a:r>
              <a:rPr lang="zh-CN" altLang="en-US" sz="1200"/>
              <a:t>文件交换</a:t>
            </a:r>
            <a:endParaRPr lang="zh-CN" alt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2.1</a:t>
            </a:r>
            <a:r>
              <a:rPr lang="zh-CN" altLang="zh-CN" dirty="0">
                <a:latin typeface="Arial" panose="020B0604020202090204" pitchFamily="34" charset="0"/>
                <a:sym typeface="宋体" panose="02010600030101010101" pitchFamily="2" charset="-122"/>
              </a:rPr>
              <a:t>总体架构</a:t>
            </a:r>
            <a:endParaRPr lang="en-US" altLang="zh-CN" dirty="0">
              <a:latin typeface="Arial" panose="020B0604020202090204" charset="-122"/>
              <a:sym typeface="宋体" panose="02010600030101010101" pitchFamily="2" charset="-122"/>
            </a:endParaRPr>
          </a:p>
        </p:txBody>
      </p:sp>
      <p:sp>
        <p:nvSpPr>
          <p:cNvPr id="87042" name="Text Box 16"/>
          <p:cNvSpPr/>
          <p:nvPr/>
        </p:nvSpPr>
        <p:spPr>
          <a:xfrm>
            <a:off x="552450" y="883920"/>
            <a:ext cx="298894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系统间关系</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graphicFrame>
        <p:nvGraphicFramePr>
          <p:cNvPr id="2" name="表格 1"/>
          <p:cNvGraphicFramePr/>
          <p:nvPr>
            <p:custDataLst>
              <p:tags r:id="rId1"/>
            </p:custDataLst>
          </p:nvPr>
        </p:nvGraphicFramePr>
        <p:xfrm>
          <a:off x="552450" y="1561465"/>
          <a:ext cx="11182985" cy="3276600"/>
        </p:xfrm>
        <a:graphic>
          <a:graphicData uri="http://schemas.openxmlformats.org/drawingml/2006/table">
            <a:tbl>
              <a:tblPr firstRow="1" bandRow="1">
                <a:tableStyleId>{5C22544A-7EE6-4342-B048-85BDC9FD1C3A}</a:tableStyleId>
              </a:tblPr>
              <a:tblGrid>
                <a:gridCol w="922655"/>
                <a:gridCol w="786130"/>
                <a:gridCol w="1245870"/>
                <a:gridCol w="1031875"/>
                <a:gridCol w="1021715"/>
                <a:gridCol w="1212215"/>
                <a:gridCol w="1211580"/>
                <a:gridCol w="1278255"/>
                <a:gridCol w="1278890"/>
                <a:gridCol w="1193800"/>
              </a:tblGrid>
              <a:tr h="195580">
                <a:tc>
                  <a:txBody>
                    <a:bodyPr/>
                    <a:p>
                      <a:pPr algn="ctr">
                        <a:buNone/>
                      </a:pPr>
                      <a:r>
                        <a:rPr lang="zh-CN" altLang="zh-CN" sz="1400">
                          <a:latin typeface="微软雅黑" panose="020B0503020204020204" pitchFamily="34" charset="-122"/>
                          <a:ea typeface="微软雅黑" panose="020B0503020204020204" pitchFamily="34" charset="-122"/>
                        </a:rPr>
                        <a:t>消费方</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交换协议</a:t>
                      </a:r>
                      <a:r>
                        <a:rPr lang="en-US" altLang="zh-CN" sz="1400">
                          <a:latin typeface="微软雅黑" panose="020B0503020204020204" pitchFamily="34" charset="-122"/>
                          <a:ea typeface="微软雅黑" panose="020B0503020204020204" pitchFamily="34" charset="-122"/>
                        </a:rPr>
                        <a:t>/</a:t>
                      </a:r>
                      <a:r>
                        <a:rPr lang="zh-CN" altLang="zh-CN" sz="1400">
                          <a:latin typeface="微软雅黑" panose="020B0503020204020204" pitchFamily="34" charset="-122"/>
                          <a:ea typeface="微软雅黑" panose="020B0503020204020204" pitchFamily="34" charset="-122"/>
                        </a:rPr>
                        <a:t>工具</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报文</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字符集</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调用发起方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网络通道</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实时</a:t>
                      </a: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非实时</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服务可用时间</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用途</a:t>
                      </a:r>
                      <a:endParaRPr lang="zh-CN" altLang="en-US" sz="1400">
                        <a:latin typeface="微软雅黑" panose="020B0503020204020204" pitchFamily="34" charset="-122"/>
                        <a:ea typeface="微软雅黑" panose="020B0503020204020204" pitchFamily="34" charset="-122"/>
                      </a:endParaRPr>
                    </a:p>
                  </a:txBody>
                  <a:tcPr anchor="ctr" anchorCtr="0"/>
                </a:tc>
              </a:tr>
              <a:tr h="417830">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u="none" dirty="0">
                          <a:latin typeface="微软雅黑" panose="020B0503020204020204" pitchFamily="34" charset="-122"/>
                          <a:ea typeface="微软雅黑" panose="020B0503020204020204" pitchFamily="34" charset="-122"/>
                          <a:sym typeface="宋体" panose="02010600030101010101" pitchFamily="2" charset="-122"/>
                        </a:rPr>
                        <a:t>卸载</a:t>
                      </a:r>
                      <a:r>
                        <a:rPr lang="zh-CN" sz="1200" u="none" dirty="0">
                          <a:latin typeface="微软雅黑" panose="020B0503020204020204" pitchFamily="34" charset="-122"/>
                          <a:ea typeface="微软雅黑" panose="020B0503020204020204" pitchFamily="34" charset="-122"/>
                          <a:sym typeface="宋体" panose="02010600030101010101" pitchFamily="2" charset="-122"/>
                        </a:rPr>
                        <a:t>工具</a:t>
                      </a: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algn="ctr">
                        <a:buNone/>
                      </a:pPr>
                      <a:r>
                        <a:rPr lang="zh-CN" sz="1200" b="0" dirty="0">
                          <a:latin typeface="微软雅黑" panose="020B0503020204020204" pitchFamily="34" charset="-122"/>
                          <a:ea typeface="微软雅黑" panose="020B0503020204020204" pitchFamily="34" charset="-122"/>
                        </a:rPr>
                        <a:t>HTTP</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JSON</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algn="ctr">
                        <a:buNone/>
                      </a:pPr>
                      <a:r>
                        <a:rPr lang="zh-CN" sz="1200" dirty="0">
                          <a:latin typeface="微软雅黑" panose="020B0503020204020204" pitchFamily="34" charset="-122"/>
                          <a:ea typeface="微软雅黑" panose="020B0503020204020204" pitchFamily="34" charset="-122"/>
                          <a:sym typeface="+mn-ea"/>
                        </a:rPr>
                        <a:t>UTF-8</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None/>
                      </a:pP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xxljob定时任务调度管理</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en-US" altLang="zh-CN" sz="1200">
                        <a:solidFill>
                          <a:srgbClr val="000000"/>
                        </a:solidFill>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权限系统</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HTTP</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JSON</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UTF-8</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u="none" dirty="0">
                          <a:latin typeface="微软雅黑" panose="020B0503020204020204" pitchFamily="34" charset="-122"/>
                          <a:ea typeface="微软雅黑" panose="020B0503020204020204" pitchFamily="34" charset="-122"/>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00-24</a:t>
                      </a:r>
                      <a:endParaRPr 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单点验证获取当前用户信息</a:t>
                      </a:r>
                      <a:endParaRPr lang="zh-CN" sz="1200"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85037" name="TextBox 3"/>
          <p:cNvSpPr/>
          <p:nvPr>
            <p:custDataLst>
              <p:tags r:id="rId2"/>
            </p:custDataLst>
          </p:nvPr>
        </p:nvSpPr>
        <p:spPr>
          <a:xfrm>
            <a:off x="504190" y="4930775"/>
            <a:ext cx="11183620" cy="133096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sz="1400" dirty="0">
                <a:latin typeface="微软雅黑" panose="020B0503020204020204" pitchFamily="34" charset="-122"/>
                <a:ea typeface="微软雅黑" panose="020B0503020204020204" pitchFamily="34" charset="-122"/>
              </a:rPr>
              <a:t>卸载工具</a:t>
            </a:r>
            <a:r>
              <a:rPr sz="1400" dirty="0">
                <a:latin typeface="微软雅黑" panose="020B0503020204020204" pitchFamily="34" charset="-122"/>
                <a:ea typeface="微软雅黑" panose="020B0503020204020204" pitchFamily="34" charset="-122"/>
              </a:rPr>
              <a:t>需要与</a:t>
            </a:r>
            <a:r>
              <a:rPr lang="zh-CN" sz="1400" dirty="0">
                <a:latin typeface="微软雅黑" panose="020B0503020204020204" pitchFamily="34" charset="-122"/>
                <a:ea typeface="微软雅黑" panose="020B0503020204020204" pitchFamily="34" charset="-122"/>
              </a:rPr>
              <a:t>以</a:t>
            </a:r>
            <a:r>
              <a:rPr sz="1400" dirty="0">
                <a:latin typeface="微软雅黑" panose="020B0503020204020204" pitchFamily="34" charset="-122"/>
                <a:ea typeface="微软雅黑" panose="020B0503020204020204" pitchFamily="34" charset="-122"/>
              </a:rPr>
              <a:t>下系统对接。</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sz="1400" dirty="0">
                <a:latin typeface="微软雅黑" panose="020B0503020204020204" pitchFamily="34" charset="-122"/>
                <a:ea typeface="微软雅黑" panose="020B0503020204020204" pitchFamily="34" charset="-122"/>
              </a:rPr>
              <a:t>1</a:t>
            </a:r>
            <a:r>
              <a:rPr sz="1400" dirty="0">
                <a:latin typeface="微软雅黑" panose="020B0503020204020204" pitchFamily="34" charset="-122"/>
                <a:ea typeface="微软雅黑" panose="020B0503020204020204" pitchFamily="34" charset="-122"/>
              </a:rPr>
              <a:t>、</a:t>
            </a:r>
            <a:r>
              <a:rPr lang="zh-CN" sz="1400" dirty="0">
                <a:latin typeface="微软雅黑" panose="020B0503020204020204" pitchFamily="34" charset="-122"/>
                <a:ea typeface="微软雅黑" panose="020B0503020204020204" pitchFamily="34" charset="-122"/>
              </a:rPr>
              <a:t>调度</a:t>
            </a:r>
            <a:r>
              <a:rPr sz="1400" dirty="0">
                <a:latin typeface="微软雅黑" panose="020B0503020204020204" pitchFamily="34" charset="-122"/>
                <a:ea typeface="微软雅黑" panose="020B0503020204020204" pitchFamily="34" charset="-122"/>
              </a:rPr>
              <a:t>平台：</a:t>
            </a:r>
            <a:r>
              <a:rPr lang="en-US" altLang="zh-CN" sz="1400">
                <a:solidFill>
                  <a:srgbClr val="000000"/>
                </a:solidFill>
                <a:latin typeface="微软雅黑" panose="020B0503020204020204" pitchFamily="34" charset="-122"/>
                <a:ea typeface="微软雅黑" panose="020B0503020204020204" pitchFamily="34" charset="-122"/>
                <a:sym typeface="+mn-ea"/>
              </a:rPr>
              <a:t>xxljob</a:t>
            </a:r>
            <a:r>
              <a:rPr lang="zh-CN" altLang="en-US" sz="1400">
                <a:solidFill>
                  <a:srgbClr val="000000"/>
                </a:solidFill>
                <a:latin typeface="微软雅黑" panose="020B0503020204020204" pitchFamily="34" charset="-122"/>
                <a:ea typeface="微软雅黑" panose="020B0503020204020204" pitchFamily="34" charset="-122"/>
                <a:sym typeface="+mn-ea"/>
              </a:rPr>
              <a:t>定时任务调度管理</a:t>
            </a:r>
            <a:r>
              <a:rPr sz="1400" dirty="0">
                <a:latin typeface="微软雅黑" panose="020B0503020204020204" pitchFamily="34" charset="-122"/>
                <a:ea typeface="微软雅黑" panose="020B0503020204020204" pitchFamily="34" charset="-122"/>
              </a:rPr>
              <a:t>。</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、权限系统：获取</a:t>
            </a:r>
            <a:r>
              <a:rPr lang="zh-CN" altLang="en-US" sz="1400" dirty="0">
                <a:latin typeface="微软雅黑" panose="020B0503020204020204" pitchFamily="34" charset="-122"/>
                <a:ea typeface="微软雅黑" panose="020B0503020204020204" pitchFamily="34" charset="-122"/>
              </a:rPr>
              <a:t>用户信息</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9421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2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9422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3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3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4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2"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功能架构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5" name="组合 6146"/>
            <p:cNvGrpSpPr/>
            <p:nvPr/>
          </p:nvGrpSpPr>
          <p:grpSpPr>
            <a:xfrm>
              <a:off x="6588" y="6602"/>
              <a:ext cx="1200" cy="1045"/>
              <a:chOff x="0" y="0"/>
              <a:chExt cx="1549" cy="1351"/>
            </a:xfrm>
          </p:grpSpPr>
          <p:sp>
            <p:nvSpPr>
              <p:cNvPr id="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9"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1"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2" name="组合 11"/>
          <p:cNvGrpSpPr/>
          <p:nvPr/>
        </p:nvGrpSpPr>
        <p:grpSpPr>
          <a:xfrm>
            <a:off x="4268470" y="3402330"/>
            <a:ext cx="762000" cy="663575"/>
            <a:chOff x="6588" y="6602"/>
            <a:chExt cx="1200" cy="1045"/>
          </a:xfrm>
        </p:grpSpPr>
        <p:sp>
          <p:nvSpPr>
            <p:cNvPr id="13"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4" name="组合 6146"/>
            <p:cNvGrpSpPr/>
            <p:nvPr/>
          </p:nvGrpSpPr>
          <p:grpSpPr>
            <a:xfrm>
              <a:off x="6588" y="6602"/>
              <a:ext cx="1200" cy="1045"/>
              <a:chOff x="0" y="0"/>
              <a:chExt cx="1549" cy="1351"/>
            </a:xfrm>
          </p:grpSpPr>
          <p:sp>
            <p:nvSpPr>
              <p:cNvPr id="15"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6"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P spid="4" grpId="1" bldLvl="0"/>
      <p:bldP spid="4" grpId="2" bldLvl="0"/>
      <p:bldP spid="4" grpId="3" bldLvl="0"/>
      <p:bldP spid="4" grpId="4" bldLvl="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a:xfrm>
            <a:off x="5200438" y="649287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95233" name="标题 2"/>
          <p:cNvSpPr>
            <a:spLocks noGrp="1"/>
          </p:cNvSpPr>
          <p:nvPr>
            <p:custDataLst>
              <p:tags r:id="rId1"/>
            </p:custDataLst>
          </p:nvPr>
        </p:nvSpPr>
        <p:spPr>
          <a:xfrm>
            <a:off x="9209405" y="90170"/>
            <a:ext cx="273685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pPr defTabSz="685800"/>
            <a:r>
              <a:rPr lang="en-US" altLang="zh-CN" dirty="0">
                <a:latin typeface="Arial" panose="020B0604020202090204" pitchFamily="34" charset="0"/>
                <a:sym typeface="宋体" panose="02010600030101010101" pitchFamily="2" charset="-122"/>
              </a:rPr>
              <a:t>2.2 </a:t>
            </a:r>
            <a:r>
              <a:rPr dirty="0">
                <a:latin typeface="Arial" panose="020B0604020202090204" pitchFamily="34" charset="0"/>
                <a:sym typeface="宋体" panose="02010600030101010101" pitchFamily="2" charset="-122"/>
              </a:rPr>
              <a:t>功能</a:t>
            </a:r>
            <a:r>
              <a:rPr lang="zh-CN" altLang="zh-CN" dirty="0">
                <a:latin typeface="Arial" panose="020B0604020202090204" pitchFamily="34" charset="0"/>
                <a:sym typeface="宋体" panose="02010600030101010101" pitchFamily="2" charset="-122"/>
              </a:rPr>
              <a:t>架构</a:t>
            </a:r>
            <a:endParaRPr lang="en-US" altLang="zh-CN" dirty="0">
              <a:latin typeface="Arial" panose="020B0604020202090204" charset="-122"/>
              <a:sym typeface="宋体" panose="02010600030101010101" pitchFamily="2" charset="-122"/>
            </a:endParaRPr>
          </a:p>
        </p:txBody>
      </p:sp>
      <p:sp>
        <p:nvSpPr>
          <p:cNvPr id="441" name="矩形 32"/>
          <p:cNvSpPr/>
          <p:nvPr>
            <p:custDataLst>
              <p:tags r:id="rId2"/>
            </p:custDataLst>
          </p:nvPr>
        </p:nvSpPr>
        <p:spPr>
          <a:xfrm>
            <a:off x="11234420" y="5334635"/>
            <a:ext cx="749935" cy="28575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442" name="直接箭头连接符 441"/>
          <p:cNvCxnSpPr/>
          <p:nvPr>
            <p:custDataLst>
              <p:tags r:id="rId3"/>
            </p:custDataLst>
          </p:nvPr>
        </p:nvCxnSpPr>
        <p:spPr>
          <a:xfrm>
            <a:off x="11033760" y="579501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43" name="矩形 32"/>
          <p:cNvSpPr/>
          <p:nvPr>
            <p:custDataLst>
              <p:tags r:id="rId4"/>
            </p:custDataLst>
          </p:nvPr>
        </p:nvSpPr>
        <p:spPr>
          <a:xfrm>
            <a:off x="11234420" y="4534535"/>
            <a:ext cx="749935" cy="28575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新建</a:t>
            </a:r>
            <a:endParaRPr lang="zh-CN" altLang="en-US" sz="1200" dirty="0">
              <a:latin typeface="微软雅黑" panose="020B0503020204020204" pitchFamily="34" charset="-122"/>
              <a:ea typeface="微软雅黑" panose="020B0503020204020204" pitchFamily="34" charset="-122"/>
            </a:endParaRPr>
          </a:p>
        </p:txBody>
      </p:sp>
      <p:sp>
        <p:nvSpPr>
          <p:cNvPr id="444" name="矩形 32"/>
          <p:cNvSpPr/>
          <p:nvPr>
            <p:custDataLst>
              <p:tags r:id="rId5"/>
            </p:custDataLst>
          </p:nvPr>
        </p:nvSpPr>
        <p:spPr>
          <a:xfrm>
            <a:off x="11234420" y="4951095"/>
            <a:ext cx="749935" cy="28575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已有</a:t>
            </a:r>
            <a:endParaRPr lang="zh-CN" altLang="en-US" sz="1200" dirty="0">
              <a:latin typeface="微软雅黑" panose="020B0503020204020204" pitchFamily="34" charset="-122"/>
              <a:ea typeface="微软雅黑" panose="020B0503020204020204" pitchFamily="34" charset="-122"/>
            </a:endParaRPr>
          </a:p>
        </p:txBody>
      </p:sp>
      <p:sp>
        <p:nvSpPr>
          <p:cNvPr id="445" name="矩形 32"/>
          <p:cNvSpPr/>
          <p:nvPr>
            <p:custDataLst>
              <p:tags r:id="rId6"/>
            </p:custDataLst>
          </p:nvPr>
        </p:nvSpPr>
        <p:spPr>
          <a:xfrm>
            <a:off x="11233785" y="3574415"/>
            <a:ext cx="750570" cy="42672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外联系统</a:t>
            </a:r>
            <a:endParaRPr lang="zh-CN" altLang="en-US" sz="1200" dirty="0">
              <a:latin typeface="微软雅黑" panose="020B0503020204020204" pitchFamily="34" charset="-122"/>
              <a:ea typeface="微软雅黑" panose="020B0503020204020204" pitchFamily="34" charset="-122"/>
            </a:endParaRPr>
          </a:p>
          <a:p>
            <a:pPr algn="ctr" eaLnBrk="0" hangingPunct="0"/>
            <a:r>
              <a:rPr lang="zh-CN" altLang="en-US" sz="1200" dirty="0">
                <a:latin typeface="微软雅黑" panose="020B0503020204020204" pitchFamily="34" charset="-122"/>
                <a:ea typeface="微软雅黑" panose="020B0503020204020204" pitchFamily="34" charset="-122"/>
              </a:rPr>
              <a:t>或接口</a:t>
            </a:r>
            <a:endParaRPr lang="zh-CN" altLang="en-US" sz="1200" dirty="0">
              <a:latin typeface="微软雅黑" panose="020B0503020204020204" pitchFamily="34" charset="-122"/>
              <a:ea typeface="微软雅黑" panose="020B0503020204020204" pitchFamily="34" charset="-122"/>
            </a:endParaRPr>
          </a:p>
        </p:txBody>
      </p:sp>
      <p:sp>
        <p:nvSpPr>
          <p:cNvPr id="446" name="矩形 32"/>
          <p:cNvSpPr/>
          <p:nvPr>
            <p:custDataLst>
              <p:tags r:id="rId7"/>
            </p:custDataLst>
          </p:nvPr>
        </p:nvSpPr>
        <p:spPr>
          <a:xfrm>
            <a:off x="11234420" y="4142105"/>
            <a:ext cx="749935" cy="285750"/>
          </a:xfrm>
          <a:prstGeom prst="roundRect">
            <a:avLst>
              <a:gd name="adj" fmla="val 16667"/>
            </a:avLst>
          </a:prstGeom>
          <a:solidFill>
            <a:srgbClr val="FFFF00"/>
          </a:solidFill>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rPr>
              <a:t>优化</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升级</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7" name="Text Box 133"/>
          <p:cNvSpPr txBox="1"/>
          <p:nvPr>
            <p:custDataLst>
              <p:tags r:id="rId8"/>
            </p:custDataLst>
          </p:nvPr>
        </p:nvSpPr>
        <p:spPr>
          <a:xfrm>
            <a:off x="11654155" y="5676900"/>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12" name="圆角矩形 12418"/>
          <p:cNvSpPr/>
          <p:nvPr/>
        </p:nvSpPr>
        <p:spPr>
          <a:xfrm>
            <a:off x="10138410" y="1087120"/>
            <a:ext cx="953770" cy="4843145"/>
          </a:xfrm>
          <a:prstGeom prst="rect">
            <a:avLst/>
          </a:prstGeom>
          <a:solidFill>
            <a:schemeClr val="bg1"/>
          </a:solidFill>
          <a:ln w="12700" cap="flat" cmpd="sng">
            <a:solidFill>
              <a:srgbClr val="41719C"/>
            </a:solidFill>
            <a:prstDash val="dash"/>
            <a:round/>
            <a:headEnd type="none" w="med" len="med"/>
            <a:tailEnd type="none" w="med" len="med"/>
          </a:ln>
        </p:spPr>
        <p:txBody>
          <a:bodyPr wrap="none" lIns="90170" tIns="46990" rIns="90170" bIns="46990" anchor="t"/>
          <a:lstStyle/>
          <a:p>
            <a:pPr algn="ctr" eaLnBrk="0" hangingPunct="0"/>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4" name="矩形 32"/>
          <p:cNvSpPr/>
          <p:nvPr/>
        </p:nvSpPr>
        <p:spPr>
          <a:xfrm>
            <a:off x="10233660" y="2538095"/>
            <a:ext cx="800100" cy="35560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调度</a:t>
            </a:r>
            <a:r>
              <a:rPr lang="zh-CN" altLang="en-US" sz="1200" dirty="0">
                <a:latin typeface="微软雅黑" panose="020B0503020204020204" pitchFamily="34" charset="-122"/>
                <a:ea typeface="微软雅黑" panose="020B0503020204020204" pitchFamily="34" charset="-122"/>
                <a:sym typeface="+mn-ea"/>
              </a:rPr>
              <a:t>平台</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21" name="直接箭头连接符 20"/>
          <p:cNvCxnSpPr/>
          <p:nvPr/>
        </p:nvCxnSpPr>
        <p:spPr>
          <a:xfrm flipV="1">
            <a:off x="9879965" y="1882140"/>
            <a:ext cx="198755" cy="2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930765" y="3651250"/>
            <a:ext cx="193040" cy="127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9917430" y="5525135"/>
            <a:ext cx="208280" cy="6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2"/>
          <p:cNvSpPr/>
          <p:nvPr/>
        </p:nvSpPr>
        <p:spPr>
          <a:xfrm>
            <a:off x="10233660" y="4427855"/>
            <a:ext cx="800100" cy="35687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权限</a:t>
            </a:r>
            <a:r>
              <a:rPr lang="zh-CN" altLang="en-US" sz="1200" dirty="0">
                <a:latin typeface="微软雅黑" panose="020B0503020204020204" pitchFamily="34" charset="-122"/>
                <a:ea typeface="微软雅黑" panose="020B0503020204020204" pitchFamily="34" charset="-122"/>
                <a:sym typeface="+mn-ea"/>
              </a:rPr>
              <a:t>系统</a:t>
            </a:r>
            <a:endParaRPr lang="zh-CN" altLang="en-US" sz="1200" dirty="0">
              <a:latin typeface="微软雅黑" panose="020B0503020204020204" pitchFamily="34" charset="-122"/>
              <a:ea typeface="微软雅黑" panose="020B0503020204020204" pitchFamily="34" charset="-122"/>
              <a:sym typeface="+mn-ea"/>
            </a:endParaRPr>
          </a:p>
        </p:txBody>
      </p:sp>
      <p:sp>
        <p:nvSpPr>
          <p:cNvPr id="133" name="矩形 32"/>
          <p:cNvSpPr/>
          <p:nvPr/>
        </p:nvSpPr>
        <p:spPr>
          <a:xfrm>
            <a:off x="793115" y="3074035"/>
            <a:ext cx="9123680" cy="1074420"/>
          </a:xfrm>
          <a:prstGeom prst="rect">
            <a:avLst/>
          </a:prstGeom>
          <a:noFill/>
          <a:ln w="25400" cap="flat" cmpd="sng">
            <a:solidFill>
              <a:srgbClr val="31CDA8"/>
            </a:solidFill>
            <a:prstDash val="solid"/>
            <a:round/>
            <a:headEnd type="none" w="med" len="med"/>
            <a:tailEnd type="none" w="med" len="med"/>
          </a:ln>
        </p:spPr>
        <p:txBody>
          <a:bodyPr wrap="square" lIns="0" tIns="0" rIns="0" bIns="0" anchor="ctr"/>
          <a:lstStyle/>
          <a:p>
            <a:pPr algn="ctr" eaLnBrk="0" hangingPunct="0"/>
            <a:endParaRPr lang="en-US" altLang="zh-CN" sz="1400" dirty="0">
              <a:latin typeface="微软雅黑" panose="020B0503020204020204" pitchFamily="34" charset="-122"/>
              <a:ea typeface="微软雅黑" panose="020B0503020204020204" pitchFamily="34" charset="-122"/>
            </a:endParaRPr>
          </a:p>
        </p:txBody>
      </p:sp>
      <p:sp>
        <p:nvSpPr>
          <p:cNvPr id="134" name="矩形 32"/>
          <p:cNvSpPr/>
          <p:nvPr/>
        </p:nvSpPr>
        <p:spPr>
          <a:xfrm>
            <a:off x="754380" y="1087755"/>
            <a:ext cx="9123680" cy="1073785"/>
          </a:xfrm>
          <a:prstGeom prst="rect">
            <a:avLst/>
          </a:prstGeom>
          <a:noFill/>
          <a:ln w="19050" cap="flat" cmpd="sng">
            <a:solidFill>
              <a:schemeClr val="accent1"/>
            </a:solidFill>
            <a:prstDash val="solid"/>
            <a:round/>
            <a:headEnd type="none" w="med" len="med"/>
            <a:tailEnd type="none" w="med" len="med"/>
          </a:ln>
          <a:scene3d>
            <a:camera prst="perspectiveFront"/>
            <a:lightRig rig="threePt" dir="t"/>
          </a:scene3d>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5" name="矩形 32"/>
          <p:cNvSpPr/>
          <p:nvPr/>
        </p:nvSpPr>
        <p:spPr>
          <a:xfrm>
            <a:off x="795020" y="5175250"/>
            <a:ext cx="9135745" cy="726440"/>
          </a:xfrm>
          <a:prstGeom prst="rect">
            <a:avLst/>
          </a:prstGeom>
          <a:noFill/>
          <a:ln w="25400" cap="flat" cmpd="sng">
            <a:solidFill>
              <a:srgbClr val="FFCA3B"/>
            </a:solidFill>
            <a:prstDash val="solid"/>
            <a:round/>
            <a:headEnd type="none" w="med" len="med"/>
            <a:tailEnd type="none" w="med" len="med"/>
          </a:ln>
          <a:scene3d>
            <a:camera prst="orthographicFront"/>
            <a:lightRig rig="threePt" dir="t"/>
          </a:scene3d>
          <a:sp3d extrusionH="31750" prstMaterial="matte"/>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6" name="矩形 135"/>
          <p:cNvSpPr/>
          <p:nvPr/>
        </p:nvSpPr>
        <p:spPr>
          <a:xfrm>
            <a:off x="379730" y="1087755"/>
            <a:ext cx="375285" cy="1073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展现层</a:t>
            </a:r>
            <a:endParaRPr lang="zh-CN" sz="1600" strike="noStrike" noProof="1">
              <a:latin typeface="微软雅黑" panose="020B0503020204020204" pitchFamily="34" charset="-122"/>
              <a:ea typeface="微软雅黑" panose="020B0503020204020204" pitchFamily="34" charset="-122"/>
            </a:endParaRPr>
          </a:p>
        </p:txBody>
      </p:sp>
      <p:sp>
        <p:nvSpPr>
          <p:cNvPr id="138" name="矩形 137"/>
          <p:cNvSpPr/>
          <p:nvPr/>
        </p:nvSpPr>
        <p:spPr>
          <a:xfrm>
            <a:off x="433705" y="3057525"/>
            <a:ext cx="360680" cy="1106170"/>
          </a:xfrm>
          <a:prstGeom prst="rect">
            <a:avLst/>
          </a:prstGeom>
          <a:solidFill>
            <a:srgbClr val="31C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应用层</a:t>
            </a:r>
            <a:endParaRPr lang="zh-CN" sz="1600" strike="noStrike" noProof="1">
              <a:latin typeface="微软雅黑" panose="020B0503020204020204" pitchFamily="34" charset="-122"/>
              <a:ea typeface="微软雅黑" panose="020B0503020204020204" pitchFamily="34" charset="-122"/>
            </a:endParaRPr>
          </a:p>
        </p:txBody>
      </p:sp>
      <p:sp>
        <p:nvSpPr>
          <p:cNvPr id="140" name="矩形 139"/>
          <p:cNvSpPr/>
          <p:nvPr/>
        </p:nvSpPr>
        <p:spPr>
          <a:xfrm>
            <a:off x="433705" y="5175250"/>
            <a:ext cx="360680" cy="721360"/>
          </a:xfrm>
          <a:prstGeom prst="rect">
            <a:avLst/>
          </a:prstGeom>
          <a:solidFill>
            <a:srgbClr val="FFCA3B"/>
          </a:solidFill>
          <a:ln>
            <a:solidFill>
              <a:srgbClr val="FFC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数据层</a:t>
            </a:r>
            <a:endParaRPr lang="zh-CN" sz="1600" strike="noStrike" noProof="1">
              <a:latin typeface="微软雅黑" panose="020B0503020204020204" pitchFamily="34" charset="-122"/>
              <a:ea typeface="微软雅黑" panose="020B0503020204020204" pitchFamily="34" charset="-122"/>
            </a:endParaRPr>
          </a:p>
        </p:txBody>
      </p:sp>
      <p:sp>
        <p:nvSpPr>
          <p:cNvPr id="293" name="圆角矩形 292"/>
          <p:cNvSpPr/>
          <p:nvPr/>
        </p:nvSpPr>
        <p:spPr>
          <a:xfrm>
            <a:off x="2910205"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6" name="流程图: 磁盘 5"/>
          <p:cNvSpPr/>
          <p:nvPr>
            <p:custDataLst>
              <p:tags r:id="rId9"/>
            </p:custDataLst>
          </p:nvPr>
        </p:nvSpPr>
        <p:spPr>
          <a:xfrm>
            <a:off x="4648200" y="531749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7" name="流程图: 磁盘 6"/>
          <p:cNvSpPr/>
          <p:nvPr>
            <p:custDataLst>
              <p:tags r:id="rId10"/>
            </p:custDataLst>
          </p:nvPr>
        </p:nvSpPr>
        <p:spPr>
          <a:xfrm>
            <a:off x="7165975" y="530098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脚本</a:t>
            </a:r>
            <a:r>
              <a:rPr lang="zh-CN" altLang="en-US" sz="1000" dirty="0">
                <a:latin typeface="微软雅黑" panose="020B0503020204020204" pitchFamily="34" charset="-122"/>
                <a:ea typeface="微软雅黑" panose="020B0503020204020204" pitchFamily="34" charset="-122"/>
                <a:sym typeface="+mn-ea"/>
              </a:rPr>
              <a:t>任务执行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9" name="圆角矩形 8"/>
          <p:cNvSpPr/>
          <p:nvPr>
            <p:custDataLst>
              <p:tags r:id="rId11"/>
            </p:custDataLst>
          </p:nvPr>
        </p:nvSpPr>
        <p:spPr>
          <a:xfrm>
            <a:off x="2910205"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压缩</a:t>
            </a:r>
            <a:r>
              <a:rPr lang="zh-CN" altLang="en-US" sz="1200" dirty="0">
                <a:latin typeface="微软雅黑" panose="020B0503020204020204" pitchFamily="34" charset="-122"/>
                <a:ea typeface="微软雅黑" panose="020B0503020204020204" pitchFamily="34" charset="-122"/>
                <a:sym typeface="+mn-ea"/>
              </a:rPr>
              <a:t>加密</a:t>
            </a:r>
            <a:endParaRPr lang="zh-CN" altLang="en-US" sz="1200" dirty="0">
              <a:latin typeface="微软雅黑" panose="020B0503020204020204" pitchFamily="34" charset="-122"/>
              <a:ea typeface="微软雅黑" panose="020B0503020204020204" pitchFamily="34" charset="-122"/>
              <a:sym typeface="+mn-ea"/>
            </a:endParaRPr>
          </a:p>
        </p:txBody>
      </p:sp>
      <p:sp>
        <p:nvSpPr>
          <p:cNvPr id="10" name="圆角矩形 9"/>
          <p:cNvSpPr/>
          <p:nvPr>
            <p:custDataLst>
              <p:tags r:id="rId12"/>
            </p:custDataLst>
          </p:nvPr>
        </p:nvSpPr>
        <p:spPr>
          <a:xfrm>
            <a:off x="480568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13"/>
            </p:custDataLst>
          </p:nvPr>
        </p:nvSpPr>
        <p:spPr>
          <a:xfrm>
            <a:off x="480568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6" name="圆角矩形 15"/>
          <p:cNvSpPr/>
          <p:nvPr>
            <p:custDataLst>
              <p:tags r:id="rId14"/>
            </p:custDataLst>
          </p:nvPr>
        </p:nvSpPr>
        <p:spPr>
          <a:xfrm>
            <a:off x="667004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8" name="圆角矩形 17"/>
          <p:cNvSpPr/>
          <p:nvPr>
            <p:custDataLst>
              <p:tags r:id="rId15"/>
            </p:custDataLst>
          </p:nvPr>
        </p:nvSpPr>
        <p:spPr>
          <a:xfrm>
            <a:off x="667004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16"/>
            </p:custDataLst>
          </p:nvPr>
        </p:nvSpPr>
        <p:spPr>
          <a:xfrm>
            <a:off x="2900045"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25" name="圆角矩形 24"/>
          <p:cNvSpPr/>
          <p:nvPr>
            <p:custDataLst>
              <p:tags r:id="rId17"/>
            </p:custDataLst>
          </p:nvPr>
        </p:nvSpPr>
        <p:spPr>
          <a:xfrm>
            <a:off x="4805680"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监控</a:t>
            </a:r>
            <a:endParaRPr lang="zh-CN" altLang="en-US" sz="1200" dirty="0">
              <a:latin typeface="微软雅黑" panose="020B0503020204020204" pitchFamily="34" charset="-122"/>
              <a:ea typeface="微软雅黑" panose="020B0503020204020204" pitchFamily="34" charset="-122"/>
              <a:sym typeface="+mn-ea"/>
            </a:endParaRPr>
          </a:p>
        </p:txBody>
      </p:sp>
      <p:sp>
        <p:nvSpPr>
          <p:cNvPr id="2" name="圆角矩形 1"/>
          <p:cNvSpPr/>
          <p:nvPr>
            <p:custDataLst>
              <p:tags r:id="rId18"/>
            </p:custDataLst>
          </p:nvPr>
        </p:nvSpPr>
        <p:spPr>
          <a:xfrm>
            <a:off x="6711315"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脚本</a:t>
            </a:r>
            <a:r>
              <a:rPr lang="zh-CN" altLang="en-US" sz="1200" dirty="0">
                <a:latin typeface="微软雅黑" panose="020B0503020204020204" pitchFamily="34" charset="-122"/>
                <a:ea typeface="微软雅黑" panose="020B0503020204020204" pitchFamily="34" charset="-122"/>
                <a:sym typeface="+mn-ea"/>
              </a:rPr>
              <a:t>任务</a:t>
            </a:r>
            <a:endParaRPr lang="zh-CN" altLang="en-US" sz="1200" dirty="0">
              <a:latin typeface="微软雅黑" panose="020B0503020204020204" pitchFamily="34" charset="-122"/>
              <a:ea typeface="微软雅黑" panose="020B0503020204020204" pitchFamily="34" charset="-122"/>
              <a:sym typeface="+mn-ea"/>
            </a:endParaRPr>
          </a:p>
        </p:txBody>
      </p:sp>
      <p:sp>
        <p:nvSpPr>
          <p:cNvPr id="3" name="流程图: 磁盘 2"/>
          <p:cNvSpPr/>
          <p:nvPr>
            <p:custDataLst>
              <p:tags r:id="rId19"/>
            </p:custDataLst>
          </p:nvPr>
        </p:nvSpPr>
        <p:spPr>
          <a:xfrm>
            <a:off x="2130425" y="532892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作业配置</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数据架构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10</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2.2</a:t>
            </a:r>
            <a:r>
              <a:rPr lang="zh-CN" altLang="en-US" dirty="0">
                <a:latin typeface="Arial" panose="020B0604020202090204" pitchFamily="34" charset="0"/>
                <a:sym typeface="宋体" panose="02010600030101010101" pitchFamily="2" charset="-122"/>
              </a:rPr>
              <a:t>数据架构</a:t>
            </a:r>
            <a:endParaRPr lang="en-US" altLang="zh-CN" dirty="0">
              <a:latin typeface="Arial" panose="020B0604020202090204" charset="-122"/>
              <a:sym typeface="宋体" panose="02010600030101010101" pitchFamily="2" charset="-122"/>
            </a:endParaRPr>
          </a:p>
        </p:txBody>
      </p:sp>
      <p:sp>
        <p:nvSpPr>
          <p:cNvPr id="104450" name="Text Box 16"/>
          <p:cNvSpPr/>
          <p:nvPr/>
        </p:nvSpPr>
        <p:spPr>
          <a:xfrm>
            <a:off x="561340" y="1024255"/>
            <a:ext cx="2433320"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数据模型</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104538" name="文本框 2"/>
          <p:cNvSpPr txBox="1"/>
          <p:nvPr/>
        </p:nvSpPr>
        <p:spPr>
          <a:xfrm>
            <a:off x="438785" y="5885180"/>
            <a:ext cx="4346575" cy="337185"/>
          </a:xfrm>
          <a:prstGeom prst="rect">
            <a:avLst/>
          </a:prstGeom>
          <a:noFill/>
          <a:ln w="9525">
            <a:noFill/>
          </a:ln>
        </p:spPr>
        <p:txBody>
          <a:bodyPr wrap="square" anchor="t">
            <a:spAutoFit/>
          </a:bodyPr>
          <a:p>
            <a:r>
              <a:rPr lang="zh-CN" altLang="en-US" sz="1600">
                <a:latin typeface="华文楷体" panose="02010600040101010101" charset="-122"/>
                <a:ea typeface="华文楷体" panose="02010600040101010101" charset="-122"/>
              </a:rPr>
              <a:t>注：</a:t>
            </a:r>
            <a:r>
              <a:rPr lang="en-US" altLang="zh-CN" sz="1600">
                <a:highlight>
                  <a:srgbClr val="FFFF00"/>
                </a:highlight>
                <a:latin typeface="华文楷体" panose="02010600040101010101" charset="-122"/>
                <a:ea typeface="华文楷体" panose="02010600040101010101" charset="-122"/>
              </a:rPr>
              <a:t> 2.</a:t>
            </a:r>
            <a:r>
              <a:rPr lang="zh-CN" altLang="en-US" sz="1600">
                <a:highlight>
                  <a:srgbClr val="FFFF00"/>
                </a:highlight>
                <a:latin typeface="华文楷体" panose="02010600040101010101" charset="-122"/>
                <a:ea typeface="华文楷体" panose="02010600040101010101" charset="-122"/>
              </a:rPr>
              <a:t>完成数据模型设计后请向</a:t>
            </a:r>
            <a:r>
              <a:rPr lang="en-US" altLang="zh-CN" sz="1600">
                <a:highlight>
                  <a:srgbClr val="FFFF00"/>
                </a:highlight>
                <a:latin typeface="华文楷体" panose="02010600040101010101" charset="-122"/>
                <a:ea typeface="华文楷体" panose="02010600040101010101" charset="-122"/>
              </a:rPr>
              <a:t>TMO</a:t>
            </a:r>
            <a:r>
              <a:rPr lang="zh-CN" altLang="en-US" sz="1600">
                <a:highlight>
                  <a:srgbClr val="FFFF00"/>
                </a:highlight>
                <a:latin typeface="华文楷体" panose="02010600040101010101" charset="-122"/>
                <a:ea typeface="华文楷体" panose="02010600040101010101" charset="-122"/>
              </a:rPr>
              <a:t>提请审核</a:t>
            </a:r>
            <a:endParaRPr lang="zh-CN" altLang="en-US" sz="1600">
              <a:highlight>
                <a:srgbClr val="FFFF00"/>
              </a:highlight>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10" name="矩形 64600"/>
          <p:cNvSpPr/>
          <p:nvPr>
            <p:custDataLst>
              <p:tags r:id="rId1"/>
            </p:custDataLst>
          </p:nvPr>
        </p:nvSpPr>
        <p:spPr>
          <a:xfrm>
            <a:off x="2011045" y="3246755"/>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11" name="文本框 64601"/>
          <p:cNvSpPr txBox="1"/>
          <p:nvPr>
            <p:custDataLst>
              <p:tags r:id="rId2"/>
            </p:custDataLst>
          </p:nvPr>
        </p:nvSpPr>
        <p:spPr>
          <a:xfrm>
            <a:off x="2512040" y="3256532"/>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配置信息</a:t>
            </a:r>
            <a:endParaRPr lang="zh-CN" altLang="en-US" sz="1000" b="1" dirty="0">
              <a:latin typeface="微软雅黑" panose="020B0503020204020204" pitchFamily="34" charset="-122"/>
              <a:ea typeface="微软雅黑" panose="020B0503020204020204" pitchFamily="34" charset="-122"/>
            </a:endParaRPr>
          </a:p>
        </p:txBody>
      </p:sp>
      <p:sp>
        <p:nvSpPr>
          <p:cNvPr id="16" name="流程图: 过程 64602"/>
          <p:cNvSpPr/>
          <p:nvPr>
            <p:custDataLst>
              <p:tags r:id="rId3"/>
            </p:custDataLst>
          </p:nvPr>
        </p:nvSpPr>
        <p:spPr>
          <a:xfrm>
            <a:off x="3188335" y="3573780"/>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作业</a:t>
            </a:r>
            <a:r>
              <a:rPr lang="zh-CN" altLang="en-US" sz="1000" dirty="0">
                <a:latin typeface="微软雅黑" panose="020B0503020204020204" pitchFamily="34" charset="-122"/>
                <a:ea typeface="微软雅黑" panose="020B0503020204020204" pitchFamily="34" charset="-122"/>
                <a:sym typeface="+mn-ea"/>
              </a:rPr>
              <a:t>配置表</a:t>
            </a:r>
            <a:endParaRPr lang="zh-CN" altLang="en-US" sz="1000" dirty="0">
              <a:latin typeface="微软雅黑" panose="020B0503020204020204" pitchFamily="34" charset="-122"/>
              <a:ea typeface="微软雅黑" panose="020B0503020204020204" pitchFamily="34" charset="-122"/>
            </a:endParaRPr>
          </a:p>
        </p:txBody>
      </p:sp>
      <p:sp>
        <p:nvSpPr>
          <p:cNvPr id="17" name="流程图: 过程 64603"/>
          <p:cNvSpPr/>
          <p:nvPr>
            <p:custDataLst>
              <p:tags r:id="rId4"/>
            </p:custDataLst>
          </p:nvPr>
        </p:nvSpPr>
        <p:spPr>
          <a:xfrm>
            <a:off x="3188335" y="403161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graphicFrame>
        <p:nvGraphicFramePr>
          <p:cNvPr id="22" name="表格 21"/>
          <p:cNvGraphicFramePr/>
          <p:nvPr/>
        </p:nvGraphicFramePr>
        <p:xfrm>
          <a:off x="956945" y="1482090"/>
          <a:ext cx="9865360" cy="1601470"/>
        </p:xfrm>
        <a:graphic>
          <a:graphicData uri="http://schemas.openxmlformats.org/drawingml/2006/table">
            <a:tbl>
              <a:tblPr/>
              <a:tblGrid>
                <a:gridCol w="681355"/>
                <a:gridCol w="1456690"/>
                <a:gridCol w="2145030"/>
                <a:gridCol w="2374900"/>
                <a:gridCol w="1369695"/>
                <a:gridCol w="1837690"/>
              </a:tblGrid>
              <a:tr h="274320">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序号</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业务对象描述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实体描述信息</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本项目是否需要变更</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r>
              <a:tr h="504190">
                <a:tc>
                  <a:txBody>
                    <a:bodyPr/>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1</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作业配置表，记录配置</a:t>
                      </a:r>
                      <a:r>
                        <a:rPr lang="zh-CN" altLang="en-US" sz="1200">
                          <a:solidFill>
                            <a:srgbClr val="000000"/>
                          </a:solidFill>
                          <a:latin typeface="微软雅黑" panose="020B0503020204020204" pitchFamily="34" charset="-122"/>
                          <a:ea typeface="微软雅黑" panose="020B0503020204020204" pitchFamily="34" charset="-122"/>
                        </a:rPr>
                        <a:t>信息</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l">
                        <a:buNone/>
                      </a:pPr>
                      <a:r>
                        <a:rPr lang="zh-CN" altLang="en-US" sz="1200">
                          <a:solidFill>
                            <a:srgbClr val="000000"/>
                          </a:solidFill>
                          <a:latin typeface="微软雅黑" panose="020B0503020204020204" pitchFamily="34" charset="-122"/>
                          <a:ea typeface="微软雅黑" panose="020B0503020204020204" pitchFamily="34" charset="-122"/>
                        </a:rPr>
                        <a:t>作业配置</a:t>
                      </a:r>
                      <a:r>
                        <a:rPr lang="zh-CN" altLang="en-US" sz="1200">
                          <a:solidFill>
                            <a:srgbClr val="000000"/>
                          </a:solidFill>
                          <a:latin typeface="微软雅黑" panose="020B0503020204020204" pitchFamily="34" charset="-122"/>
                          <a:ea typeface="微软雅黑" panose="020B0503020204020204" pitchFamily="34" charset="-122"/>
                        </a:rPr>
                        <a:t>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记录作业配置</a:t>
                      </a:r>
                      <a:r>
                        <a:rPr lang="zh-CN" altLang="en-US" sz="1200">
                          <a:solidFill>
                            <a:srgbClr val="000000"/>
                          </a:solidFill>
                          <a:latin typeface="微软雅黑" panose="020B0503020204020204" pitchFamily="34" charset="-122"/>
                          <a:ea typeface="微软雅黑" panose="020B0503020204020204" pitchFamily="34" charset="-122"/>
                          <a:sym typeface="+mn-ea"/>
                        </a:rPr>
                        <a:t>信息</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r h="504190">
                <a:tc>
                  <a:txBody>
                    <a:bodyPr wrap="square"/>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2</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记录卸载</a:t>
                      </a:r>
                      <a:r>
                        <a:rPr lang="en-US" altLang="zh-CN" sz="1200">
                          <a:solidFill>
                            <a:srgbClr val="000000"/>
                          </a:solidFill>
                          <a:latin typeface="微软雅黑" panose="020B0503020204020204" pitchFamily="34" charset="-122"/>
                          <a:ea typeface="微软雅黑" panose="020B0503020204020204" pitchFamily="34" charset="-122"/>
                        </a:rPr>
                        <a:t>/</a:t>
                      </a:r>
                      <a:r>
                        <a:rPr lang="zh-CN" altLang="en-US" sz="1200">
                          <a:solidFill>
                            <a:srgbClr val="000000"/>
                          </a:solidFill>
                          <a:latin typeface="微软雅黑" panose="020B0503020204020204" pitchFamily="34" charset="-122"/>
                          <a:ea typeface="微软雅黑" panose="020B0503020204020204" pitchFamily="34" charset="-122"/>
                        </a:rPr>
                        <a:t>加载任务执行过程及脚本执行行为，支撑任务追踪</a:t>
                      </a:r>
                      <a:r>
                        <a:rPr lang="zh-CN" altLang="en-US" sz="1200">
                          <a:solidFill>
                            <a:srgbClr val="000000"/>
                          </a:solidFill>
                          <a:latin typeface="微软雅黑" panose="020B0503020204020204" pitchFamily="34" charset="-122"/>
                          <a:ea typeface="微软雅黑" panose="020B0503020204020204" pitchFamily="34" charset="-122"/>
                        </a:rPr>
                        <a:t>和问题排查</a:t>
                      </a:r>
                      <a:r>
                        <a:rPr lang="en-US" altLang="zh-CN" sz="1200">
                          <a:solidFill>
                            <a:srgbClr val="000000"/>
                          </a:solidFill>
                          <a:latin typeface="微软雅黑" panose="020B0503020204020204" pitchFamily="34" charset="-122"/>
                          <a:ea typeface="微软雅黑" panose="020B0503020204020204" pitchFamily="34" charset="-122"/>
                        </a:rPr>
                        <a:t>	</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l">
                        <a:buNone/>
                      </a:pPr>
                      <a:r>
                        <a:rPr lang="zh-CN" altLang="en-US" sz="1200" dirty="0">
                          <a:latin typeface="微软雅黑" panose="020B0503020204020204" pitchFamily="34" charset="-122"/>
                          <a:ea typeface="微软雅黑" panose="020B0503020204020204" pitchFamily="34" charset="-122"/>
                          <a:sym typeface="+mn-ea"/>
                        </a:rPr>
                        <a:t>作业执行表、脚本任务执行表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记录卸载</a:t>
                      </a:r>
                      <a:r>
                        <a:rPr lang="en-US" altLang="zh-CN" sz="1200">
                          <a:solidFill>
                            <a:srgbClr val="000000"/>
                          </a:solidFill>
                          <a:latin typeface="微软雅黑" panose="020B0503020204020204" pitchFamily="34" charset="-122"/>
                          <a:ea typeface="微软雅黑" panose="020B0503020204020204" pitchFamily="34" charset="-122"/>
                          <a:sym typeface="+mn-ea"/>
                        </a:rPr>
                        <a:t>/</a:t>
                      </a:r>
                      <a:r>
                        <a:rPr lang="zh-CN" altLang="en-US" sz="1200">
                          <a:solidFill>
                            <a:srgbClr val="000000"/>
                          </a:solidFill>
                          <a:latin typeface="微软雅黑" panose="020B0503020204020204" pitchFamily="34" charset="-122"/>
                          <a:ea typeface="微软雅黑" panose="020B0503020204020204" pitchFamily="34" charset="-122"/>
                          <a:sym typeface="+mn-ea"/>
                        </a:rPr>
                        <a:t>加载任务执行</a:t>
                      </a:r>
                      <a:r>
                        <a:rPr lang="zh-CN" altLang="en-US" sz="1200">
                          <a:solidFill>
                            <a:srgbClr val="000000"/>
                          </a:solidFill>
                          <a:latin typeface="微软雅黑" panose="020B0503020204020204" pitchFamily="34" charset="-122"/>
                          <a:ea typeface="微软雅黑" panose="020B0503020204020204" pitchFamily="34" charset="-122"/>
                          <a:sym typeface="+mn-ea"/>
                        </a:rPr>
                        <a:t>过程、</a:t>
                      </a:r>
                      <a:r>
                        <a:rPr lang="zh-CN" altLang="en-US" sz="1200">
                          <a:solidFill>
                            <a:srgbClr val="000000"/>
                          </a:solidFill>
                          <a:latin typeface="微软雅黑" panose="020B0503020204020204" pitchFamily="34" charset="-122"/>
                          <a:ea typeface="微软雅黑" panose="020B0503020204020204" pitchFamily="34" charset="-122"/>
                          <a:sym typeface="+mn-ea"/>
                        </a:rPr>
                        <a:t>以及异常处理的全过程信息</a:t>
                      </a:r>
                      <a:r>
                        <a:rPr lang="en-US" altLang="zh-CN" sz="1200">
                          <a:solidFill>
                            <a:srgbClr val="000000"/>
                          </a:solidFill>
                          <a:latin typeface="微软雅黑" panose="020B0503020204020204" pitchFamily="34" charset="-122"/>
                          <a:ea typeface="微软雅黑" panose="020B0503020204020204" pitchFamily="34" charset="-122"/>
                          <a:sym typeface="+mn-ea"/>
                        </a:rPr>
                        <a:t>	</a:t>
                      </a:r>
                      <a:endParaRPr lang="en-US" altLang="zh-CN"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bl>
          </a:graphicData>
        </a:graphic>
      </p:graphicFrame>
      <p:sp>
        <p:nvSpPr>
          <p:cNvPr id="19" name="矩形 64600"/>
          <p:cNvSpPr/>
          <p:nvPr>
            <p:custDataLst>
              <p:tags r:id="rId5"/>
            </p:custDataLst>
          </p:nvPr>
        </p:nvSpPr>
        <p:spPr>
          <a:xfrm>
            <a:off x="6261735" y="3256280"/>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20" name="文本框 64601"/>
          <p:cNvSpPr txBox="1"/>
          <p:nvPr>
            <p:custDataLst>
              <p:tags r:id="rId6"/>
            </p:custDataLst>
          </p:nvPr>
        </p:nvSpPr>
        <p:spPr>
          <a:xfrm>
            <a:off x="6762730" y="3266057"/>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记录信息</a:t>
            </a:r>
            <a:endParaRPr lang="zh-CN" altLang="en-US" sz="1000" b="1" dirty="0">
              <a:latin typeface="微软雅黑" panose="020B0503020204020204" pitchFamily="34" charset="-122"/>
              <a:ea typeface="微软雅黑" panose="020B0503020204020204" pitchFamily="34" charset="-122"/>
            </a:endParaRPr>
          </a:p>
        </p:txBody>
      </p:sp>
      <p:sp>
        <p:nvSpPr>
          <p:cNvPr id="21" name="流程图: 过程 64602"/>
          <p:cNvSpPr/>
          <p:nvPr>
            <p:custDataLst>
              <p:tags r:id="rId7"/>
            </p:custDataLst>
          </p:nvPr>
        </p:nvSpPr>
        <p:spPr>
          <a:xfrm>
            <a:off x="6762750" y="3590290"/>
            <a:ext cx="948055" cy="39687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作业执行表</a:t>
            </a:r>
            <a:endParaRPr lang="zh-CN" altLang="en-US" sz="1000" dirty="0">
              <a:latin typeface="微软雅黑" panose="020B0503020204020204" pitchFamily="34" charset="-122"/>
              <a:ea typeface="微软雅黑" panose="020B0503020204020204" pitchFamily="34" charset="-122"/>
            </a:endParaRPr>
          </a:p>
        </p:txBody>
      </p:sp>
      <p:sp>
        <p:nvSpPr>
          <p:cNvPr id="23" name="流程图: 过程 64603"/>
          <p:cNvSpPr/>
          <p:nvPr>
            <p:custDataLst>
              <p:tags r:id="rId8"/>
            </p:custDataLst>
          </p:nvPr>
        </p:nvSpPr>
        <p:spPr>
          <a:xfrm>
            <a:off x="6762750" y="403415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任务实例</a:t>
            </a:r>
            <a:r>
              <a:rPr lang="en-US" altLang="zh-CN" sz="1000" dirty="0">
                <a:latin typeface="微软雅黑" panose="020B0503020204020204" pitchFamily="34" charset="-122"/>
                <a:ea typeface="微软雅黑" panose="020B0503020204020204" pitchFamily="34" charset="-122"/>
                <a:sym typeface="+mn-ea"/>
              </a:rPr>
              <a:t>ID</a:t>
            </a:r>
            <a:endParaRPr lang="en-US" altLang="zh-CN" sz="1000" dirty="0">
              <a:latin typeface="微软雅黑" panose="020B0503020204020204" pitchFamily="34" charset="-122"/>
              <a:ea typeface="微软雅黑" panose="020B0503020204020204" pitchFamily="34" charset="-122"/>
              <a:sym typeface="+mn-ea"/>
            </a:endParaRPr>
          </a:p>
          <a:p>
            <a:pPr algn="ctr"/>
            <a:r>
              <a:rPr lang="zh-CN" altLang="en-US" sz="1000" dirty="0">
                <a:latin typeface="微软雅黑" panose="020B0503020204020204" pitchFamily="34" charset="-122"/>
                <a:ea typeface="微软雅黑" panose="020B0503020204020204" pitchFamily="34" charset="-122"/>
              </a:rPr>
              <a:t>作业</a:t>
            </a:r>
            <a:r>
              <a:rPr lang="zh-CN" altLang="en-US" sz="1000" dirty="0">
                <a:latin typeface="微软雅黑" panose="020B0503020204020204" pitchFamily="34" charset="-122"/>
                <a:ea typeface="微软雅黑" panose="020B0503020204020204" pitchFamily="34" charset="-122"/>
              </a:rPr>
              <a:t>编码</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批次号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任务配置</a:t>
            </a:r>
            <a:r>
              <a:rPr lang="zh-CN" altLang="en-US" sz="1000" dirty="0">
                <a:latin typeface="微软雅黑" panose="020B0503020204020204" pitchFamily="34" charset="-122"/>
                <a:ea typeface="微软雅黑" panose="020B0503020204020204" pitchFamily="34" charset="-122"/>
              </a:rPr>
              <a:t>快照</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24" name="流程图: 过程 64602"/>
          <p:cNvSpPr/>
          <p:nvPr>
            <p:custDataLst>
              <p:tags r:id="rId9"/>
            </p:custDataLst>
          </p:nvPr>
        </p:nvSpPr>
        <p:spPr>
          <a:xfrm>
            <a:off x="8049895" y="3608705"/>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脚本任务执行表</a:t>
            </a:r>
            <a:endParaRPr lang="zh-CN" altLang="en-US" sz="1000" dirty="0">
              <a:latin typeface="微软雅黑" panose="020B0503020204020204" pitchFamily="34" charset="-122"/>
              <a:ea typeface="微软雅黑" panose="020B0503020204020204" pitchFamily="34" charset="-122"/>
            </a:endParaRPr>
          </a:p>
        </p:txBody>
      </p:sp>
      <p:sp>
        <p:nvSpPr>
          <p:cNvPr id="25" name="流程图: 过程 64603"/>
          <p:cNvSpPr/>
          <p:nvPr>
            <p:custDataLst>
              <p:tags r:id="rId10"/>
            </p:custDataLst>
          </p:nvPr>
        </p:nvSpPr>
        <p:spPr>
          <a:xfrm>
            <a:off x="8049895" y="404114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object 154"/>
          <p:cNvSpPr txBox="1"/>
          <p:nvPr>
            <p:custDataLst>
              <p:tags r:id="rId2"/>
            </p:custDataLst>
          </p:nvPr>
        </p:nvSpPr>
        <p:spPr>
          <a:xfrm>
            <a:off x="2498090" y="250888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6" name="矩形 5"/>
          <p:cNvSpPr/>
          <p:nvPr>
            <p:custDataLst>
              <p:tags r:id="rId3"/>
            </p:custDataLst>
          </p:nvPr>
        </p:nvSpPr>
        <p:spPr>
          <a:xfrm>
            <a:off x="2456815" y="2477135"/>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 name="object 16"/>
          <p:cNvSpPr/>
          <p:nvPr>
            <p:custDataLst>
              <p:tags r:id="rId4"/>
            </p:custDataLst>
          </p:nvPr>
        </p:nvSpPr>
        <p:spPr>
          <a:xfrm>
            <a:off x="2990850" y="2577465"/>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8" name="object 285"/>
          <p:cNvSpPr txBox="1"/>
          <p:nvPr>
            <p:custDataLst>
              <p:tags r:id="rId6"/>
            </p:custDataLst>
          </p:nvPr>
        </p:nvSpPr>
        <p:spPr>
          <a:xfrm>
            <a:off x="3352800" y="2563495"/>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90" name="文本框 89"/>
          <p:cNvSpPr txBox="1"/>
          <p:nvPr/>
        </p:nvSpPr>
        <p:spPr>
          <a:xfrm>
            <a:off x="6108065" y="932815"/>
            <a:ext cx="1059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46" name="矩形 45"/>
          <p:cNvSpPr/>
          <p:nvPr>
            <p:custDataLst>
              <p:tags r:id="rId7"/>
            </p:custDataLst>
          </p:nvPr>
        </p:nvSpPr>
        <p:spPr>
          <a:xfrm>
            <a:off x="1729105" y="125222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52" name="object 154"/>
          <p:cNvSpPr txBox="1"/>
          <p:nvPr>
            <p:custDataLst>
              <p:tags r:id="rId8"/>
            </p:custDataLst>
          </p:nvPr>
        </p:nvSpPr>
        <p:spPr>
          <a:xfrm>
            <a:off x="1729105" y="1710690"/>
            <a:ext cx="648335" cy="165735"/>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53" name="图片 52"/>
          <p:cNvPicPr>
            <a:picLocks noChangeAspect="1"/>
          </p:cNvPicPr>
          <p:nvPr>
            <p:custDataLst>
              <p:tags r:id="rId9"/>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286635" y="1518920"/>
            <a:ext cx="297815" cy="297815"/>
          </a:xfrm>
          <a:prstGeom prst="rect">
            <a:avLst/>
          </a:prstGeom>
          <a:solidFill>
            <a:srgbClr val="1262AB"/>
          </a:solidFill>
        </p:spPr>
      </p:pic>
      <p:sp>
        <p:nvSpPr>
          <p:cNvPr id="66" name="文本框 30"/>
          <p:cNvSpPr txBox="1"/>
          <p:nvPr>
            <p:custDataLst>
              <p:tags r:id="rId11"/>
            </p:custDataLst>
          </p:nvPr>
        </p:nvSpPr>
        <p:spPr>
          <a:xfrm>
            <a:off x="2092960" y="180403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24" name="直接箭头连接符 23"/>
          <p:cNvCxnSpPr/>
          <p:nvPr/>
        </p:nvCxnSpPr>
        <p:spPr>
          <a:xfrm flipV="1">
            <a:off x="3962400" y="2265045"/>
            <a:ext cx="0" cy="212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custDataLst>
              <p:tags r:id="rId12"/>
            </p:custDataLst>
          </p:nvPr>
        </p:nvPicPr>
        <p:blipFill>
          <a:blip r:embed="rId13" cstate="print">
            <a:extLst>
              <a:ext uri="{28A0092B-C50C-407E-A947-70E740481C1C}">
                <a14:useLocalDpi xmlns:a14="http://schemas.microsoft.com/office/drawing/2010/main" val="0"/>
              </a:ext>
            </a:extLst>
          </a:blip>
          <a:stretch>
            <a:fillRect/>
          </a:stretch>
        </p:blipFill>
        <p:spPr>
          <a:xfrm>
            <a:off x="2887980" y="1506220"/>
            <a:ext cx="306705" cy="360045"/>
          </a:xfrm>
          <a:prstGeom prst="rect">
            <a:avLst/>
          </a:prstGeom>
        </p:spPr>
      </p:pic>
      <p:sp>
        <p:nvSpPr>
          <p:cNvPr id="11" name="object 285"/>
          <p:cNvSpPr txBox="1"/>
          <p:nvPr>
            <p:custDataLst>
              <p:tags r:id="rId14"/>
            </p:custDataLst>
          </p:nvPr>
        </p:nvSpPr>
        <p:spPr>
          <a:xfrm>
            <a:off x="2738755" y="186626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4" name="直接连接符 13"/>
          <p:cNvCxnSpPr/>
          <p:nvPr>
            <p:custDataLst>
              <p:tags r:id="rId15"/>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052955" y="34290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944370"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70" name="object 154"/>
          <p:cNvSpPr txBox="1"/>
          <p:nvPr>
            <p:custDataLst>
              <p:tags r:id="rId16"/>
            </p:custDataLst>
          </p:nvPr>
        </p:nvSpPr>
        <p:spPr>
          <a:xfrm>
            <a:off x="7706995" y="232219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71" name="矩形 70"/>
          <p:cNvSpPr/>
          <p:nvPr>
            <p:custDataLst>
              <p:tags r:id="rId17"/>
            </p:custDataLst>
          </p:nvPr>
        </p:nvSpPr>
        <p:spPr>
          <a:xfrm>
            <a:off x="7622540" y="2290445"/>
            <a:ext cx="173736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3" name="object 16"/>
          <p:cNvSpPr/>
          <p:nvPr>
            <p:custDataLst>
              <p:tags r:id="rId18"/>
            </p:custDataLst>
          </p:nvPr>
        </p:nvSpPr>
        <p:spPr>
          <a:xfrm>
            <a:off x="8199755" y="2390775"/>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74" name="object 285"/>
          <p:cNvSpPr txBox="1"/>
          <p:nvPr>
            <p:custDataLst>
              <p:tags r:id="rId19"/>
            </p:custDataLst>
          </p:nvPr>
        </p:nvSpPr>
        <p:spPr>
          <a:xfrm>
            <a:off x="8561705" y="2376805"/>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75" name="矩形 74"/>
          <p:cNvSpPr/>
          <p:nvPr>
            <p:custDataLst>
              <p:tags r:id="rId20"/>
            </p:custDataLst>
          </p:nvPr>
        </p:nvSpPr>
        <p:spPr>
          <a:xfrm>
            <a:off x="7622540" y="933450"/>
            <a:ext cx="1694180" cy="1096645"/>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76" name="object 154"/>
          <p:cNvSpPr txBox="1"/>
          <p:nvPr>
            <p:custDataLst>
              <p:tags r:id="rId21"/>
            </p:custDataLst>
          </p:nvPr>
        </p:nvSpPr>
        <p:spPr>
          <a:xfrm>
            <a:off x="7622540" y="139636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77" name="图片 76"/>
          <p:cNvPicPr>
            <a:picLocks noChangeAspect="1"/>
          </p:cNvPicPr>
          <p:nvPr>
            <p:custDataLst>
              <p:tags r:id="rId22"/>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180070" y="1363345"/>
            <a:ext cx="297815" cy="297815"/>
          </a:xfrm>
          <a:prstGeom prst="rect">
            <a:avLst/>
          </a:prstGeom>
          <a:solidFill>
            <a:srgbClr val="1262AB"/>
          </a:solidFill>
        </p:spPr>
      </p:pic>
      <p:sp>
        <p:nvSpPr>
          <p:cNvPr id="78" name="文本框 30"/>
          <p:cNvSpPr txBox="1"/>
          <p:nvPr>
            <p:custDataLst>
              <p:tags r:id="rId23"/>
            </p:custDataLst>
          </p:nvPr>
        </p:nvSpPr>
        <p:spPr>
          <a:xfrm>
            <a:off x="7986395" y="1648460"/>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79" name="直接箭头连接符 78"/>
          <p:cNvCxnSpPr/>
          <p:nvPr/>
        </p:nvCxnSpPr>
        <p:spPr>
          <a:xfrm>
            <a:off x="8477885" y="2006600"/>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1" name="图片 80"/>
          <p:cNvPicPr>
            <a:picLocks noChangeAspect="1"/>
          </p:cNvPicPr>
          <p:nvPr>
            <p:custDataLst>
              <p:tags r:id="rId24"/>
            </p:custDataLst>
          </p:nvPr>
        </p:nvPicPr>
        <p:blipFill>
          <a:blip r:embed="rId13" cstate="print">
            <a:extLst>
              <a:ext uri="{28A0092B-C50C-407E-A947-70E740481C1C}">
                <a14:useLocalDpi xmlns:a14="http://schemas.microsoft.com/office/drawing/2010/main" val="0"/>
              </a:ext>
            </a:extLst>
          </a:blip>
          <a:stretch>
            <a:fillRect/>
          </a:stretch>
        </p:blipFill>
        <p:spPr>
          <a:xfrm>
            <a:off x="8781415" y="1350645"/>
            <a:ext cx="306705" cy="360045"/>
          </a:xfrm>
          <a:prstGeom prst="rect">
            <a:avLst/>
          </a:prstGeom>
        </p:spPr>
      </p:pic>
      <p:sp>
        <p:nvSpPr>
          <p:cNvPr id="87" name="object 285"/>
          <p:cNvSpPr txBox="1"/>
          <p:nvPr>
            <p:custDataLst>
              <p:tags r:id="rId25"/>
            </p:custDataLst>
          </p:nvPr>
        </p:nvSpPr>
        <p:spPr>
          <a:xfrm>
            <a:off x="8632190" y="1710690"/>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88" name="矩形 87"/>
          <p:cNvSpPr/>
          <p:nvPr>
            <p:custDataLst>
              <p:tags r:id="rId26"/>
            </p:custDataLst>
          </p:nvPr>
        </p:nvSpPr>
        <p:spPr>
          <a:xfrm>
            <a:off x="6409055" y="133223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91" name="图片 90"/>
          <p:cNvPicPr>
            <a:picLocks noChangeAspect="1"/>
          </p:cNvPicPr>
          <p:nvPr>
            <p:custDataLst>
              <p:tags r:id="rId27"/>
            </p:custDataLst>
          </p:nvPr>
        </p:nvPicPr>
        <p:blipFill>
          <a:blip r:embed="rId13" cstate="print">
            <a:extLst>
              <a:ext uri="{28A0092B-C50C-407E-A947-70E740481C1C}">
                <a14:useLocalDpi xmlns:a14="http://schemas.microsoft.com/office/drawing/2010/main" val="0"/>
              </a:ext>
            </a:extLst>
          </a:blip>
          <a:stretch>
            <a:fillRect/>
          </a:stretch>
        </p:blipFill>
        <p:spPr>
          <a:xfrm>
            <a:off x="6606540" y="2234565"/>
            <a:ext cx="360045" cy="360045"/>
          </a:xfrm>
          <a:prstGeom prst="rect">
            <a:avLst/>
          </a:prstGeom>
        </p:spPr>
      </p:pic>
      <p:sp>
        <p:nvSpPr>
          <p:cNvPr id="95" name="object 33"/>
          <p:cNvSpPr/>
          <p:nvPr/>
        </p:nvSpPr>
        <p:spPr>
          <a:xfrm>
            <a:off x="6591935" y="1593850"/>
            <a:ext cx="374650" cy="290830"/>
          </a:xfrm>
          <a:prstGeom prst="rect">
            <a:avLst/>
          </a:prstGeom>
          <a:blipFill>
            <a:blip r:embed="rId28"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96" name="object 285"/>
          <p:cNvSpPr txBox="1"/>
          <p:nvPr/>
        </p:nvSpPr>
        <p:spPr>
          <a:xfrm>
            <a:off x="6535420" y="198120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97" name="object 285"/>
          <p:cNvSpPr txBox="1"/>
          <p:nvPr/>
        </p:nvSpPr>
        <p:spPr>
          <a:xfrm>
            <a:off x="6526530" y="261556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98" name="直接箭头连接符 97"/>
          <p:cNvCxnSpPr/>
          <p:nvPr/>
        </p:nvCxnSpPr>
        <p:spPr>
          <a:xfrm flipH="1">
            <a:off x="7157085" y="2541905"/>
            <a:ext cx="43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flipV="1">
            <a:off x="5009515" y="2886075"/>
            <a:ext cx="1412875" cy="932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0" name="object 154"/>
          <p:cNvSpPr txBox="1"/>
          <p:nvPr>
            <p:custDataLst>
              <p:tags r:id="rId29"/>
            </p:custDataLst>
          </p:nvPr>
        </p:nvSpPr>
        <p:spPr>
          <a:xfrm>
            <a:off x="6877685" y="505968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61" name="矩形 160"/>
          <p:cNvSpPr/>
          <p:nvPr>
            <p:custDataLst>
              <p:tags r:id="rId30"/>
            </p:custDataLst>
          </p:nvPr>
        </p:nvSpPr>
        <p:spPr>
          <a:xfrm>
            <a:off x="6836410" y="5027930"/>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162" name="object 16"/>
          <p:cNvSpPr/>
          <p:nvPr>
            <p:custDataLst>
              <p:tags r:id="rId31"/>
            </p:custDataLst>
          </p:nvPr>
        </p:nvSpPr>
        <p:spPr>
          <a:xfrm>
            <a:off x="7370445" y="5128260"/>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63" name="object 285"/>
          <p:cNvSpPr txBox="1"/>
          <p:nvPr>
            <p:custDataLst>
              <p:tags r:id="rId32"/>
            </p:custDataLst>
          </p:nvPr>
        </p:nvSpPr>
        <p:spPr>
          <a:xfrm>
            <a:off x="7732395" y="5114290"/>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64" name="矩形 163"/>
          <p:cNvSpPr/>
          <p:nvPr>
            <p:custDataLst>
              <p:tags r:id="rId33"/>
            </p:custDataLst>
          </p:nvPr>
        </p:nvSpPr>
        <p:spPr>
          <a:xfrm>
            <a:off x="6793230" y="383413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165" name="object 154"/>
          <p:cNvSpPr txBox="1"/>
          <p:nvPr>
            <p:custDataLst>
              <p:tags r:id="rId34"/>
            </p:custDataLst>
          </p:nvPr>
        </p:nvSpPr>
        <p:spPr>
          <a:xfrm>
            <a:off x="6793230" y="4133850"/>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166" name="图片 165"/>
          <p:cNvPicPr>
            <a:picLocks noChangeAspect="1"/>
          </p:cNvPicPr>
          <p:nvPr>
            <p:custDataLst>
              <p:tags r:id="rId35"/>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350760" y="4100830"/>
            <a:ext cx="297815" cy="297815"/>
          </a:xfrm>
          <a:prstGeom prst="rect">
            <a:avLst/>
          </a:prstGeom>
          <a:solidFill>
            <a:srgbClr val="1262AB"/>
          </a:solidFill>
        </p:spPr>
      </p:pic>
      <p:sp>
        <p:nvSpPr>
          <p:cNvPr id="167" name="文本框 30"/>
          <p:cNvSpPr txBox="1"/>
          <p:nvPr>
            <p:custDataLst>
              <p:tags r:id="rId36"/>
            </p:custDataLst>
          </p:nvPr>
        </p:nvSpPr>
        <p:spPr>
          <a:xfrm>
            <a:off x="7157085" y="438594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168" name="直接箭头连接符 167"/>
          <p:cNvCxnSpPr/>
          <p:nvPr/>
        </p:nvCxnSpPr>
        <p:spPr>
          <a:xfrm>
            <a:off x="7648575" y="4744085"/>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69" name="图片 168"/>
          <p:cNvPicPr>
            <a:picLocks noChangeAspect="1"/>
          </p:cNvPicPr>
          <p:nvPr>
            <p:custDataLst>
              <p:tags r:id="rId37"/>
            </p:custDataLst>
          </p:nvPr>
        </p:nvPicPr>
        <p:blipFill>
          <a:blip r:embed="rId13" cstate="print">
            <a:extLst>
              <a:ext uri="{28A0092B-C50C-407E-A947-70E740481C1C}">
                <a14:useLocalDpi xmlns:a14="http://schemas.microsoft.com/office/drawing/2010/main" val="0"/>
              </a:ext>
            </a:extLst>
          </a:blip>
          <a:stretch>
            <a:fillRect/>
          </a:stretch>
        </p:blipFill>
        <p:spPr>
          <a:xfrm>
            <a:off x="7952105" y="4088130"/>
            <a:ext cx="306705" cy="360045"/>
          </a:xfrm>
          <a:prstGeom prst="rect">
            <a:avLst/>
          </a:prstGeom>
        </p:spPr>
      </p:pic>
      <p:sp>
        <p:nvSpPr>
          <p:cNvPr id="170" name="object 285"/>
          <p:cNvSpPr txBox="1"/>
          <p:nvPr>
            <p:custDataLst>
              <p:tags r:id="rId38"/>
            </p:custDataLst>
          </p:nvPr>
        </p:nvSpPr>
        <p:spPr>
          <a:xfrm>
            <a:off x="7802880" y="444817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71" name="矩形 170"/>
          <p:cNvSpPr/>
          <p:nvPr>
            <p:custDataLst>
              <p:tags r:id="rId39"/>
            </p:custDataLst>
          </p:nvPr>
        </p:nvSpPr>
        <p:spPr>
          <a:xfrm>
            <a:off x="8852535" y="407035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172" name="图片 171"/>
          <p:cNvPicPr>
            <a:picLocks noChangeAspect="1"/>
          </p:cNvPicPr>
          <p:nvPr>
            <p:custDataLst>
              <p:tags r:id="rId40"/>
            </p:custDataLst>
          </p:nvPr>
        </p:nvPicPr>
        <p:blipFill>
          <a:blip r:embed="rId13" cstate="print">
            <a:extLst>
              <a:ext uri="{28A0092B-C50C-407E-A947-70E740481C1C}">
                <a14:useLocalDpi xmlns:a14="http://schemas.microsoft.com/office/drawing/2010/main" val="0"/>
              </a:ext>
            </a:extLst>
          </a:blip>
          <a:stretch>
            <a:fillRect/>
          </a:stretch>
        </p:blipFill>
        <p:spPr>
          <a:xfrm>
            <a:off x="9050020" y="4972685"/>
            <a:ext cx="360045" cy="360045"/>
          </a:xfrm>
          <a:prstGeom prst="rect">
            <a:avLst/>
          </a:prstGeom>
        </p:spPr>
      </p:pic>
      <p:sp>
        <p:nvSpPr>
          <p:cNvPr id="173" name="object 154"/>
          <p:cNvSpPr txBox="1"/>
          <p:nvPr>
            <p:custDataLst>
              <p:tags r:id="rId41"/>
            </p:custDataLst>
          </p:nvPr>
        </p:nvSpPr>
        <p:spPr>
          <a:xfrm>
            <a:off x="8611870" y="4100830"/>
            <a:ext cx="1205865" cy="165735"/>
          </a:xfrm>
          <a:prstGeom prst="rect">
            <a:avLst/>
          </a:prstGeom>
        </p:spPr>
        <p:txBody>
          <a:bodyPr vert="horz" wrap="square" lIns="0" tIns="12065" rIns="0" bIns="0" rtlCol="0">
            <a:noAutofit/>
          </a:bodyPr>
          <a:p>
            <a:pPr marL="12700" algn="ctr">
              <a:lnSpc>
                <a:spcPct val="100000"/>
              </a:lnSpc>
              <a:spcBef>
                <a:spcPts val="95"/>
              </a:spcBef>
            </a:pPr>
            <a:r>
              <a:rPr lang="zh-CN" altLang="en-US" sz="1000" b="1" spc="-10" dirty="0">
                <a:latin typeface="微软雅黑" panose="020B0503020204020204" pitchFamily="34" charset="-122"/>
                <a:ea typeface="微软雅黑" panose="020B0503020204020204" pitchFamily="34" charset="-122"/>
                <a:cs typeface="仿宋" panose="02010609060101010101" pitchFamily="1" charset="-122"/>
              </a:rPr>
              <a:t>数据交换</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74" name="object 33"/>
          <p:cNvSpPr/>
          <p:nvPr/>
        </p:nvSpPr>
        <p:spPr>
          <a:xfrm>
            <a:off x="9035415" y="4331970"/>
            <a:ext cx="374650" cy="290830"/>
          </a:xfrm>
          <a:prstGeom prst="rect">
            <a:avLst/>
          </a:prstGeom>
          <a:blipFill>
            <a:blip r:embed="rId28"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75" name="object 285"/>
          <p:cNvSpPr txBox="1"/>
          <p:nvPr/>
        </p:nvSpPr>
        <p:spPr>
          <a:xfrm>
            <a:off x="8978900" y="471932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76" name="object 285"/>
          <p:cNvSpPr txBox="1"/>
          <p:nvPr/>
        </p:nvSpPr>
        <p:spPr>
          <a:xfrm>
            <a:off x="8970010" y="535368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77" name="直接箭头连接符 176"/>
          <p:cNvCxnSpPr/>
          <p:nvPr/>
        </p:nvCxnSpPr>
        <p:spPr>
          <a:xfrm>
            <a:off x="8509000" y="5175885"/>
            <a:ext cx="321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96635" y="34290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180" name="object 154"/>
          <p:cNvSpPr txBox="1"/>
          <p:nvPr>
            <p:custDataLst>
              <p:tags r:id="rId42"/>
            </p:custDataLst>
          </p:nvPr>
        </p:nvSpPr>
        <p:spPr>
          <a:xfrm>
            <a:off x="2673985" y="492379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81" name="矩形 180"/>
          <p:cNvSpPr/>
          <p:nvPr>
            <p:custDataLst>
              <p:tags r:id="rId43"/>
            </p:custDataLst>
          </p:nvPr>
        </p:nvSpPr>
        <p:spPr>
          <a:xfrm>
            <a:off x="2632710" y="4892040"/>
            <a:ext cx="169418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182" name="object 16"/>
          <p:cNvSpPr/>
          <p:nvPr>
            <p:custDataLst>
              <p:tags r:id="rId44"/>
            </p:custDataLst>
          </p:nvPr>
        </p:nvSpPr>
        <p:spPr>
          <a:xfrm>
            <a:off x="3166745" y="4992370"/>
            <a:ext cx="389890" cy="408305"/>
          </a:xfrm>
          <a:prstGeom prst="rect">
            <a:avLst/>
          </a:prstGeom>
          <a:blipFill>
            <a:blip r:embed="rId5"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83" name="object 285"/>
          <p:cNvSpPr txBox="1"/>
          <p:nvPr>
            <p:custDataLst>
              <p:tags r:id="rId45"/>
            </p:custDataLst>
          </p:nvPr>
        </p:nvSpPr>
        <p:spPr>
          <a:xfrm>
            <a:off x="3528695" y="4978400"/>
            <a:ext cx="706120" cy="302895"/>
          </a:xfrm>
          <a:prstGeom prst="rect">
            <a:avLst/>
          </a:prstGeom>
        </p:spPr>
        <p:txBody>
          <a:bodyPr vert="horz" wrap="square" lIns="0" tIns="12065" rIns="0" bIns="0" rtlCol="0">
            <a:no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84" name="矩形 183"/>
          <p:cNvSpPr/>
          <p:nvPr>
            <p:custDataLst>
              <p:tags r:id="rId46"/>
            </p:custDataLst>
          </p:nvPr>
        </p:nvSpPr>
        <p:spPr>
          <a:xfrm>
            <a:off x="2589530" y="3698240"/>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185" name="object 154"/>
          <p:cNvSpPr txBox="1"/>
          <p:nvPr>
            <p:custDataLst>
              <p:tags r:id="rId47"/>
            </p:custDataLst>
          </p:nvPr>
        </p:nvSpPr>
        <p:spPr>
          <a:xfrm>
            <a:off x="2589530" y="3997960"/>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186" name="图片 185"/>
          <p:cNvPicPr>
            <a:picLocks noChangeAspect="1"/>
          </p:cNvPicPr>
          <p:nvPr>
            <p:custDataLst>
              <p:tags r:id="rId48"/>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147060" y="3964940"/>
            <a:ext cx="297815" cy="297815"/>
          </a:xfrm>
          <a:prstGeom prst="rect">
            <a:avLst/>
          </a:prstGeom>
          <a:solidFill>
            <a:srgbClr val="1262AB"/>
          </a:solidFill>
        </p:spPr>
      </p:pic>
      <p:sp>
        <p:nvSpPr>
          <p:cNvPr id="187" name="文本框 30"/>
          <p:cNvSpPr txBox="1"/>
          <p:nvPr>
            <p:custDataLst>
              <p:tags r:id="rId49"/>
            </p:custDataLst>
          </p:nvPr>
        </p:nvSpPr>
        <p:spPr>
          <a:xfrm>
            <a:off x="2953385" y="425005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188" name="直接箭头连接符 187"/>
          <p:cNvCxnSpPr/>
          <p:nvPr/>
        </p:nvCxnSpPr>
        <p:spPr>
          <a:xfrm>
            <a:off x="3444875" y="4608195"/>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89" name="图片 188"/>
          <p:cNvPicPr>
            <a:picLocks noChangeAspect="1"/>
          </p:cNvPicPr>
          <p:nvPr>
            <p:custDataLst>
              <p:tags r:id="rId50"/>
            </p:custDataLst>
          </p:nvPr>
        </p:nvPicPr>
        <p:blipFill>
          <a:blip r:embed="rId13" cstate="print">
            <a:extLst>
              <a:ext uri="{28A0092B-C50C-407E-A947-70E740481C1C}">
                <a14:useLocalDpi xmlns:a14="http://schemas.microsoft.com/office/drawing/2010/main" val="0"/>
              </a:ext>
            </a:extLst>
          </a:blip>
          <a:stretch>
            <a:fillRect/>
          </a:stretch>
        </p:blipFill>
        <p:spPr>
          <a:xfrm>
            <a:off x="3748405" y="3952240"/>
            <a:ext cx="306705" cy="360045"/>
          </a:xfrm>
          <a:prstGeom prst="rect">
            <a:avLst/>
          </a:prstGeom>
        </p:spPr>
      </p:pic>
      <p:sp>
        <p:nvSpPr>
          <p:cNvPr id="190" name="object 285"/>
          <p:cNvSpPr txBox="1"/>
          <p:nvPr>
            <p:custDataLst>
              <p:tags r:id="rId51"/>
            </p:custDataLst>
          </p:nvPr>
        </p:nvSpPr>
        <p:spPr>
          <a:xfrm>
            <a:off x="3599180" y="431228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91" name="矩形 190"/>
          <p:cNvSpPr/>
          <p:nvPr>
            <p:custDataLst>
              <p:tags r:id="rId52"/>
            </p:custDataLst>
          </p:nvPr>
        </p:nvSpPr>
        <p:spPr>
          <a:xfrm>
            <a:off x="4648835" y="3934460"/>
            <a:ext cx="748030" cy="1557655"/>
          </a:xfrm>
          <a:prstGeom prst="rect">
            <a:avLst/>
          </a:prstGeom>
          <a:solidFill>
            <a:schemeClr val="bg1">
              <a:alpha val="80000"/>
            </a:schemeClr>
          </a:solid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pic>
        <p:nvPicPr>
          <p:cNvPr id="192" name="图片 191"/>
          <p:cNvPicPr>
            <a:picLocks noChangeAspect="1"/>
          </p:cNvPicPr>
          <p:nvPr>
            <p:custDataLst>
              <p:tags r:id="rId53"/>
            </p:custDataLst>
          </p:nvPr>
        </p:nvPicPr>
        <p:blipFill>
          <a:blip r:embed="rId13" cstate="print">
            <a:extLst>
              <a:ext uri="{28A0092B-C50C-407E-A947-70E740481C1C}">
                <a14:useLocalDpi xmlns:a14="http://schemas.microsoft.com/office/drawing/2010/main" val="0"/>
              </a:ext>
            </a:extLst>
          </a:blip>
          <a:stretch>
            <a:fillRect/>
          </a:stretch>
        </p:blipFill>
        <p:spPr>
          <a:xfrm>
            <a:off x="4846320" y="4836795"/>
            <a:ext cx="360045" cy="360045"/>
          </a:xfrm>
          <a:prstGeom prst="rect">
            <a:avLst/>
          </a:prstGeom>
        </p:spPr>
      </p:pic>
      <p:sp>
        <p:nvSpPr>
          <p:cNvPr id="193" name="object 154"/>
          <p:cNvSpPr txBox="1"/>
          <p:nvPr>
            <p:custDataLst>
              <p:tags r:id="rId54"/>
            </p:custDataLst>
          </p:nvPr>
        </p:nvSpPr>
        <p:spPr>
          <a:xfrm>
            <a:off x="4408170" y="3964940"/>
            <a:ext cx="1205865" cy="165735"/>
          </a:xfrm>
          <a:prstGeom prst="rect">
            <a:avLst/>
          </a:prstGeom>
        </p:spPr>
        <p:txBody>
          <a:bodyPr vert="horz" wrap="square" lIns="0" tIns="12065" rIns="0" bIns="0" rtlCol="0">
            <a:noAutofit/>
          </a:bodyPr>
          <a:p>
            <a:pPr marL="12700" algn="ctr">
              <a:lnSpc>
                <a:spcPct val="100000"/>
              </a:lnSpc>
              <a:spcBef>
                <a:spcPts val="95"/>
              </a:spcBef>
            </a:pPr>
            <a:r>
              <a:rPr lang="zh-CN" altLang="en-US" sz="1000" b="1" spc="-10" dirty="0">
                <a:latin typeface="微软雅黑" panose="020B0503020204020204" pitchFamily="34" charset="-122"/>
                <a:ea typeface="微软雅黑" panose="020B0503020204020204" pitchFamily="34" charset="-122"/>
                <a:cs typeface="仿宋" panose="02010609060101010101" pitchFamily="1" charset="-122"/>
              </a:rPr>
              <a:t>数据交换</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94" name="object 33"/>
          <p:cNvSpPr/>
          <p:nvPr/>
        </p:nvSpPr>
        <p:spPr>
          <a:xfrm>
            <a:off x="4831715" y="4196080"/>
            <a:ext cx="374650" cy="290830"/>
          </a:xfrm>
          <a:prstGeom prst="rect">
            <a:avLst/>
          </a:prstGeom>
          <a:blipFill>
            <a:blip r:embed="rId28"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95" name="object 285"/>
          <p:cNvSpPr txBox="1"/>
          <p:nvPr/>
        </p:nvSpPr>
        <p:spPr>
          <a:xfrm>
            <a:off x="4775200" y="4583430"/>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交换节点</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196" name="object 285"/>
          <p:cNvSpPr txBox="1"/>
          <p:nvPr/>
        </p:nvSpPr>
        <p:spPr>
          <a:xfrm>
            <a:off x="4766310" y="5217795"/>
            <a:ext cx="53467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文件</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目录</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197" name="直接箭头连接符 196"/>
          <p:cNvCxnSpPr/>
          <p:nvPr/>
        </p:nvCxnSpPr>
        <p:spPr>
          <a:xfrm>
            <a:off x="4305300" y="5039995"/>
            <a:ext cx="321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a:endCxn id="88" idx="2"/>
          </p:cNvCxnSpPr>
          <p:nvPr/>
        </p:nvCxnSpPr>
        <p:spPr>
          <a:xfrm flipH="1" flipV="1">
            <a:off x="6783070" y="2889885"/>
            <a:ext cx="2484755" cy="1180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4197985" y="2705100"/>
            <a:ext cx="20688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070090" y="3825240"/>
            <a:ext cx="1009015" cy="275590"/>
          </a:xfrm>
          <a:prstGeom prst="rect">
            <a:avLst/>
          </a:prstGeom>
          <a:noFill/>
          <a:ln w="12700" cmpd="sng">
            <a:noFill/>
            <a:prstDash val="solid"/>
          </a:ln>
        </p:spPr>
        <p:txBody>
          <a:bodyPr wrap="square" rtlCol="0">
            <a:spAutoFit/>
          </a:bodyPr>
          <a:p>
            <a:r>
              <a:rPr lang="zh-CN" altLang="en-US" sz="1200" dirty="0">
                <a:latin typeface="微软雅黑" panose="020B0503020204020204" pitchFamily="34" charset="-122"/>
                <a:ea typeface="微软雅黑" panose="020B0503020204020204" pitchFamily="34" charset="-122"/>
                <a:sym typeface="+mn-ea"/>
              </a:rPr>
              <a:t>采服数据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2953385" y="3676650"/>
            <a:ext cx="1009015" cy="275590"/>
          </a:xfrm>
          <a:prstGeom prst="rect">
            <a:avLst/>
          </a:prstGeom>
          <a:noFill/>
          <a:ln w="12700" cmpd="sng">
            <a:noFill/>
            <a:prstDash val="solid"/>
          </a:ln>
        </p:spPr>
        <p:txBody>
          <a:bodyPr wrap="square" rtlCol="0">
            <a:spAutoFit/>
          </a:bodyPr>
          <a:p>
            <a:r>
              <a:rPr lang="zh-CN" altLang="en-US" sz="1200" dirty="0">
                <a:latin typeface="微软雅黑" panose="020B0503020204020204" pitchFamily="34" charset="-122"/>
                <a:ea typeface="微软雅黑" panose="020B0503020204020204" pitchFamily="34" charset="-122"/>
                <a:sym typeface="+mn-ea"/>
              </a:rPr>
              <a:t>非公数据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7622540" y="932815"/>
            <a:ext cx="1645285"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发行、上市、会计、公共模块等</a:t>
            </a:r>
            <a:r>
              <a:rPr lang="zh-CN" altLang="en-US" sz="1200" dirty="0">
                <a:latin typeface="微软雅黑" panose="020B0503020204020204" pitchFamily="34" charset="-122"/>
                <a:ea typeface="微软雅黑" panose="020B0503020204020204" pitchFamily="34" charset="-122"/>
                <a:sym typeface="+mn-ea"/>
              </a:rPr>
              <a:t>系统数据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1728470" y="1261745"/>
            <a:ext cx="1694180"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稽查案管、处罚委</a:t>
            </a:r>
            <a:r>
              <a:rPr lang="zh-CN" altLang="en-US" sz="1200" dirty="0">
                <a:latin typeface="微软雅黑" panose="020B0503020204020204" pitchFamily="34" charset="-122"/>
                <a:ea typeface="微软雅黑" panose="020B0503020204020204" pitchFamily="34" charset="-122"/>
                <a:sym typeface="+mn-ea"/>
              </a:rPr>
              <a:t>数据</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19" name="直接箭头连接符 18"/>
          <p:cNvCxnSpPr/>
          <p:nvPr/>
        </p:nvCxnSpPr>
        <p:spPr>
          <a:xfrm>
            <a:off x="2673985" y="2167890"/>
            <a:ext cx="0" cy="25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object 154"/>
          <p:cNvSpPr txBox="1"/>
          <p:nvPr>
            <p:custDataLst>
              <p:tags r:id="rId55"/>
            </p:custDataLst>
          </p:nvPr>
        </p:nvSpPr>
        <p:spPr>
          <a:xfrm>
            <a:off x="3653155" y="1682750"/>
            <a:ext cx="648335" cy="165735"/>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23" name="文本框 30"/>
          <p:cNvSpPr txBox="1"/>
          <p:nvPr>
            <p:custDataLst>
              <p:tags r:id="rId56"/>
            </p:custDataLst>
          </p:nvPr>
        </p:nvSpPr>
        <p:spPr>
          <a:xfrm>
            <a:off x="4017010" y="177609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26" name="图片 25"/>
          <p:cNvPicPr>
            <a:picLocks noChangeAspect="1"/>
          </p:cNvPicPr>
          <p:nvPr>
            <p:custDataLst>
              <p:tags r:id="rId57"/>
            </p:custDataLst>
          </p:nvPr>
        </p:nvPicPr>
        <p:blipFill>
          <a:blip r:embed="rId13" cstate="print">
            <a:extLst>
              <a:ext uri="{28A0092B-C50C-407E-A947-70E740481C1C}">
                <a14:useLocalDpi xmlns:a14="http://schemas.microsoft.com/office/drawing/2010/main" val="0"/>
              </a:ext>
            </a:extLst>
          </a:blip>
          <a:stretch>
            <a:fillRect/>
          </a:stretch>
        </p:blipFill>
        <p:spPr>
          <a:xfrm>
            <a:off x="4812030" y="1478280"/>
            <a:ext cx="306705" cy="360045"/>
          </a:xfrm>
          <a:prstGeom prst="rect">
            <a:avLst/>
          </a:prstGeom>
        </p:spPr>
      </p:pic>
      <p:sp>
        <p:nvSpPr>
          <p:cNvPr id="28" name="object 285"/>
          <p:cNvSpPr txBox="1"/>
          <p:nvPr>
            <p:custDataLst>
              <p:tags r:id="rId58"/>
            </p:custDataLst>
          </p:nvPr>
        </p:nvSpPr>
        <p:spPr>
          <a:xfrm>
            <a:off x="4662805" y="1838325"/>
            <a:ext cx="706120" cy="319405"/>
          </a:xfrm>
          <a:prstGeom prst="rect">
            <a:avLst/>
          </a:prstGeom>
        </p:spPr>
        <p:txBody>
          <a:bodyPr vert="horz" wrap="square" lIns="0" tIns="12065" rIns="0" bIns="0" rtlCol="0">
            <a:spAutoFit/>
          </a:bodyPr>
          <a:p>
            <a:pPr algn="ctr">
              <a:lnSpc>
                <a:spcPct val="100000"/>
              </a:lnSpc>
              <a:spcBef>
                <a:spcPts val="95"/>
              </a:spcBef>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非结构化文件目录</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29" name="文本框 28"/>
          <p:cNvSpPr txBox="1"/>
          <p:nvPr/>
        </p:nvSpPr>
        <p:spPr>
          <a:xfrm>
            <a:off x="3652520" y="1233805"/>
            <a:ext cx="1694180" cy="399415"/>
          </a:xfrm>
          <a:prstGeom prst="rect">
            <a:avLst/>
          </a:prstGeom>
          <a:noFill/>
          <a:ln w="12700" cmpd="sng">
            <a:noFill/>
            <a:prstDash val="solid"/>
          </a:ln>
        </p:spPr>
        <p:txBody>
          <a:bodyPr wrap="square" rtlCol="0">
            <a:noAutofit/>
          </a:bodyPr>
          <a:p>
            <a:r>
              <a:rPr lang="zh-CN" altLang="en-US" sz="1200" dirty="0">
                <a:latin typeface="微软雅黑" panose="020B0503020204020204" pitchFamily="34" charset="-122"/>
                <a:ea typeface="微软雅黑" panose="020B0503020204020204" pitchFamily="34" charset="-122"/>
                <a:sym typeface="+mn-ea"/>
              </a:rPr>
              <a:t>监督</a:t>
            </a:r>
            <a:r>
              <a:rPr lang="zh-CN" altLang="en-US" sz="1200" dirty="0">
                <a:latin typeface="微软雅黑" panose="020B0503020204020204" pitchFamily="34" charset="-122"/>
                <a:ea typeface="微软雅黑" panose="020B0503020204020204" pitchFamily="34" charset="-122"/>
                <a:sym typeface="+mn-ea"/>
              </a:rPr>
              <a:t>系统数据</a:t>
            </a:r>
            <a:endParaRPr lang="zh-CN" altLang="en-US" sz="1200" dirty="0">
              <a:latin typeface="微软雅黑" panose="020B0503020204020204" pitchFamily="34" charset="-122"/>
              <a:ea typeface="微软雅黑" panose="020B0503020204020204" pitchFamily="34" charset="-122"/>
              <a:sym typeface="+mn-ea"/>
            </a:endParaRPr>
          </a:p>
        </p:txBody>
      </p:sp>
      <p:sp>
        <p:nvSpPr>
          <p:cNvPr id="30" name="矩形 29"/>
          <p:cNvSpPr/>
          <p:nvPr>
            <p:custDataLst>
              <p:tags r:id="rId59"/>
            </p:custDataLst>
          </p:nvPr>
        </p:nvSpPr>
        <p:spPr>
          <a:xfrm>
            <a:off x="3652520" y="1233805"/>
            <a:ext cx="1694180" cy="9334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pic>
        <p:nvPicPr>
          <p:cNvPr id="12" name="图片 11"/>
          <p:cNvPicPr>
            <a:picLocks noChangeAspect="1"/>
          </p:cNvPicPr>
          <p:nvPr>
            <p:custDataLst>
              <p:tags r:id="rId60"/>
            </p:custDataLst>
          </p:nvPr>
        </p:nvPicPr>
        <p:blipFill>
          <a:blip r:embed="rId10"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886835" y="5903595"/>
            <a:ext cx="297815" cy="297815"/>
          </a:xfrm>
          <a:prstGeom prst="rect">
            <a:avLst/>
          </a:prstGeom>
          <a:solidFill>
            <a:srgbClr val="1262AB"/>
          </a:solidFill>
        </p:spPr>
      </p:pic>
      <p:sp>
        <p:nvSpPr>
          <p:cNvPr id="18" name="文本框 17"/>
          <p:cNvSpPr txBox="1"/>
          <p:nvPr/>
        </p:nvSpPr>
        <p:spPr>
          <a:xfrm>
            <a:off x="3886835" y="5628005"/>
            <a:ext cx="1009015" cy="275590"/>
          </a:xfrm>
          <a:prstGeom prst="rect">
            <a:avLst/>
          </a:prstGeom>
          <a:noFill/>
          <a:ln w="12700" cmpd="sng">
            <a:noFill/>
            <a:prstDash val="solid"/>
          </a:ln>
        </p:spPr>
        <p:txBody>
          <a:bodyPr wrap="square" rtlCol="0">
            <a:spAutoFit/>
          </a:bodyPr>
          <a:p>
            <a:r>
              <a:rPr lang="zh-CN" altLang="en-US" sz="1200" dirty="0">
                <a:latin typeface="微软雅黑" panose="020B0503020204020204" pitchFamily="34" charset="-122"/>
                <a:ea typeface="微软雅黑" panose="020B0503020204020204" pitchFamily="34" charset="-122"/>
                <a:sym typeface="+mn-ea"/>
              </a:rPr>
              <a:t>一库</a:t>
            </a:r>
            <a:endParaRPr lang="zh-CN" altLang="en-US" sz="1200" dirty="0">
              <a:latin typeface="微软雅黑" panose="020B0503020204020204" pitchFamily="34" charset="-122"/>
              <a:ea typeface="微软雅黑" panose="020B0503020204020204" pitchFamily="34" charset="-122"/>
              <a:sym typeface="+mn-ea"/>
            </a:endParaRPr>
          </a:p>
        </p:txBody>
      </p:sp>
      <p:sp>
        <p:nvSpPr>
          <p:cNvPr id="25" name="矩形 24"/>
          <p:cNvSpPr/>
          <p:nvPr>
            <p:custDataLst>
              <p:tags r:id="rId61"/>
            </p:custDataLst>
          </p:nvPr>
        </p:nvSpPr>
        <p:spPr>
          <a:xfrm>
            <a:off x="3735070" y="5643880"/>
            <a:ext cx="849630" cy="57531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cxnSp>
        <p:nvCxnSpPr>
          <p:cNvPr id="31" name="直接箭头连接符 30"/>
          <p:cNvCxnSpPr/>
          <p:nvPr/>
        </p:nvCxnSpPr>
        <p:spPr>
          <a:xfrm flipH="1">
            <a:off x="5325745" y="2802890"/>
            <a:ext cx="1360805" cy="108521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a:off x="4693920" y="5492115"/>
            <a:ext cx="262255" cy="2419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 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lang="zh-CN" altLang="en-US"/>
          </a:p>
        </p:txBody>
      </p:sp>
      <p:sp>
        <p:nvSpPr>
          <p:cNvPr id="3" name="文本占位符 2"/>
          <p:cNvSpPr>
            <a:spLocks noGrp="1"/>
          </p:cNvSpPr>
          <p:nvPr>
            <p:ph type="body" idx="1"/>
          </p:nvPr>
        </p:nvSpPr>
        <p:spPr>
          <a:xfrm>
            <a:off x="611505" y="1864995"/>
            <a:ext cx="10968990" cy="3314065"/>
          </a:xfrm>
        </p:spPr>
        <p:txBody>
          <a:bodyPr>
            <a:normAutofit lnSpcReduction="20000"/>
          </a:bodyPr>
          <a:p>
            <a:pPr>
              <a:buFont typeface="Wingdings" panose="05000000000000000000" charset="0"/>
              <a:buChar char=""/>
            </a:pPr>
            <a:r>
              <a:rPr lang="zh-CN" altLang="en-US"/>
              <a:t>工具的自身数据有管控中心操作产生的配置信息和调度中心调度时产生</a:t>
            </a:r>
            <a:r>
              <a:rPr lang="zh-CN" altLang="en-US"/>
              <a:t>的执行记录</a:t>
            </a:r>
            <a:r>
              <a:rPr lang="zh-CN" altLang="en-US"/>
              <a:t>日志。</a:t>
            </a:r>
            <a:endParaRPr lang="zh-CN" altLang="en-US"/>
          </a:p>
          <a:p>
            <a:pPr>
              <a:buFont typeface="Wingdings" panose="05000000000000000000" charset="0"/>
              <a:buChar char=""/>
            </a:pPr>
            <a:r>
              <a:rPr lang="zh-CN" altLang="en-US"/>
              <a:t>工具处理监督业务数据时，在卸载链路中，从证联网、互联网和非涉密内网的业务数据库（</a:t>
            </a:r>
            <a:r>
              <a:rPr lang="en-US" altLang="zh-CN"/>
              <a:t>Kingbase</a:t>
            </a:r>
            <a:r>
              <a:rPr lang="zh-CN" altLang="en-US"/>
              <a:t>）或文件服务器各自流出，并同步生成包含数据摘要等完整性校验的元数据清单。经数据交换和网闸等最终汇集至非涉密内网，经传输进入涉密内网，开始进入加载链路。在加载链路中，执行节点从接收目录读取数据包，首先依据元数据清单文件执行摘要比对</a:t>
            </a:r>
            <a:r>
              <a:rPr lang="zh-CN" altLang="en-US"/>
              <a:t>等完整性校验，确认跨网传输无误</a:t>
            </a:r>
            <a:r>
              <a:rPr lang="zh-CN" altLang="en-US"/>
              <a:t>后，将结构化数据还原至目标数据库，将非结构化文件分发至指定文件系统路径。</a:t>
            </a:r>
            <a:endParaRPr lang="zh-CN" altLang="en-US"/>
          </a:p>
          <a:p>
            <a:pPr>
              <a:buFont typeface="Wingdings" panose="05000000000000000000" charset="0"/>
              <a:buChar char=""/>
            </a:pPr>
            <a:r>
              <a:rPr lang="zh-CN" altLang="en-US"/>
              <a:t>工具在处理监管业务系统数据入一库时，从非涉密内网卸载业务数据，经交换和运维人员导出后，由一库自行</a:t>
            </a:r>
            <a:r>
              <a:rPr lang="zh-CN" altLang="en-US"/>
              <a:t>加载。</a:t>
            </a:r>
            <a:endParaRPr lang="zh-CN" altLang="en-US"/>
          </a:p>
          <a:p>
            <a:pPr marL="0" indent="0">
              <a:buNone/>
            </a:pPr>
            <a:endParaRPr lang="zh-CN" altLang="en-US"/>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数据架构</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solidFill>
                  <a:srgbClr val="FF0000"/>
                </a:solidFill>
                <a:latin typeface="微软雅黑" panose="020B0503020204020204" pitchFamily="34" charset="-122"/>
                <a:ea typeface="微软雅黑" panose="020B0503020204020204" pitchFamily="34" charset="-122"/>
              </a:rPr>
              <a:t>基础架构</a:t>
            </a:r>
            <a:endParaRPr lang="zh-CN" altLang="en-US"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14</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2"/>
          <p:cNvSpPr>
            <a:spLocks noGrp="1"/>
          </p:cNvSpPr>
          <p:nvPr>
            <p:ph type="title" idx="4294967295"/>
          </p:nvPr>
        </p:nvSpPr>
        <p:spPr/>
        <p:txBody>
          <a:bodyPr wrap="square" lIns="91440" tIns="45720" rIns="91440" bIns="45720" anchor="ctr"/>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lang="zh-CN" altLang="en-US" dirty="0">
                <a:latin typeface="Arial" panose="020B0604020202090204" charset="-122"/>
                <a:sym typeface="宋体" panose="02010600030101010101" pitchFamily="2" charset="-122"/>
              </a:rPr>
              <a:t>开发架构</a:t>
            </a:r>
            <a:endParaRPr lang="en-US" altLang="zh-CN" dirty="0">
              <a:latin typeface="Arial" panose="020B0604020202090204" charset="-122"/>
              <a:sym typeface="宋体" panose="02010600030101010101" pitchFamily="2" charset="-122"/>
            </a:endParaRPr>
          </a:p>
        </p:txBody>
      </p:sp>
      <p:sp>
        <p:nvSpPr>
          <p:cNvPr id="144414" name="文本框 2"/>
          <p:cNvSpPr txBox="1"/>
          <p:nvPr/>
        </p:nvSpPr>
        <p:spPr>
          <a:xfrm>
            <a:off x="563563" y="6253163"/>
            <a:ext cx="3390900" cy="275590"/>
          </a:xfrm>
          <a:prstGeom prst="rect">
            <a:avLst/>
          </a:prstGeom>
          <a:noFill/>
          <a:ln w="9525">
            <a:noFill/>
          </a:ln>
        </p:spPr>
        <p:txBody>
          <a:bodyPr wrap="square" anchor="t">
            <a:spAutoFit/>
          </a:bodyPr>
          <a:p>
            <a:r>
              <a:rPr lang="zh-CN" altLang="en-US" sz="1200">
                <a:latin typeface="华文楷体" panose="02010600040101010101" charset="-122"/>
                <a:ea typeface="华文楷体" panose="02010600040101010101" charset="-122"/>
              </a:rPr>
              <a:t>注：请保证本页材料可编辑</a:t>
            </a:r>
            <a:endParaRPr lang="zh-CN" altLang="en-US" sz="1200">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2" name="TextBox 3"/>
          <p:cNvSpPr/>
          <p:nvPr/>
        </p:nvSpPr>
        <p:spPr>
          <a:xfrm>
            <a:off x="6384925" y="872490"/>
            <a:ext cx="5203190" cy="51181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兼容性：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提供标准通用接口和</a:t>
            </a:r>
            <a:r>
              <a:rPr lang="en-US" altLang="zh-CN" sz="1600" dirty="0">
                <a:latin typeface="微软雅黑" panose="020B0503020204020204" pitchFamily="34" charset="-122"/>
                <a:ea typeface="微软雅黑" panose="020B0503020204020204" pitchFamily="34" charset="-122"/>
                <a:cs typeface="+mn-ea"/>
                <a:sym typeface="仿宋" panose="02010609060101010101" pitchFamily="1" charset="-122"/>
              </a:rPr>
              <a:t>JSON</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报文交互方式；</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3" name="TextBox 3"/>
          <p:cNvSpPr/>
          <p:nvPr/>
        </p:nvSpPr>
        <p:spPr>
          <a:xfrm>
            <a:off x="6409055" y="1623060"/>
            <a:ext cx="5179060" cy="744855"/>
          </a:xfrm>
          <a:prstGeom prst="rect">
            <a:avLst/>
          </a:prstGeom>
          <a:noFill/>
          <a:ln w="19050" cap="flat" cmpd="sng">
            <a:solidFill>
              <a:srgbClr val="0890D4"/>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可维护性：开发语言使用JAVA，开发框架使用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，提升系统可维护性；</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5" name="TextBox 3"/>
          <p:cNvSpPr/>
          <p:nvPr/>
        </p:nvSpPr>
        <p:spPr>
          <a:xfrm>
            <a:off x="6434455" y="2615565"/>
            <a:ext cx="5153660" cy="753745"/>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可移植性：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底层组件可替换，对接外系统使用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适配组件，提升可移植性；</a:t>
            </a:r>
            <a:endParaRPr lang="zh-CN" altLang="en-US" sz="1600" strike="noStrike" noProof="1" dirty="0">
              <a:solidFill>
                <a:schemeClr val="tx1"/>
              </a:solidFill>
              <a:latin typeface="微软雅黑" panose="020B0503020204020204" pitchFamily="34" charset="-122"/>
              <a:ea typeface="微软雅黑" panose="020B0503020204020204" pitchFamily="34" charset="-122"/>
              <a:cs typeface="+mn-ea"/>
              <a:sym typeface="仿宋" panose="02010609060101010101" pitchFamily="1" charset="-122"/>
            </a:endParaRPr>
          </a:p>
          <a:p>
            <a:pPr eaLnBrk="0" hangingPunct="0">
              <a:lnSpc>
                <a:spcPct val="120000"/>
              </a:lnSpc>
              <a:buFont typeface="Wingdings" panose="05000000000000000000" pitchFamily="2" charset="2"/>
              <a:buChar char="Ø"/>
            </a:pP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a:p>
            <a:pPr eaLnBrk="0" hangingPunct="0">
              <a:lnSpc>
                <a:spcPct val="120000"/>
              </a:lnSpc>
              <a:buFont typeface="Wingdings" panose="05000000000000000000" pitchFamily="2" charset="2"/>
            </a:pPr>
            <a:endParaRPr lang="zh-CN" altLang="en-US" sz="1400" dirty="0">
              <a:latin typeface="微软雅黑" panose="020B0503020204020204" pitchFamily="34" charset="-122"/>
              <a:ea typeface="微软雅黑" panose="020B0503020204020204" pitchFamily="34" charset="-122"/>
              <a:sym typeface="Arial" panose="020B0604020202090204" charset="-122"/>
            </a:endParaRPr>
          </a:p>
        </p:txBody>
      </p:sp>
      <p:sp>
        <p:nvSpPr>
          <p:cNvPr id="6" name="Rectangle 7"/>
          <p:cNvSpPr/>
          <p:nvPr/>
        </p:nvSpPr>
        <p:spPr>
          <a:xfrm>
            <a:off x="1378585" y="853440"/>
            <a:ext cx="4424045" cy="5400040"/>
          </a:xfrm>
          <a:prstGeom prst="rect">
            <a:avLst/>
          </a:prstGeom>
          <a:solidFill>
            <a:srgbClr val="33CCCC"/>
          </a:solidFill>
          <a:ln w="9525">
            <a:noFill/>
          </a:ln>
        </p:spPr>
        <p:txBody>
          <a:bodyPr vert="eaVert" wrap="square" lIns="90170" tIns="46990" rIns="90170" bIns="46990" anchor="b" anchorCtr="0"/>
          <a:p>
            <a:pPr algn="ctr" eaLnBrk="0" hangingPunct="0"/>
            <a:r>
              <a:rPr lang="zh-CN" altLang="en-US" dirty="0">
                <a:latin typeface="微软雅黑" panose="020B0503020204020204" pitchFamily="34" charset="-122"/>
                <a:ea typeface="微软雅黑" panose="020B0503020204020204" pitchFamily="34" charset="-122"/>
                <a:cs typeface="+mn-ea"/>
                <a:sym typeface="Arial" panose="020B0604020202090204" charset="-122"/>
              </a:rPr>
              <a:t>外部委数据信息共享</a:t>
            </a:r>
            <a:endPar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59408"/>
          <p:cNvSpPr/>
          <p:nvPr/>
        </p:nvSpPr>
        <p:spPr>
          <a:xfrm>
            <a:off x="1928495" y="4631055"/>
            <a:ext cx="3669030" cy="156527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59408"/>
          <p:cNvSpPr/>
          <p:nvPr/>
        </p:nvSpPr>
        <p:spPr>
          <a:xfrm>
            <a:off x="1928495" y="2663825"/>
            <a:ext cx="3669030" cy="191452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Rectangle 8"/>
          <p:cNvSpPr/>
          <p:nvPr/>
        </p:nvSpPr>
        <p:spPr>
          <a:xfrm>
            <a:off x="2433320" y="388810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Springboot</a:t>
            </a:r>
            <a:endParaRPr 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Rectangle 9"/>
          <p:cNvSpPr/>
          <p:nvPr/>
        </p:nvSpPr>
        <p:spPr>
          <a:xfrm>
            <a:off x="2433320" y="421513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Eclipse IDE</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IntelliJ IDEA</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angle 10"/>
          <p:cNvSpPr/>
          <p:nvPr/>
        </p:nvSpPr>
        <p:spPr>
          <a:xfrm>
            <a:off x="2433320" y="516540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数据库：</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Kingbase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Rectangle 12"/>
          <p:cNvSpPr/>
          <p:nvPr/>
        </p:nvSpPr>
        <p:spPr>
          <a:xfrm>
            <a:off x="2433320" y="356108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依赖管理：Maven</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Rectangle 10"/>
          <p:cNvSpPr/>
          <p:nvPr/>
        </p:nvSpPr>
        <p:spPr>
          <a:xfrm>
            <a:off x="2433320" y="48101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中间件：</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tongweb</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Rectangle 10"/>
          <p:cNvSpPr/>
          <p:nvPr/>
        </p:nvSpPr>
        <p:spPr>
          <a:xfrm>
            <a:off x="2433320" y="5528945"/>
            <a:ext cx="2948305" cy="24447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操作系统：统信</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ectangle 10"/>
          <p:cNvSpPr/>
          <p:nvPr/>
        </p:nvSpPr>
        <p:spPr>
          <a:xfrm>
            <a:off x="2433320" y="587914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部署环境：</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证联网、会内网、</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互联网</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
          <p:cNvSpPr txBox="1"/>
          <p:nvPr/>
        </p:nvSpPr>
        <p:spPr>
          <a:xfrm>
            <a:off x="1928495" y="3067050"/>
            <a:ext cx="473075" cy="1208405"/>
          </a:xfrm>
          <a:prstGeom prst="rect">
            <a:avLst/>
          </a:prstGeom>
          <a:noFill/>
          <a:ln w="9525">
            <a:noFill/>
          </a:ln>
        </p:spPr>
        <p:txBody>
          <a:bodyPr wrap="square" anchor="t" anchorCtr="0">
            <a:no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文本框 3"/>
          <p:cNvSpPr txBox="1"/>
          <p:nvPr/>
        </p:nvSpPr>
        <p:spPr>
          <a:xfrm>
            <a:off x="1928495" y="4875530"/>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基础平台</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Rectangle 12"/>
          <p:cNvSpPr/>
          <p:nvPr/>
        </p:nvSpPr>
        <p:spPr>
          <a:xfrm>
            <a:off x="2433320" y="2905125"/>
            <a:ext cx="2948305" cy="283210"/>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开发语言：Java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angle 12"/>
          <p:cNvSpPr/>
          <p:nvPr/>
        </p:nvSpPr>
        <p:spPr>
          <a:xfrm>
            <a:off x="2433320" y="323405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编译环境：JDK1.8</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6" name="矩形 59408"/>
          <p:cNvSpPr/>
          <p:nvPr/>
        </p:nvSpPr>
        <p:spPr>
          <a:xfrm>
            <a:off x="1928495" y="929640"/>
            <a:ext cx="3669030" cy="1670050"/>
          </a:xfrm>
          <a:prstGeom prst="rect">
            <a:avLst/>
          </a:prstGeom>
          <a:solidFill>
            <a:srgbClr val="99CC00"/>
          </a:solidFill>
          <a:ln w="9525">
            <a:noFill/>
          </a:ln>
        </p:spPr>
        <p:txBody>
          <a:bodyPr vert="eaVert" wrap="none" anchor="b" anchorCtr="0"/>
          <a:p>
            <a:pPr algn="l"/>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7" name="Rectangle 8"/>
          <p:cNvSpPr/>
          <p:nvPr/>
        </p:nvSpPr>
        <p:spPr>
          <a:xfrm>
            <a:off x="2433320" y="13430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Vue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8" name="Rectangle 9"/>
          <p:cNvSpPr/>
          <p:nvPr/>
        </p:nvSpPr>
        <p:spPr>
          <a:xfrm>
            <a:off x="2433320" y="1676400"/>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VSCode 、 Chrome49+ 、奇安信</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9" name="Rectangle 12"/>
          <p:cNvSpPr/>
          <p:nvPr/>
        </p:nvSpPr>
        <p:spPr>
          <a:xfrm>
            <a:off x="2433320" y="1009650"/>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开发语言：HTML + CSS + LESS + JavaScript + ES6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10" name="文本框 2"/>
          <p:cNvSpPr txBox="1"/>
          <p:nvPr/>
        </p:nvSpPr>
        <p:spPr>
          <a:xfrm>
            <a:off x="1928495" y="1278573"/>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前端应用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Rectangle 9"/>
          <p:cNvSpPr/>
          <p:nvPr/>
        </p:nvSpPr>
        <p:spPr>
          <a:xfrm>
            <a:off x="2433320" y="20066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主插件：view-design + echarts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Rectangle 9"/>
          <p:cNvSpPr/>
          <p:nvPr/>
        </p:nvSpPr>
        <p:spPr>
          <a:xfrm>
            <a:off x="2433320" y="23114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环境依赖：Node.js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tLang="zh-CN">
                <a:sym typeface="宋体" panose="02010600030101010101" pitchFamily="2" charset="-122"/>
              </a:rPr>
              <a:t>安全架构</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6067425" y="86169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4" name="直接连接符 13"/>
          <p:cNvCxnSpPr/>
          <p:nvPr>
            <p:custDataLst>
              <p:tags r:id="rId2"/>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771015" y="330581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771015"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19" name="直接箭头连接符 118"/>
          <p:cNvCxnSpPr/>
          <p:nvPr/>
        </p:nvCxnSpPr>
        <p:spPr>
          <a:xfrm flipV="1">
            <a:off x="5800090" y="3198495"/>
            <a:ext cx="428625" cy="21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61075" y="338582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98" name="直接箭头连接符 197"/>
          <p:cNvCxnSpPr/>
          <p:nvPr/>
        </p:nvCxnSpPr>
        <p:spPr>
          <a:xfrm flipV="1">
            <a:off x="7997190" y="3234055"/>
            <a:ext cx="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5758180" y="2216785"/>
            <a:ext cx="671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15723" name="对象 36"/>
          <p:cNvGraphicFramePr/>
          <p:nvPr/>
        </p:nvGraphicFramePr>
        <p:xfrm>
          <a:off x="4476115" y="3398520"/>
          <a:ext cx="477838" cy="1236663"/>
        </p:xfrm>
        <a:graphic>
          <a:graphicData uri="http://schemas.openxmlformats.org/presentationml/2006/ole">
            <mc:AlternateContent xmlns:mc="http://schemas.openxmlformats.org/markup-compatibility/2006">
              <mc:Choice xmlns:v="urn:schemas-microsoft-com:vml" Requires="v">
                <p:oleObj spid="_x0000_s3080" name="" r:id="rId3" imgW="825500" imgH="1676400" progId="Visio.Drawing.11">
                  <p:embed/>
                </p:oleObj>
              </mc:Choice>
              <mc:Fallback>
                <p:oleObj name="" r:id="rId3" imgW="825500" imgH="1676400" progId="Visio.Drawing.11">
                  <p:embed/>
                  <p:pic>
                    <p:nvPicPr>
                      <p:cNvPr id="0" name="图片 3079"/>
                      <p:cNvPicPr/>
                      <p:nvPr/>
                    </p:nvPicPr>
                    <p:blipFill>
                      <a:blip r:embed="rId4"/>
                      <a:stretch>
                        <a:fillRect/>
                      </a:stretch>
                    </p:blipFill>
                    <p:spPr>
                      <a:xfrm>
                        <a:off x="4476115" y="3398520"/>
                        <a:ext cx="477838" cy="1236663"/>
                      </a:xfrm>
                      <a:prstGeom prst="rect">
                        <a:avLst/>
                      </a:prstGeom>
                      <a:noFill/>
                      <a:ln w="38100">
                        <a:noFill/>
                        <a:miter/>
                      </a:ln>
                    </p:spPr>
                  </p:pic>
                </p:oleObj>
              </mc:Fallback>
            </mc:AlternateContent>
          </a:graphicData>
        </a:graphic>
      </p:graphicFrame>
      <p:sp>
        <p:nvSpPr>
          <p:cNvPr id="115731" name="文本框 125"/>
          <p:cNvSpPr txBox="1"/>
          <p:nvPr/>
        </p:nvSpPr>
        <p:spPr>
          <a:xfrm>
            <a:off x="4333240" y="439547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60" name="对象 36"/>
          <p:cNvGraphicFramePr/>
          <p:nvPr/>
        </p:nvGraphicFramePr>
        <p:xfrm>
          <a:off x="4476115" y="4758055"/>
          <a:ext cx="476250" cy="1235075"/>
        </p:xfrm>
        <a:graphic>
          <a:graphicData uri="http://schemas.openxmlformats.org/presentationml/2006/ole">
            <mc:AlternateContent xmlns:mc="http://schemas.openxmlformats.org/markup-compatibility/2006">
              <mc:Choice xmlns:v="urn:schemas-microsoft-com:vml" Requires="v">
                <p:oleObj spid="_x0000_s3084" name="" r:id="rId5" imgW="825500" imgH="1676400" progId="Visio.Drawing.11">
                  <p:embed/>
                </p:oleObj>
              </mc:Choice>
              <mc:Fallback>
                <p:oleObj name="" r:id="rId5" imgW="825500" imgH="1676400" progId="Visio.Drawing.11">
                  <p:embed/>
                  <p:pic>
                    <p:nvPicPr>
                      <p:cNvPr id="0" name="图片 3083"/>
                      <p:cNvPicPr/>
                      <p:nvPr/>
                    </p:nvPicPr>
                    <p:blipFill>
                      <a:blip r:embed="rId4"/>
                      <a:stretch>
                        <a:fillRect/>
                      </a:stretch>
                    </p:blipFill>
                    <p:spPr>
                      <a:xfrm>
                        <a:off x="4476115" y="4758055"/>
                        <a:ext cx="476250" cy="1235075"/>
                      </a:xfrm>
                      <a:prstGeom prst="rect">
                        <a:avLst/>
                      </a:prstGeom>
                      <a:noFill/>
                      <a:ln w="38100">
                        <a:noFill/>
                        <a:miter/>
                      </a:ln>
                    </p:spPr>
                  </p:pic>
                </p:oleObj>
              </mc:Fallback>
            </mc:AlternateContent>
          </a:graphicData>
        </a:graphic>
      </p:graphicFrame>
      <p:sp>
        <p:nvSpPr>
          <p:cNvPr id="115773" name="矩形 33"/>
          <p:cNvSpPr/>
          <p:nvPr/>
        </p:nvSpPr>
        <p:spPr>
          <a:xfrm>
            <a:off x="3745865" y="3361055"/>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74" name="文本框 125"/>
          <p:cNvSpPr txBox="1"/>
          <p:nvPr/>
        </p:nvSpPr>
        <p:spPr>
          <a:xfrm>
            <a:off x="4296728" y="574071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圆柱形 4"/>
          <p:cNvSpPr/>
          <p:nvPr/>
        </p:nvSpPr>
        <p:spPr>
          <a:xfrm>
            <a:off x="2662555" y="5458460"/>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12" name="直接箭头连接符 81"/>
          <p:cNvCxnSpPr/>
          <p:nvPr/>
        </p:nvCxnSpPr>
        <p:spPr>
          <a:xfrm flipH="1" flipV="1">
            <a:off x="3304540" y="5740718"/>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13" name="组合 81"/>
          <p:cNvGrpSpPr/>
          <p:nvPr/>
        </p:nvGrpSpPr>
        <p:grpSpPr>
          <a:xfrm>
            <a:off x="2281555" y="4200525"/>
            <a:ext cx="1597660" cy="1153160"/>
            <a:chOff x="12254" y="2617"/>
            <a:chExt cx="1251" cy="1824"/>
          </a:xfrm>
        </p:grpSpPr>
        <p:sp>
          <p:nvSpPr>
            <p:cNvPr id="9"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30"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1"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2"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103" name="图片 102" descr="333437323739373b333530353137353bd4c6d7c0c3e6"/>
          <p:cNvPicPr>
            <a:picLocks noChangeAspect="1"/>
          </p:cNvPicPr>
          <p:nvPr>
            <p:custDataLst>
              <p:tags r:id="rId6"/>
            </p:custDataLst>
          </p:nvPr>
        </p:nvPicPr>
        <p:blipFill>
          <a:blip r:embed="rId7"/>
          <a:stretch>
            <a:fillRect/>
          </a:stretch>
        </p:blipFill>
        <p:spPr>
          <a:xfrm>
            <a:off x="2810510" y="3409950"/>
            <a:ext cx="494030" cy="441325"/>
          </a:xfrm>
          <a:prstGeom prst="rect">
            <a:avLst/>
          </a:prstGeom>
        </p:spPr>
      </p:pic>
      <p:sp>
        <p:nvSpPr>
          <p:cNvPr id="15" name="文本框 125"/>
          <p:cNvSpPr txBox="1"/>
          <p:nvPr/>
        </p:nvSpPr>
        <p:spPr>
          <a:xfrm>
            <a:off x="2673985" y="385127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17" name="直接箭头连接符 81"/>
          <p:cNvCxnSpPr/>
          <p:nvPr/>
        </p:nvCxnSpPr>
        <p:spPr>
          <a:xfrm>
            <a:off x="3402965" y="3661093"/>
            <a:ext cx="358775" cy="0"/>
          </a:xfrm>
          <a:prstGeom prst="straightConnector1">
            <a:avLst/>
          </a:prstGeom>
          <a:ln w="28575" cap="flat" cmpd="sng">
            <a:solidFill>
              <a:schemeClr val="accent2"/>
            </a:solidFill>
            <a:prstDash val="solid"/>
            <a:round/>
            <a:headEnd type="none" w="med" len="med"/>
            <a:tailEnd type="triangle" w="med" len="med"/>
          </a:ln>
        </p:spPr>
      </p:cxnSp>
      <p:sp>
        <p:nvSpPr>
          <p:cNvPr id="18" name="文本框 125"/>
          <p:cNvSpPr txBox="1"/>
          <p:nvPr/>
        </p:nvSpPr>
        <p:spPr>
          <a:xfrm>
            <a:off x="8735695" y="444436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9" name="对象 36"/>
          <p:cNvGraphicFramePr/>
          <p:nvPr/>
        </p:nvGraphicFramePr>
        <p:xfrm>
          <a:off x="8878570" y="4806950"/>
          <a:ext cx="476250" cy="1235075"/>
        </p:xfrm>
        <a:graphic>
          <a:graphicData uri="http://schemas.openxmlformats.org/presentationml/2006/ole">
            <mc:AlternateContent xmlns:mc="http://schemas.openxmlformats.org/markup-compatibility/2006">
              <mc:Choice xmlns:v="urn:schemas-microsoft-com:vml" Requires="v">
                <p:oleObj spid="_x0000_s20" name="" r:id="rId8" imgW="825500" imgH="1676400" progId="Visio.Drawing.11">
                  <p:embed/>
                </p:oleObj>
              </mc:Choice>
              <mc:Fallback>
                <p:oleObj name="" r:id="rId8" imgW="825500" imgH="1676400" progId="Visio.Drawing.11">
                  <p:embed/>
                  <p:pic>
                    <p:nvPicPr>
                      <p:cNvPr id="0" name="图片 3083"/>
                      <p:cNvPicPr/>
                      <p:nvPr/>
                    </p:nvPicPr>
                    <p:blipFill>
                      <a:blip r:embed="rId4"/>
                      <a:stretch>
                        <a:fillRect/>
                      </a:stretch>
                    </p:blipFill>
                    <p:spPr>
                      <a:xfrm>
                        <a:off x="8878570" y="4806950"/>
                        <a:ext cx="476250" cy="1235075"/>
                      </a:xfrm>
                      <a:prstGeom prst="rect">
                        <a:avLst/>
                      </a:prstGeom>
                      <a:noFill/>
                      <a:ln w="38100">
                        <a:noFill/>
                        <a:miter/>
                      </a:ln>
                    </p:spPr>
                  </p:pic>
                </p:oleObj>
              </mc:Fallback>
            </mc:AlternateContent>
          </a:graphicData>
        </a:graphic>
      </p:graphicFrame>
      <p:sp>
        <p:nvSpPr>
          <p:cNvPr id="22" name="矩形 33"/>
          <p:cNvSpPr/>
          <p:nvPr/>
        </p:nvSpPr>
        <p:spPr>
          <a:xfrm>
            <a:off x="8148320" y="3409950"/>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23" name="文本框 125"/>
          <p:cNvSpPr txBox="1"/>
          <p:nvPr/>
        </p:nvSpPr>
        <p:spPr>
          <a:xfrm>
            <a:off x="8699183" y="5789613"/>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26" name="圆柱形 25"/>
          <p:cNvSpPr/>
          <p:nvPr/>
        </p:nvSpPr>
        <p:spPr>
          <a:xfrm>
            <a:off x="7065010" y="5507355"/>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28" name="直接箭头连接符 81"/>
          <p:cNvCxnSpPr/>
          <p:nvPr/>
        </p:nvCxnSpPr>
        <p:spPr>
          <a:xfrm flipH="1" flipV="1">
            <a:off x="7706995" y="5789613"/>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29" name="组合 81"/>
          <p:cNvGrpSpPr/>
          <p:nvPr/>
        </p:nvGrpSpPr>
        <p:grpSpPr>
          <a:xfrm>
            <a:off x="6684010" y="4249420"/>
            <a:ext cx="1597660" cy="1153160"/>
            <a:chOff x="12254" y="2617"/>
            <a:chExt cx="1251" cy="1824"/>
          </a:xfrm>
        </p:grpSpPr>
        <p:sp>
          <p:nvSpPr>
            <p:cNvPr id="33"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35"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6"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7"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38" name="图片 37" descr="333437323739373b333530353137353bd4c6d7c0c3e6"/>
          <p:cNvPicPr>
            <a:picLocks noChangeAspect="1"/>
          </p:cNvPicPr>
          <p:nvPr>
            <p:custDataLst>
              <p:tags r:id="rId9"/>
            </p:custDataLst>
          </p:nvPr>
        </p:nvPicPr>
        <p:blipFill>
          <a:blip r:embed="rId7"/>
          <a:stretch>
            <a:fillRect/>
          </a:stretch>
        </p:blipFill>
        <p:spPr>
          <a:xfrm>
            <a:off x="7212965" y="3458845"/>
            <a:ext cx="494030" cy="441325"/>
          </a:xfrm>
          <a:prstGeom prst="rect">
            <a:avLst/>
          </a:prstGeom>
        </p:spPr>
      </p:pic>
      <p:sp>
        <p:nvSpPr>
          <p:cNvPr id="39" name="文本框 125"/>
          <p:cNvSpPr txBox="1"/>
          <p:nvPr/>
        </p:nvSpPr>
        <p:spPr>
          <a:xfrm>
            <a:off x="7076440" y="390017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40" name="直接箭头连接符 81"/>
          <p:cNvCxnSpPr/>
          <p:nvPr/>
        </p:nvCxnSpPr>
        <p:spPr>
          <a:xfrm>
            <a:off x="7805420" y="3709988"/>
            <a:ext cx="358775" cy="0"/>
          </a:xfrm>
          <a:prstGeom prst="straightConnector1">
            <a:avLst/>
          </a:prstGeom>
          <a:ln w="28575" cap="flat" cmpd="sng">
            <a:solidFill>
              <a:schemeClr val="accent2"/>
            </a:solidFill>
            <a:prstDash val="solid"/>
            <a:round/>
            <a:headEnd type="none" w="med" len="med"/>
            <a:tailEnd type="triangle" w="med" len="med"/>
          </a:ln>
        </p:spPr>
      </p:cxnSp>
      <p:graphicFrame>
        <p:nvGraphicFramePr>
          <p:cNvPr id="41" name="对象 36"/>
          <p:cNvGraphicFramePr/>
          <p:nvPr/>
        </p:nvGraphicFramePr>
        <p:xfrm>
          <a:off x="8801100" y="684530"/>
          <a:ext cx="477838" cy="1236663"/>
        </p:xfrm>
        <a:graphic>
          <a:graphicData uri="http://schemas.openxmlformats.org/presentationml/2006/ole">
            <mc:AlternateContent xmlns:mc="http://schemas.openxmlformats.org/markup-compatibility/2006">
              <mc:Choice xmlns:v="urn:schemas-microsoft-com:vml" Requires="v">
                <p:oleObj spid="_x0000_s42" name="" r:id="rId10" imgW="825500" imgH="1676400" progId="Visio.Drawing.11">
                  <p:embed/>
                </p:oleObj>
              </mc:Choice>
              <mc:Fallback>
                <p:oleObj name="" r:id="rId10" imgW="825500" imgH="1676400" progId="Visio.Drawing.11">
                  <p:embed/>
                  <p:pic>
                    <p:nvPicPr>
                      <p:cNvPr id="0" name="图片 3079"/>
                      <p:cNvPicPr/>
                      <p:nvPr/>
                    </p:nvPicPr>
                    <p:blipFill>
                      <a:blip r:embed="rId4"/>
                      <a:stretch>
                        <a:fillRect/>
                      </a:stretch>
                    </p:blipFill>
                    <p:spPr>
                      <a:xfrm>
                        <a:off x="8801100" y="684530"/>
                        <a:ext cx="477838" cy="1236663"/>
                      </a:xfrm>
                      <a:prstGeom prst="rect">
                        <a:avLst/>
                      </a:prstGeom>
                      <a:noFill/>
                      <a:ln w="38100">
                        <a:noFill/>
                        <a:miter/>
                      </a:ln>
                    </p:spPr>
                  </p:pic>
                </p:oleObj>
              </mc:Fallback>
            </mc:AlternateContent>
          </a:graphicData>
        </a:graphic>
      </p:graphicFrame>
      <p:sp>
        <p:nvSpPr>
          <p:cNvPr id="43" name="文本框 125"/>
          <p:cNvSpPr txBox="1"/>
          <p:nvPr/>
        </p:nvSpPr>
        <p:spPr>
          <a:xfrm>
            <a:off x="8658225" y="168148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44" name="对象 36"/>
          <p:cNvGraphicFramePr/>
          <p:nvPr/>
        </p:nvGraphicFramePr>
        <p:xfrm>
          <a:off x="8801100" y="2044065"/>
          <a:ext cx="476250" cy="1235075"/>
        </p:xfrm>
        <a:graphic>
          <a:graphicData uri="http://schemas.openxmlformats.org/presentationml/2006/ole">
            <mc:AlternateContent xmlns:mc="http://schemas.openxmlformats.org/markup-compatibility/2006">
              <mc:Choice xmlns:v="urn:schemas-microsoft-com:vml" Requires="v">
                <p:oleObj spid="_x0000_s45" name="" r:id="rId11" imgW="825500" imgH="1676400" progId="Visio.Drawing.11">
                  <p:embed/>
                </p:oleObj>
              </mc:Choice>
              <mc:Fallback>
                <p:oleObj name="" r:id="rId11" imgW="825500" imgH="1676400" progId="Visio.Drawing.11">
                  <p:embed/>
                  <p:pic>
                    <p:nvPicPr>
                      <p:cNvPr id="0" name="图片 3083"/>
                      <p:cNvPicPr/>
                      <p:nvPr/>
                    </p:nvPicPr>
                    <p:blipFill>
                      <a:blip r:embed="rId4"/>
                      <a:stretch>
                        <a:fillRect/>
                      </a:stretch>
                    </p:blipFill>
                    <p:spPr>
                      <a:xfrm>
                        <a:off x="8801100" y="2044065"/>
                        <a:ext cx="476250" cy="1235075"/>
                      </a:xfrm>
                      <a:prstGeom prst="rect">
                        <a:avLst/>
                      </a:prstGeom>
                      <a:noFill/>
                      <a:ln w="38100">
                        <a:noFill/>
                        <a:miter/>
                      </a:ln>
                    </p:spPr>
                  </p:pic>
                </p:oleObj>
              </mc:Fallback>
            </mc:AlternateContent>
          </a:graphicData>
        </a:graphic>
      </p:graphicFrame>
      <p:sp>
        <p:nvSpPr>
          <p:cNvPr id="47" name="文本框 125"/>
          <p:cNvSpPr txBox="1"/>
          <p:nvPr/>
        </p:nvSpPr>
        <p:spPr>
          <a:xfrm>
            <a:off x="8621713" y="302672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48" name="圆柱形 47"/>
          <p:cNvSpPr/>
          <p:nvPr/>
        </p:nvSpPr>
        <p:spPr>
          <a:xfrm>
            <a:off x="6987540" y="2744470"/>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49" name="直接箭头连接符 81"/>
          <p:cNvCxnSpPr/>
          <p:nvPr/>
        </p:nvCxnSpPr>
        <p:spPr>
          <a:xfrm flipH="1" flipV="1">
            <a:off x="7629525" y="3026728"/>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50" name="组合 81"/>
          <p:cNvGrpSpPr/>
          <p:nvPr/>
        </p:nvGrpSpPr>
        <p:grpSpPr>
          <a:xfrm>
            <a:off x="6606540" y="1486535"/>
            <a:ext cx="1597660" cy="1153160"/>
            <a:chOff x="12254" y="2617"/>
            <a:chExt cx="1251" cy="1824"/>
          </a:xfrm>
        </p:grpSpPr>
        <p:sp>
          <p:nvSpPr>
            <p:cNvPr id="51"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55"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6"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7"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58" name="图片 57" descr="333437323739373b333530353137353bd4c6d7c0c3e6"/>
          <p:cNvPicPr>
            <a:picLocks noChangeAspect="1"/>
          </p:cNvPicPr>
          <p:nvPr>
            <p:custDataLst>
              <p:tags r:id="rId12"/>
            </p:custDataLst>
          </p:nvPr>
        </p:nvPicPr>
        <p:blipFill>
          <a:blip r:embed="rId7"/>
          <a:stretch>
            <a:fillRect/>
          </a:stretch>
        </p:blipFill>
        <p:spPr>
          <a:xfrm>
            <a:off x="7135495" y="695960"/>
            <a:ext cx="494030" cy="441325"/>
          </a:xfrm>
          <a:prstGeom prst="rect">
            <a:avLst/>
          </a:prstGeom>
        </p:spPr>
      </p:pic>
      <p:sp>
        <p:nvSpPr>
          <p:cNvPr id="59" name="文本框 125"/>
          <p:cNvSpPr txBox="1"/>
          <p:nvPr/>
        </p:nvSpPr>
        <p:spPr>
          <a:xfrm>
            <a:off x="6998970" y="113728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60" name="直接箭头连接符 81"/>
          <p:cNvCxnSpPr/>
          <p:nvPr/>
        </p:nvCxnSpPr>
        <p:spPr>
          <a:xfrm>
            <a:off x="7727950" y="947103"/>
            <a:ext cx="358775" cy="0"/>
          </a:xfrm>
          <a:prstGeom prst="straightConnector1">
            <a:avLst/>
          </a:prstGeom>
          <a:ln w="28575" cap="flat" cmpd="sng">
            <a:solidFill>
              <a:schemeClr val="accent2"/>
            </a:solidFill>
            <a:prstDash val="solid"/>
            <a:round/>
            <a:headEnd type="none" w="med" len="med"/>
            <a:tailEnd type="triangle" w="med" len="med"/>
          </a:ln>
        </p:spPr>
      </p:cxnSp>
      <p:graphicFrame>
        <p:nvGraphicFramePr>
          <p:cNvPr id="61" name="对象 36"/>
          <p:cNvGraphicFramePr/>
          <p:nvPr/>
        </p:nvGraphicFramePr>
        <p:xfrm>
          <a:off x="4689475" y="701675"/>
          <a:ext cx="477838" cy="1236663"/>
        </p:xfrm>
        <a:graphic>
          <a:graphicData uri="http://schemas.openxmlformats.org/presentationml/2006/ole">
            <mc:AlternateContent xmlns:mc="http://schemas.openxmlformats.org/markup-compatibility/2006">
              <mc:Choice xmlns:v="urn:schemas-microsoft-com:vml" Requires="v">
                <p:oleObj spid="_x0000_s62" name="" r:id="rId13" imgW="825500" imgH="1676400" progId="Visio.Drawing.11">
                  <p:embed/>
                </p:oleObj>
              </mc:Choice>
              <mc:Fallback>
                <p:oleObj name="" r:id="rId13" imgW="825500" imgH="1676400" progId="Visio.Drawing.11">
                  <p:embed/>
                  <p:pic>
                    <p:nvPicPr>
                      <p:cNvPr id="0" name="图片 3079"/>
                      <p:cNvPicPr/>
                      <p:nvPr/>
                    </p:nvPicPr>
                    <p:blipFill>
                      <a:blip r:embed="rId4"/>
                      <a:stretch>
                        <a:fillRect/>
                      </a:stretch>
                    </p:blipFill>
                    <p:spPr>
                      <a:xfrm>
                        <a:off x="4689475" y="701675"/>
                        <a:ext cx="477838" cy="1236663"/>
                      </a:xfrm>
                      <a:prstGeom prst="rect">
                        <a:avLst/>
                      </a:prstGeom>
                      <a:noFill/>
                      <a:ln w="38100">
                        <a:noFill/>
                        <a:miter/>
                      </a:ln>
                    </p:spPr>
                  </p:pic>
                </p:oleObj>
              </mc:Fallback>
            </mc:AlternateContent>
          </a:graphicData>
        </a:graphic>
      </p:graphicFrame>
      <p:sp>
        <p:nvSpPr>
          <p:cNvPr id="63" name="文本框 125"/>
          <p:cNvSpPr txBox="1"/>
          <p:nvPr/>
        </p:nvSpPr>
        <p:spPr>
          <a:xfrm>
            <a:off x="4546600" y="169862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64" name="对象 36"/>
          <p:cNvGraphicFramePr/>
          <p:nvPr/>
        </p:nvGraphicFramePr>
        <p:xfrm>
          <a:off x="4689475" y="2061210"/>
          <a:ext cx="476250" cy="1235075"/>
        </p:xfrm>
        <a:graphic>
          <a:graphicData uri="http://schemas.openxmlformats.org/presentationml/2006/ole">
            <mc:AlternateContent xmlns:mc="http://schemas.openxmlformats.org/markup-compatibility/2006">
              <mc:Choice xmlns:v="urn:schemas-microsoft-com:vml" Requires="v">
                <p:oleObj spid="_x0000_s65" name="" r:id="rId14" imgW="825500" imgH="1676400" progId="Visio.Drawing.11">
                  <p:embed/>
                </p:oleObj>
              </mc:Choice>
              <mc:Fallback>
                <p:oleObj name="" r:id="rId14" imgW="825500" imgH="1676400" progId="Visio.Drawing.11">
                  <p:embed/>
                  <p:pic>
                    <p:nvPicPr>
                      <p:cNvPr id="0" name="图片 3083"/>
                      <p:cNvPicPr/>
                      <p:nvPr/>
                    </p:nvPicPr>
                    <p:blipFill>
                      <a:blip r:embed="rId4"/>
                      <a:stretch>
                        <a:fillRect/>
                      </a:stretch>
                    </p:blipFill>
                    <p:spPr>
                      <a:xfrm>
                        <a:off x="4689475" y="2061210"/>
                        <a:ext cx="476250" cy="1235075"/>
                      </a:xfrm>
                      <a:prstGeom prst="rect">
                        <a:avLst/>
                      </a:prstGeom>
                      <a:noFill/>
                      <a:ln w="38100">
                        <a:noFill/>
                        <a:miter/>
                      </a:ln>
                    </p:spPr>
                  </p:pic>
                </p:oleObj>
              </mc:Fallback>
            </mc:AlternateContent>
          </a:graphicData>
        </a:graphic>
      </p:graphicFrame>
      <p:sp>
        <p:nvSpPr>
          <p:cNvPr id="68" name="文本框 125"/>
          <p:cNvSpPr txBox="1"/>
          <p:nvPr/>
        </p:nvSpPr>
        <p:spPr>
          <a:xfrm>
            <a:off x="4510088" y="3043873"/>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72" name="圆柱形 71"/>
          <p:cNvSpPr/>
          <p:nvPr/>
        </p:nvSpPr>
        <p:spPr>
          <a:xfrm>
            <a:off x="2875915" y="2761615"/>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82" name="直接箭头连接符 81"/>
          <p:cNvCxnSpPr/>
          <p:nvPr/>
        </p:nvCxnSpPr>
        <p:spPr>
          <a:xfrm flipH="1" flipV="1">
            <a:off x="3517900" y="3043873"/>
            <a:ext cx="405130" cy="8890"/>
          </a:xfrm>
          <a:prstGeom prst="straightConnector1">
            <a:avLst/>
          </a:prstGeom>
          <a:ln w="28575" cap="flat" cmpd="sng">
            <a:solidFill>
              <a:schemeClr val="accent2"/>
            </a:solidFill>
            <a:prstDash val="solid"/>
            <a:round/>
            <a:headEnd type="none" w="med" len="med"/>
            <a:tailEnd type="triangle" w="med" len="med"/>
          </a:ln>
        </p:spPr>
      </p:cxnSp>
      <p:pic>
        <p:nvPicPr>
          <p:cNvPr id="83" name="图片 82" descr="333437323739373b333530353137353bd4c6d7c0c3e6"/>
          <p:cNvPicPr>
            <a:picLocks noChangeAspect="1"/>
          </p:cNvPicPr>
          <p:nvPr>
            <p:custDataLst>
              <p:tags r:id="rId15"/>
            </p:custDataLst>
          </p:nvPr>
        </p:nvPicPr>
        <p:blipFill>
          <a:blip r:embed="rId7"/>
          <a:stretch>
            <a:fillRect/>
          </a:stretch>
        </p:blipFill>
        <p:spPr>
          <a:xfrm>
            <a:off x="3023870" y="713105"/>
            <a:ext cx="494030" cy="441325"/>
          </a:xfrm>
          <a:prstGeom prst="rect">
            <a:avLst/>
          </a:prstGeom>
        </p:spPr>
      </p:pic>
      <p:sp>
        <p:nvSpPr>
          <p:cNvPr id="84" name="文本框 125"/>
          <p:cNvSpPr txBox="1"/>
          <p:nvPr/>
        </p:nvSpPr>
        <p:spPr>
          <a:xfrm>
            <a:off x="2887345" y="115443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85" name="直接箭头连接符 81"/>
          <p:cNvCxnSpPr/>
          <p:nvPr/>
        </p:nvCxnSpPr>
        <p:spPr>
          <a:xfrm>
            <a:off x="3616325" y="964248"/>
            <a:ext cx="358775" cy="0"/>
          </a:xfrm>
          <a:prstGeom prst="straightConnector1">
            <a:avLst/>
          </a:prstGeom>
          <a:ln w="28575" cap="flat" cmpd="sng">
            <a:solidFill>
              <a:schemeClr val="accent2"/>
            </a:solidFill>
            <a:prstDash val="solid"/>
            <a:round/>
            <a:headEnd type="none" w="med" len="med"/>
            <a:tailEnd type="triangle" w="med" len="med"/>
          </a:ln>
        </p:spPr>
      </p:cxnSp>
      <p:sp>
        <p:nvSpPr>
          <p:cNvPr id="3" name="矩形 33"/>
          <p:cNvSpPr/>
          <p:nvPr/>
        </p:nvSpPr>
        <p:spPr>
          <a:xfrm>
            <a:off x="3975100" y="646430"/>
            <a:ext cx="1867535" cy="2626360"/>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6" name="矩形 33"/>
          <p:cNvSpPr/>
          <p:nvPr/>
        </p:nvSpPr>
        <p:spPr>
          <a:xfrm>
            <a:off x="8148320" y="607695"/>
            <a:ext cx="1867535" cy="2626360"/>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81"/>
          <p:cNvGrpSpPr/>
          <p:nvPr/>
        </p:nvGrpSpPr>
        <p:grpSpPr>
          <a:xfrm>
            <a:off x="2498725" y="1486535"/>
            <a:ext cx="1597660" cy="1153160"/>
            <a:chOff x="12254" y="2617"/>
            <a:chExt cx="1251" cy="1824"/>
          </a:xfrm>
        </p:grpSpPr>
        <p:sp>
          <p:nvSpPr>
            <p:cNvPr id="8"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0"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4"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idx="4294967295"/>
          </p:nvPr>
        </p:nvSpPr>
        <p:spPr>
          <a:xfrm>
            <a:off x="3237548" y="66993"/>
            <a:ext cx="8713787" cy="577850"/>
          </a:xfrm>
        </p:spPr>
        <p:txBody>
          <a:bodyPr wrap="square" anchor="ctr" anchorCtr="0"/>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tLang="zh-CN">
                <a:sym typeface="宋体" panose="02010600030101010101" pitchFamily="2" charset="-122"/>
              </a:rPr>
              <a:t>安全架构</a:t>
            </a:r>
            <a:endParaRPr lang="zh-CN" altLang="en-US" dirty="0">
              <a:latin typeface="Arial" panose="020B0604020202090204" charset="-122"/>
              <a:sym typeface="Arial" panose="020B0604020202090204" charset="-122"/>
            </a:endParaRPr>
          </a:p>
        </p:txBody>
      </p:sp>
      <p:graphicFrame>
        <p:nvGraphicFramePr>
          <p:cNvPr id="3" name="表格 2"/>
          <p:cNvGraphicFramePr/>
          <p:nvPr>
            <p:custDataLst>
              <p:tags r:id="rId1"/>
            </p:custDataLst>
          </p:nvPr>
        </p:nvGraphicFramePr>
        <p:xfrm>
          <a:off x="203200" y="703580"/>
          <a:ext cx="11732260" cy="6092825"/>
        </p:xfrm>
        <a:graphic>
          <a:graphicData uri="http://schemas.openxmlformats.org/drawingml/2006/table">
            <a:tbl>
              <a:tblPr firstRow="1" bandRow="1">
                <a:tableStyleId>{5C22544A-7EE6-4342-B048-85BDC9FD1C3A}</a:tableStyleId>
              </a:tblPr>
              <a:tblGrid>
                <a:gridCol w="897890"/>
                <a:gridCol w="1261110"/>
                <a:gridCol w="4892040"/>
                <a:gridCol w="4681220"/>
              </a:tblGrid>
              <a:tr h="320675">
                <a:tc gridSpan="2">
                  <a:txBody>
                    <a:bodyPr/>
                    <a:p>
                      <a:pPr algn="ctr">
                        <a:buNone/>
                      </a:pPr>
                      <a:r>
                        <a:rPr lang="zh-CN" sz="1400" b="1">
                          <a:solidFill>
                            <a:schemeClr val="bg1"/>
                          </a:solidFill>
                          <a:latin typeface="微软雅黑" panose="020B0503020204020204" pitchFamily="34" charset="-122"/>
                          <a:ea typeface="微软雅黑" panose="020B0503020204020204" pitchFamily="34" charset="-122"/>
                        </a:rPr>
                        <a:t>安全架构类别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hMerge="1">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481330">
                <a:tc gridSpan="2">
                  <a:txBody>
                    <a:bodyPr/>
                    <a:p>
                      <a:pPr marL="0" lvl="0" indent="0" algn="ctr">
                        <a:lnSpc>
                          <a:spcPct val="100000"/>
                        </a:lnSpc>
                        <a:spcBef>
                          <a:spcPct val="0"/>
                        </a:spcBef>
                        <a:buFont typeface="Arial" panose="020B0604020202090204" charset="-36"/>
                        <a:buNone/>
                      </a:pPr>
                      <a:r>
                        <a:rPr lang="zh-CN" altLang="en-US" sz="1400"/>
                        <a:t>等级保护级别</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等保三级</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920750">
                <a:tc gridSpan="2">
                  <a:txBody>
                    <a:bodyPr/>
                    <a:p>
                      <a:pPr marL="0" lvl="0" indent="0" algn="ctr">
                        <a:lnSpc>
                          <a:spcPct val="100000"/>
                        </a:lnSpc>
                        <a:spcBef>
                          <a:spcPct val="0"/>
                        </a:spcBef>
                        <a:buFont typeface="Arial" panose="020B0604020202090204" charset="-36"/>
                        <a:buNone/>
                      </a:pPr>
                      <a:r>
                        <a:rPr lang="zh-CN" altLang="en-US" sz="1400"/>
                        <a:t>身份鉴别安全</a:t>
                      </a:r>
                      <a:endParaRPr lang="zh-CN" altLang="en-US" sz="1400"/>
                    </a:p>
                  </a:txBody>
                  <a:tcPr vert="horz" anchor="ctr"/>
                </a:tc>
                <a:tc hMerge="1">
                  <a:tcPr anchor="ctr" anchorCtr="0"/>
                </a:tc>
                <a:tc>
                  <a:txBody>
                    <a:bodyPr/>
                    <a:p>
                      <a:pPr marL="0" lvl="0" indent="81280" algn="l">
                        <a:lnSpc>
                          <a:spcPct val="100000"/>
                        </a:lnSpc>
                        <a:buClrTx/>
                        <a:buSzTx/>
                        <a:buFont typeface="Arial" panose="020B0604020202090204" charset="-36"/>
                        <a:buNone/>
                      </a:pPr>
                      <a:r>
                        <a:rPr lang="zh-CN" altLang="en-US" sz="1400" dirty="0">
                          <a:highlight>
                            <a:srgbClr val="D2DDF5"/>
                          </a:highlight>
                          <a:sym typeface="+mn-ea"/>
                        </a:rPr>
                        <a:t>系统自身实现身份鉴别，接入权限</a:t>
                      </a:r>
                      <a:r>
                        <a:rPr lang="zh-CN" altLang="en-US" sz="1400" dirty="0">
                          <a:highlight>
                            <a:srgbClr val="D2DDF5"/>
                          </a:highlight>
                          <a:sym typeface="+mn-ea"/>
                        </a:rPr>
                        <a:t>系统</a:t>
                      </a:r>
                      <a:endParaRPr lang="zh-CN" altLang="en-US" sz="1400" dirty="0">
                        <a:highlight>
                          <a:srgbClr val="D2DDF5"/>
                        </a:highlight>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53390">
                <a:tc gridSpan="2">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权限后台进行权限</a:t>
                      </a:r>
                      <a:r>
                        <a:rPr lang="zh-CN" altLang="en-US" sz="1400" b="0" u="none" dirty="0">
                          <a:highlight>
                            <a:srgbClr val="D2DDF5"/>
                          </a:highlight>
                        </a:rPr>
                        <a:t>控制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8315">
                <a:tc gridSpan="2">
                  <a:txBody>
                    <a:bodyPr/>
                    <a:p>
                      <a:pPr marL="0" lvl="0" indent="0" algn="ctr">
                        <a:lnSpc>
                          <a:spcPct val="100000"/>
                        </a:lnSpc>
                        <a:spcBef>
                          <a:spcPct val="0"/>
                        </a:spcBef>
                        <a:buFont typeface="Arial" panose="020B0604020202090204" charset="-36"/>
                        <a:buNone/>
                      </a:pPr>
                      <a:r>
                        <a:rPr lang="zh-CN" altLang="en-US" sz="1400"/>
                        <a:t>安全审计</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按照公司统一日志规范记录用户行为和安全事件。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32435">
                <a:tc gridSpan="2">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入侵防范</a:t>
                      </a:r>
                      <a:endParaRPr lang="zh-CN" altLang="en-US" sz="1400">
                        <a:latin typeface="微软雅黑" panose="020B0503020204020204" pitchFamily="34" charset="-122"/>
                        <a:ea typeface="微软雅黑" panose="020B0503020204020204" pitchFamily="34" charset="-122"/>
                      </a:endParaRPr>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系统对输入数据进行技术验证，对系统技术错误信息进行屏蔽后提供统一反馈或提示。</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latin typeface="微软雅黑" panose="020B0503020204020204" pitchFamily="34" charset="-122"/>
                        <a:ea typeface="微软雅黑" panose="020B0503020204020204" pitchFamily="34" charset="-122"/>
                      </a:endParaRPr>
                    </a:p>
                  </a:txBody>
                  <a:tcPr vert="horz" anchor="ctr"/>
                </a:tc>
              </a:tr>
              <a:tr h="635635">
                <a:tc rowSpan="5">
                  <a:txBody>
                    <a:bodyPr/>
                    <a:p>
                      <a:pPr marL="0" lvl="0" indent="0" algn="ctr">
                        <a:lnSpc>
                          <a:spcPct val="100000"/>
                        </a:lnSpc>
                        <a:spcBef>
                          <a:spcPct val="0"/>
                        </a:spcBef>
                        <a:buFont typeface="Arial" panose="020B0604020202090204" charset="-36"/>
                        <a:buNone/>
                      </a:pPr>
                      <a:r>
                        <a:rPr lang="zh-CN" altLang="en-US" sz="1400"/>
                        <a:t>重要数据保护</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t>重要数据</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业务系统卸载</a:t>
                      </a:r>
                      <a:r>
                        <a:rPr lang="zh-CN" altLang="en-US" sz="1400" b="0" u="none" dirty="0">
                          <a:highlight>
                            <a:srgbClr val="D2DDF5"/>
                          </a:highlight>
                        </a:rPr>
                        <a:t>数据</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7045">
                <a:tc vMerge="1">
                  <a:tcPr vert="horz" anchor="ctr"/>
                </a:tc>
                <a:tc>
                  <a:txBody>
                    <a:bodyPr/>
                    <a:p>
                      <a:pPr marL="0" lvl="0" indent="0" algn="ctr">
                        <a:lnSpc>
                          <a:spcPct val="100000"/>
                        </a:lnSpc>
                        <a:spcBef>
                          <a:spcPct val="0"/>
                        </a:spcBef>
                        <a:buFont typeface="Arial" panose="020B0604020202090204" charset="-36"/>
                        <a:buNone/>
                      </a:pPr>
                      <a:r>
                        <a:rPr lang="zh-CN" altLang="en-US" sz="1400"/>
                        <a:t>完整性</a:t>
                      </a:r>
                      <a:endParaRPr lang="zh-CN" altLang="en-US" sz="1400"/>
                    </a:p>
                  </a:txBody>
                  <a:tcPr vert="horz" anchor="ctr"/>
                </a:tc>
                <a:tc>
                  <a:txBody>
                    <a:bodyPr/>
                    <a:p>
                      <a:pPr marL="0" indent="81280" algn="l">
                        <a:buClrTx/>
                        <a:buSzTx/>
                        <a:buFont typeface="Arial" panose="020B0604020202090204" charset="-36"/>
                        <a:buNone/>
                      </a:pPr>
                      <a:r>
                        <a:rPr lang="zh-CN" altLang="en-US" sz="1400" dirty="0">
                          <a:highlight>
                            <a:srgbClr val="D2DDF5"/>
                          </a:highlight>
                          <a:sym typeface="+mn-ea"/>
                        </a:rPr>
                        <a:t>使用</a:t>
                      </a:r>
                      <a:r>
                        <a:rPr lang="en-US" altLang="zh-CN" sz="1400" dirty="0">
                          <a:highlight>
                            <a:srgbClr val="D2DDF5"/>
                          </a:highlight>
                          <a:sym typeface="+mn-ea"/>
                        </a:rPr>
                        <a:t>SM3</a:t>
                      </a:r>
                      <a:r>
                        <a:rPr lang="zh-CN" altLang="en-US" sz="1400" dirty="0">
                          <a:highlight>
                            <a:srgbClr val="D2DDF5"/>
                          </a:highlight>
                          <a:sym typeface="+mn-ea"/>
                        </a:rPr>
                        <a:t>进行完整性校验</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14655">
                <a:tc vMerge="1">
                  <a:tcPr anchor="ctr" anchorCtr="0"/>
                </a:tc>
                <a:tc>
                  <a:txBody>
                    <a:bodyPr/>
                    <a:p>
                      <a:pPr marL="0" lvl="0" indent="0" algn="ctr">
                        <a:lnSpc>
                          <a:spcPct val="100000"/>
                        </a:lnSpc>
                        <a:spcBef>
                          <a:spcPct val="0"/>
                        </a:spcBef>
                        <a:buFont typeface="Arial" panose="020B0604020202090204" charset="-36"/>
                        <a:buNone/>
                      </a:pPr>
                      <a:r>
                        <a:rPr lang="zh-CN" altLang="en-US" sz="1400"/>
                        <a:t>保密性</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使用</a:t>
                      </a:r>
                      <a:r>
                        <a:rPr lang="en-US" altLang="zh-CN" sz="1400" b="0" u="none" dirty="0">
                          <a:highlight>
                            <a:srgbClr val="D2DDF5"/>
                          </a:highlight>
                        </a:rPr>
                        <a:t>SM4</a:t>
                      </a:r>
                      <a:r>
                        <a:rPr lang="zh-CN" altLang="en-US" sz="1400" b="0" u="none" dirty="0">
                          <a:highlight>
                            <a:srgbClr val="D2DDF5"/>
                          </a:highlight>
                        </a:rPr>
                        <a:t>对</a:t>
                      </a:r>
                      <a:r>
                        <a:rPr lang="zh-CN" altLang="en-US" sz="1400" dirty="0">
                          <a:highlight>
                            <a:srgbClr val="D2DDF5"/>
                          </a:highlight>
                          <a:sym typeface="+mn-ea"/>
                        </a:rPr>
                        <a:t>数据</a:t>
                      </a:r>
                      <a:r>
                        <a:rPr lang="zh-CN" altLang="en-US" sz="1400" b="0" u="none" dirty="0">
                          <a:highlight>
                            <a:srgbClr val="D2DDF5"/>
                          </a:highlight>
                        </a:rPr>
                        <a:t>进行存储加密</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92125">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不可否认性</a:t>
                      </a:r>
                      <a:endParaRPr lang="zh-CN" altLang="en-US" sz="1400"/>
                    </a:p>
                  </a:txBody>
                  <a:tcPr vert="horz" anchor="ctr"/>
                </a:tc>
                <a:tc>
                  <a:txBody>
                    <a:bodyPr/>
                    <a:p>
                      <a:pPr marL="0" indent="0" algn="l">
                        <a:buNone/>
                      </a:pPr>
                      <a:r>
                        <a:rPr lang="en-US" altLang="zh-CN"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配置信息记录等详细</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信息</a:t>
                      </a:r>
                      <a:endPar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515620">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个人信息保护</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不涉及</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2.4基础架构-技术架构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descr="技术架构"/>
          <p:cNvPicPr>
            <a:picLocks noChangeAspect="1"/>
          </p:cNvPicPr>
          <p:nvPr/>
        </p:nvPicPr>
        <p:blipFill>
          <a:blip r:embed="rId1"/>
          <a:stretch>
            <a:fillRect/>
          </a:stretch>
        </p:blipFill>
        <p:spPr>
          <a:xfrm>
            <a:off x="2309495" y="706120"/>
            <a:ext cx="7573010" cy="53041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2.3基础架构-技术架构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3070225" y="156146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反向代理</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3070225" y="2651760"/>
            <a:ext cx="5022850" cy="1612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后端服务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3070225" y="553783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操作系统</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3070225" y="4414203"/>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应用服务器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3070225" y="4975860"/>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运行环境</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3989705" y="16313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Nginx</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3932555" y="286067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服务层</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4464050" y="2926715"/>
            <a:ext cx="82740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业务逻辑</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3932555" y="3309620"/>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组件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4464050" y="336105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XXLJob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932555" y="375856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数据访问</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662805" y="38157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Mybatis</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6158865" y="2840990"/>
            <a:ext cx="887095" cy="1309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lnSpc>
                <a:spcPct val="80000"/>
              </a:lnSpc>
            </a:pPr>
            <a:r>
              <a:rPr lang="zh-CN" altLang="en-US" sz="1000">
                <a:solidFill>
                  <a:schemeClr val="tx1"/>
                </a:solidFill>
                <a:latin typeface="微软雅黑" panose="020B0503020204020204" pitchFamily="34" charset="-122"/>
                <a:ea typeface="微软雅黑" panose="020B0503020204020204" pitchFamily="34" charset="-122"/>
              </a:rPr>
              <a:t>基础框架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6278245" y="3077210"/>
            <a:ext cx="705485" cy="285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中证开发平台框架</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6278245" y="3437890"/>
            <a:ext cx="706755" cy="294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Sl4j  Log4j</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5" name="矩形 44"/>
          <p:cNvSpPr/>
          <p:nvPr/>
        </p:nvSpPr>
        <p:spPr>
          <a:xfrm>
            <a:off x="4055110" y="448627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Tong Web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6" name="矩形 45"/>
          <p:cNvSpPr/>
          <p:nvPr/>
        </p:nvSpPr>
        <p:spPr>
          <a:xfrm>
            <a:off x="4055110" y="504190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JVM</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7" name="矩形 46"/>
          <p:cNvSpPr/>
          <p:nvPr/>
        </p:nvSpPr>
        <p:spPr>
          <a:xfrm>
            <a:off x="4055110" y="560133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统信</a:t>
            </a:r>
            <a:r>
              <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49"/>
          <p:cNvSpPr/>
          <p:nvPr/>
        </p:nvSpPr>
        <p:spPr>
          <a:xfrm>
            <a:off x="6278245" y="380619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11535410" y="5332095"/>
            <a:ext cx="49212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已有</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11535410" y="5748020"/>
            <a:ext cx="492125" cy="268605"/>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mn-ea"/>
              </a:rPr>
              <a:t>新增</a:t>
            </a:r>
            <a:endParaRPr lang="en-US" altLang="zh-CN" sz="100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1"/>
            </p:custDataLst>
          </p:nvPr>
        </p:nvSpPr>
        <p:spPr>
          <a:xfrm>
            <a:off x="5170170" y="449453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KingBase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3070225" y="96202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浏览器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398970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Chrome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482155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奇安信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3070225" y="210121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页面展现</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3989705" y="216535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VUE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6263005" y="448564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Redis</a:t>
            </a:r>
            <a:endParaRPr lang="en-US" altLang="zh-CN" sz="1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2258060" y="1104583"/>
          <a:ext cx="8176895" cy="4592320"/>
        </p:xfrm>
        <a:graphic>
          <a:graphicData uri="http://schemas.openxmlformats.org/drawingml/2006/table">
            <a:tbl>
              <a:tblPr firstRow="1" bandRow="1">
                <a:tableStyleId>{5C22544A-7EE6-4342-B048-85BDC9FD1C3A}</a:tableStyleId>
              </a:tblPr>
              <a:tblGrid>
                <a:gridCol w="1760220"/>
                <a:gridCol w="5393690"/>
                <a:gridCol w="1022985"/>
              </a:tblGrid>
              <a:tr h="308610">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513715">
                <a:tc>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dirty="0"/>
                        <a:t>证联网服务采用权限中心统一做权限管控策略</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sym typeface="+mn-ea"/>
                        </a:rPr>
                        <a:t>适用</a:t>
                      </a:r>
                      <a:endParaRPr lang="zh-CN" altLang="en-US" sz="1400"/>
                    </a:p>
                  </a:txBody>
                  <a:tcPr vert="horz" anchor="ctr"/>
                </a:tc>
              </a:tr>
              <a:tr h="513715">
                <a:tc>
                  <a:txBody>
                    <a:bodyPr/>
                    <a:p>
                      <a:pPr marL="0" lvl="0" indent="0" algn="ctr">
                        <a:lnSpc>
                          <a:spcPct val="100000"/>
                        </a:lnSpc>
                        <a:spcBef>
                          <a:spcPct val="0"/>
                        </a:spcBef>
                        <a:buFont typeface="Arial" panose="020B0604020202090204" charset="-36"/>
                        <a:buNone/>
                      </a:pPr>
                      <a:r>
                        <a:rPr lang="zh-CN" altLang="en-US" sz="1400"/>
                        <a:t>前端组件</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SpreadJS表格控件、表单组件等统一前端组件</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55930">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脚手架</a:t>
                      </a:r>
                      <a:endParaRPr lang="zh-CN" altLang="en-US" sz="1400">
                        <a:latin typeface="微软雅黑" panose="020B0503020204020204" pitchFamily="34" charset="-122"/>
                        <a:ea typeface="微软雅黑" panose="020B0503020204020204" pitchFamily="34" charset="-122"/>
                      </a:endParaRPr>
                    </a:p>
                  </a:txBody>
                  <a:tcPr vert="horz" anchor="ctr"/>
                </a:tc>
                <a:tc>
                  <a:txBody>
                    <a:bodyPr/>
                    <a:p>
                      <a:pPr marL="0" lvl="0" algn="l">
                        <a:lnSpc>
                          <a:spcPct val="100000"/>
                        </a:lnSpc>
                        <a:buClrTx/>
                        <a:buSzTx/>
                        <a:buFont typeface="Arial" panose="020B0604020202090204" charset="-36"/>
                        <a:buNone/>
                      </a:pPr>
                      <a:r>
                        <a:rPr lang="zh-CN" altLang="en-US" sz="1400" dirty="0">
                          <a:sym typeface="+mn-ea"/>
                        </a:rPr>
                        <a:t>VUE +</a:t>
                      </a:r>
                      <a:r>
                        <a:rPr lang="zh-CN" altLang="en-US" sz="1400" dirty="0">
                          <a:sym typeface="微软雅黑" panose="020B0503020204020204" pitchFamily="34" charset="-122"/>
                        </a:rPr>
                        <a:t>csits-generator+中证开发平台</a:t>
                      </a:r>
                      <a:endParaRPr lang="zh-CN" altLang="en-US" sz="1400" dirty="0">
                        <a:sym typeface="微软雅黑" panose="020B0503020204020204" pitchFamily="34" charset="-122"/>
                      </a:endParaRPr>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适用</a:t>
                      </a:r>
                      <a:endParaRPr lang="zh-CN" altLang="en-US" sz="1400">
                        <a:latin typeface="微软雅黑" panose="020B0503020204020204" pitchFamily="34" charset="-122"/>
                        <a:ea typeface="微软雅黑" panose="020B0503020204020204" pitchFamily="34" charset="-122"/>
                      </a:endParaRPr>
                    </a:p>
                  </a:txBody>
                  <a:tcPr vert="horz" anchor="ctr"/>
                </a:tc>
              </a:tr>
              <a:tr h="319405">
                <a:tc>
                  <a:txBody>
                    <a:bodyPr/>
                    <a:p>
                      <a:pPr marL="0" lvl="0" indent="0" algn="ctr">
                        <a:lnSpc>
                          <a:spcPct val="100000"/>
                        </a:lnSpc>
                        <a:spcBef>
                          <a:spcPct val="0"/>
                        </a:spcBef>
                        <a:buFont typeface="Arial" panose="020B0604020202090204" charset="-36"/>
                        <a:buNone/>
                      </a:pPr>
                      <a:r>
                        <a:rPr lang="zh-CN" altLang="en-US" sz="1400"/>
                        <a:t>工作流</a:t>
                      </a:r>
                      <a:endParaRPr lang="zh-CN" altLang="en-US" sz="1400"/>
                    </a:p>
                  </a:txBody>
                  <a:tcPr vert="horz" anchor="ctr"/>
                </a:tc>
                <a:tc>
                  <a:txBody>
                    <a:bodyPr/>
                    <a:p>
                      <a:pPr algn="l">
                        <a:buClrTx/>
                        <a:buSzTx/>
                        <a:buFont typeface="Arial" panose="020B0604020202090204" charset="-36"/>
                      </a:pPr>
                      <a:r>
                        <a:rPr lang="zh-CN" altLang="en-US" sz="1400" dirty="0">
                          <a:sym typeface="+mn-ea"/>
                        </a:rPr>
                        <a:t>中证工作流引擎</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04800">
                <a:tc>
                  <a:txBody>
                    <a:bodyPr/>
                    <a:p>
                      <a:pPr marL="0" lvl="0" indent="0" algn="ctr">
                        <a:lnSpc>
                          <a:spcPct val="100000"/>
                        </a:lnSpc>
                        <a:spcBef>
                          <a:spcPct val="0"/>
                        </a:spcBef>
                        <a:buFont typeface="Arial" panose="020B0604020202090204" charset="-36"/>
                        <a:buNone/>
                      </a:pPr>
                      <a:r>
                        <a:rPr lang="zh-CN" altLang="en-US" sz="1400"/>
                        <a:t>任务调度</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中证任务调度平台（</a:t>
                      </a:r>
                      <a:r>
                        <a:rPr lang="en-US" altLang="zh-CN" sz="1400" dirty="0"/>
                        <a:t>xxljob</a:t>
                      </a:r>
                      <a:r>
                        <a:rPr lang="zh-CN" altLang="en-US" sz="1400" dirty="0"/>
                        <a:t>）</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适用</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en-US" altLang="zh-CN" sz="1400"/>
                        <a:t>ETL</a:t>
                      </a:r>
                      <a:endParaRPr lang="en-US" altLang="zh-CN" sz="1400"/>
                    </a:p>
                  </a:txBody>
                  <a:tcPr vert="horz" anchor="ctr"/>
                </a:tc>
                <a:tc>
                  <a:txBody>
                    <a:bodyPr/>
                    <a:p>
                      <a:pPr marL="0" lvl="0" algn="l">
                        <a:lnSpc>
                          <a:spcPct val="100000"/>
                        </a:lnSpc>
                        <a:buClrTx/>
                        <a:buSzTx/>
                        <a:buFont typeface="Arial" panose="020B0604020202090204" charset="-36"/>
                        <a:buNone/>
                      </a:pPr>
                      <a:r>
                        <a:rPr lang="zh-CN" altLang="en-US" sz="1400" dirty="0">
                          <a:sym typeface="+mn-ea"/>
                        </a:rPr>
                        <a:t>ETL工具（灵峰）</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26085">
                <a:tc>
                  <a:txBody>
                    <a:bodyPr/>
                    <a:p>
                      <a:pPr marL="0" lvl="0" indent="0" algn="ctr">
                        <a:lnSpc>
                          <a:spcPct val="100000"/>
                        </a:lnSpc>
                        <a:spcBef>
                          <a:spcPct val="0"/>
                        </a:spcBef>
                        <a:buFont typeface="Arial" panose="020B0604020202090204" charset="-36"/>
                        <a:buNone/>
                      </a:pPr>
                      <a:r>
                        <a:rPr lang="zh-CN" altLang="en-US" sz="1400"/>
                        <a:t>模型平台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指标数据</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37820">
                <a:tc>
                  <a:txBody>
                    <a:bodyPr/>
                    <a:p>
                      <a:pPr marL="0" lvl="0" indent="0" algn="ctr">
                        <a:lnSpc>
                          <a:spcPct val="100000"/>
                        </a:lnSpc>
                        <a:spcBef>
                          <a:spcPct val="0"/>
                        </a:spcBef>
                        <a:buFont typeface="Arial" panose="020B0604020202090204" charset="-36"/>
                        <a:buNone/>
                      </a:pPr>
                      <a:r>
                        <a:rPr lang="zh-CN" altLang="en-US" sz="1400"/>
                        <a:t>报表</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帆软报表</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知识图谱</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使用知识图谱服务</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algn="ctr">
                        <a:lnSpc>
                          <a:spcPct val="100000"/>
                        </a:lnSpc>
                        <a:buClrTx/>
                        <a:buSzTx/>
                        <a:buFont typeface="Arial" panose="020B0604020202090204" charset="-36"/>
                        <a:buNone/>
                      </a:pPr>
                      <a:r>
                        <a:rPr lang="zh-CN" altLang="en-US" sz="1400"/>
                        <a:t>服务注册与发现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Nacos</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全文搜索</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a:t>ElasticSearch（证网已引入）或</a:t>
                      </a:r>
                      <a:r>
                        <a:rPr lang="en-US" altLang="zh-CN" sz="1400"/>
                        <a:t>S</a:t>
                      </a:r>
                      <a:r>
                        <a:rPr lang="zh-CN" altLang="en-US" sz="1400"/>
                        <a:t>olr（内网已引入）</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bl>
          </a:graphicData>
        </a:graphic>
      </p:graphicFrame>
      <p:sp>
        <p:nvSpPr>
          <p:cNvPr id="163841" name="标题 2"/>
          <p:cNvSpPr>
            <a:spLocks noGrp="1"/>
          </p:cNvSpPr>
          <p:nvPr/>
        </p:nvSpPr>
        <p:spPr>
          <a:xfrm>
            <a:off x="5368925" y="83185"/>
            <a:ext cx="657733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dirty="0">
                <a:latin typeface="Arial" panose="020B0604020202090204" charset="-122"/>
                <a:sym typeface="宋体" panose="02010600030101010101" pitchFamily="2" charset="-122"/>
              </a:rPr>
              <a:t>技术路线自查表</a:t>
            </a:r>
            <a:endParaRPr lang="en-US" altLang="zh-CN" dirty="0">
              <a:latin typeface="Arial" panose="020B0604020202090204" charset="-122"/>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2.3</a:t>
            </a:r>
            <a:r>
              <a:rPr>
                <a:sym typeface="+mn-ea"/>
              </a:rPr>
              <a:t>部署架构</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6095365" y="932815"/>
            <a:ext cx="1270" cy="493776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6067425" y="86169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非涉密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4" name="直接连接符 13"/>
          <p:cNvCxnSpPr/>
          <p:nvPr>
            <p:custDataLst>
              <p:tags r:id="rId2"/>
            </p:custDataLst>
          </p:nvPr>
        </p:nvCxnSpPr>
        <p:spPr>
          <a:xfrm flipH="1">
            <a:off x="1771015" y="3305810"/>
            <a:ext cx="7920990" cy="0"/>
          </a:xfrm>
          <a:prstGeom prst="line">
            <a:avLst/>
          </a:prstGeom>
          <a:ln w="19050" cmpd="sng">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771015" y="336550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54" name="文本框 53"/>
          <p:cNvSpPr txBox="1"/>
          <p:nvPr/>
        </p:nvSpPr>
        <p:spPr>
          <a:xfrm>
            <a:off x="1771015"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涉密</a:t>
            </a:r>
            <a:r>
              <a:rPr lang="zh-CN" altLang="en-US" sz="1200" dirty="0">
                <a:solidFill>
                  <a:schemeClr val="bg1"/>
                </a:solidFill>
                <a:latin typeface="微软雅黑" panose="020B0503020204020204" pitchFamily="34" charset="-122"/>
                <a:ea typeface="微软雅黑" panose="020B0503020204020204" pitchFamily="34" charset="-122"/>
                <a:sym typeface="+mn-ea"/>
              </a:rPr>
              <a:t>内网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19" name="直接箭头连接符 118"/>
          <p:cNvCxnSpPr/>
          <p:nvPr/>
        </p:nvCxnSpPr>
        <p:spPr>
          <a:xfrm flipV="1">
            <a:off x="5800090" y="3198495"/>
            <a:ext cx="428625" cy="21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8" name="文本框 177"/>
          <p:cNvSpPr txBox="1"/>
          <p:nvPr/>
        </p:nvSpPr>
        <p:spPr>
          <a:xfrm>
            <a:off x="6061075" y="338582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互联网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98" name="直接箭头连接符 197"/>
          <p:cNvCxnSpPr/>
          <p:nvPr/>
        </p:nvCxnSpPr>
        <p:spPr>
          <a:xfrm flipV="1">
            <a:off x="7997190" y="3234055"/>
            <a:ext cx="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H="1">
            <a:off x="5758180" y="2216785"/>
            <a:ext cx="671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42" name="组合 241"/>
          <p:cNvGrpSpPr/>
          <p:nvPr/>
        </p:nvGrpSpPr>
        <p:grpSpPr>
          <a:xfrm>
            <a:off x="3030855" y="3669665"/>
            <a:ext cx="2113280" cy="1955546"/>
            <a:chOff x="187" y="5888"/>
            <a:chExt cx="3213" cy="4104"/>
          </a:xfrm>
        </p:grpSpPr>
        <p:sp>
          <p:nvSpPr>
            <p:cNvPr id="243" name="文本框 242"/>
            <p:cNvSpPr txBox="1"/>
            <p:nvPr>
              <p:custDataLst>
                <p:tags r:id="rId3"/>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244" name="图片 243"/>
            <p:cNvPicPr/>
            <p:nvPr>
              <p:custDataLst>
                <p:tags r:id="rId4"/>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245" name="文本框 244"/>
            <p:cNvSpPr txBox="1"/>
            <p:nvPr>
              <p:custDataLst>
                <p:tags r:id="rId6"/>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246" name="图片 245"/>
            <p:cNvPicPr/>
            <p:nvPr>
              <p:custDataLst>
                <p:tags r:id="rId7"/>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247" name="图片 246"/>
            <p:cNvPicPr/>
            <p:nvPr>
              <p:custDataLst>
                <p:tags r:id="rId9"/>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248" name="文本框 247"/>
            <p:cNvSpPr txBox="1"/>
            <p:nvPr>
              <p:custDataLst>
                <p:tags r:id="rId11"/>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249" name="图片 248"/>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250" name="直接箭头连接符 249"/>
            <p:cNvCxnSpPr/>
            <p:nvPr>
              <p:custDataLst>
                <p:tags r:id="rId14"/>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1" name="直接箭头连接符 250"/>
            <p:cNvCxnSpPr>
              <a:endCxn id="255" idx="1"/>
            </p:cNvCxnSpPr>
            <p:nvPr>
              <p:custDataLst>
                <p:tags r:id="rId15"/>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2" name="文本框 251"/>
            <p:cNvSpPr txBox="1"/>
            <p:nvPr>
              <p:custDataLst>
                <p:tags r:id="rId16"/>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253" name="文本框 252"/>
            <p:cNvSpPr txBox="1"/>
            <p:nvPr>
              <p:custDataLst>
                <p:tags r:id="rId17"/>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254" name="直接箭头连接符 253"/>
            <p:cNvCxnSpPr/>
            <p:nvPr>
              <p:custDataLst>
                <p:tags r:id="rId18"/>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5" name="矩形 254"/>
            <p:cNvSpPr/>
            <p:nvPr>
              <p:custDataLst>
                <p:tags r:id="rId19"/>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256" name="文本框 255"/>
            <p:cNvSpPr txBox="1"/>
            <p:nvPr>
              <p:custDataLst>
                <p:tags r:id="rId20"/>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257" name="矩形 256"/>
            <p:cNvSpPr/>
            <p:nvPr>
              <p:custDataLst>
                <p:tags r:id="rId21"/>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258" name="文本框 257"/>
            <p:cNvSpPr txBox="1"/>
            <p:nvPr>
              <p:custDataLst>
                <p:tags r:id="rId22"/>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3" name="组合 2"/>
          <p:cNvGrpSpPr/>
          <p:nvPr/>
        </p:nvGrpSpPr>
        <p:grpSpPr>
          <a:xfrm>
            <a:off x="7025005" y="1254760"/>
            <a:ext cx="2113280" cy="1955546"/>
            <a:chOff x="187" y="5888"/>
            <a:chExt cx="3213" cy="4104"/>
          </a:xfrm>
        </p:grpSpPr>
        <p:sp>
          <p:nvSpPr>
            <p:cNvPr id="6" name="文本框 5"/>
            <p:cNvSpPr txBox="1"/>
            <p:nvPr>
              <p:custDataLst>
                <p:tags r:id="rId23"/>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7" name="图片 6"/>
            <p:cNvPicPr/>
            <p:nvPr>
              <p:custDataLst>
                <p:tags r:id="rId24"/>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8" name="文本框 7"/>
            <p:cNvSpPr txBox="1"/>
            <p:nvPr>
              <p:custDataLst>
                <p:tags r:id="rId25"/>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10" name="图片 9"/>
            <p:cNvPicPr/>
            <p:nvPr>
              <p:custDataLst>
                <p:tags r:id="rId26"/>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11" name="图片 10"/>
            <p:cNvPicPr/>
            <p:nvPr>
              <p:custDataLst>
                <p:tags r:id="rId27"/>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24" name="文本框 23"/>
            <p:cNvSpPr txBox="1"/>
            <p:nvPr>
              <p:custDataLst>
                <p:tags r:id="rId28"/>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25" name="图片 24"/>
            <p:cNvPicPr/>
            <p:nvPr>
              <p:custDataLst>
                <p:tags r:id="rId29"/>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27" name="直接箭头连接符 26"/>
            <p:cNvCxnSpPr/>
            <p:nvPr>
              <p:custDataLst>
                <p:tags r:id="rId30"/>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66" idx="1"/>
            </p:cNvCxnSpPr>
            <p:nvPr>
              <p:custDataLst>
                <p:tags r:id="rId31"/>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32"/>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52" name="文本框 51"/>
            <p:cNvSpPr txBox="1"/>
            <p:nvPr>
              <p:custDataLst>
                <p:tags r:id="rId33"/>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53" name="直接箭头连接符 52"/>
            <p:cNvCxnSpPr/>
            <p:nvPr>
              <p:custDataLst>
                <p:tags r:id="rId34"/>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矩形 65"/>
            <p:cNvSpPr/>
            <p:nvPr>
              <p:custDataLst>
                <p:tags r:id="rId35"/>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67" name="文本框 66"/>
            <p:cNvSpPr txBox="1"/>
            <p:nvPr>
              <p:custDataLst>
                <p:tags r:id="rId36"/>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69" name="矩形 68"/>
            <p:cNvSpPr/>
            <p:nvPr>
              <p:custDataLst>
                <p:tags r:id="rId37"/>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70" name="文本框 69"/>
            <p:cNvSpPr txBox="1"/>
            <p:nvPr>
              <p:custDataLst>
                <p:tags r:id="rId38"/>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71" name="组合 70"/>
          <p:cNvGrpSpPr/>
          <p:nvPr/>
        </p:nvGrpSpPr>
        <p:grpSpPr>
          <a:xfrm>
            <a:off x="6964680" y="3884295"/>
            <a:ext cx="2113280" cy="1955546"/>
            <a:chOff x="187" y="5888"/>
            <a:chExt cx="3213" cy="4104"/>
          </a:xfrm>
        </p:grpSpPr>
        <p:sp>
          <p:nvSpPr>
            <p:cNvPr id="73" name="文本框 72"/>
            <p:cNvSpPr txBox="1"/>
            <p:nvPr>
              <p:custDataLst>
                <p:tags r:id="rId39"/>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74" name="图片 73"/>
            <p:cNvPicPr/>
            <p:nvPr>
              <p:custDataLst>
                <p:tags r:id="rId40"/>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75" name="文本框 74"/>
            <p:cNvSpPr txBox="1"/>
            <p:nvPr>
              <p:custDataLst>
                <p:tags r:id="rId41"/>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76" name="图片 75"/>
            <p:cNvPicPr/>
            <p:nvPr>
              <p:custDataLst>
                <p:tags r:id="rId42"/>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77" name="图片 76"/>
            <p:cNvPicPr/>
            <p:nvPr>
              <p:custDataLst>
                <p:tags r:id="rId43"/>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78" name="文本框 77"/>
            <p:cNvSpPr txBox="1"/>
            <p:nvPr>
              <p:custDataLst>
                <p:tags r:id="rId44"/>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79" name="图片 78"/>
            <p:cNvPicPr/>
            <p:nvPr>
              <p:custDataLst>
                <p:tags r:id="rId45"/>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80" name="直接箭头连接符 79"/>
            <p:cNvCxnSpPr/>
            <p:nvPr>
              <p:custDataLst>
                <p:tags r:id="rId46"/>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endCxn id="89" idx="1"/>
            </p:cNvCxnSpPr>
            <p:nvPr>
              <p:custDataLst>
                <p:tags r:id="rId47"/>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 name="文本框 85"/>
            <p:cNvSpPr txBox="1"/>
            <p:nvPr>
              <p:custDataLst>
                <p:tags r:id="rId48"/>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87" name="文本框 86"/>
            <p:cNvSpPr txBox="1"/>
            <p:nvPr>
              <p:custDataLst>
                <p:tags r:id="rId49"/>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88" name="直接箭头连接符 87"/>
            <p:cNvCxnSpPr/>
            <p:nvPr>
              <p:custDataLst>
                <p:tags r:id="rId50"/>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9" name="矩形 88"/>
            <p:cNvSpPr/>
            <p:nvPr>
              <p:custDataLst>
                <p:tags r:id="rId51"/>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91" name="文本框 90"/>
            <p:cNvSpPr txBox="1"/>
            <p:nvPr>
              <p:custDataLst>
                <p:tags r:id="rId52"/>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92" name="矩形 91"/>
            <p:cNvSpPr/>
            <p:nvPr>
              <p:custDataLst>
                <p:tags r:id="rId53"/>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93" name="文本框 92"/>
            <p:cNvSpPr txBox="1"/>
            <p:nvPr>
              <p:custDataLst>
                <p:tags r:id="rId54"/>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grpSp>
        <p:nvGrpSpPr>
          <p:cNvPr id="94" name="组合 93"/>
          <p:cNvGrpSpPr/>
          <p:nvPr/>
        </p:nvGrpSpPr>
        <p:grpSpPr>
          <a:xfrm>
            <a:off x="2673985" y="1169035"/>
            <a:ext cx="2113280" cy="1955546"/>
            <a:chOff x="187" y="5888"/>
            <a:chExt cx="3213" cy="4104"/>
          </a:xfrm>
        </p:grpSpPr>
        <p:sp>
          <p:nvSpPr>
            <p:cNvPr id="95" name="文本框 94"/>
            <p:cNvSpPr txBox="1"/>
            <p:nvPr>
              <p:custDataLst>
                <p:tags r:id="rId55"/>
              </p:custDataLst>
            </p:nvPr>
          </p:nvSpPr>
          <p:spPr>
            <a:xfrm>
              <a:off x="1653" y="6945"/>
              <a:ext cx="1523" cy="375"/>
            </a:xfrm>
            <a:prstGeom prst="rect">
              <a:avLst/>
            </a:prstGeom>
            <a:noFill/>
          </p:spPr>
          <p:txBody>
            <a:bodyPr wrap="none" rtlCol="0" anchor="t">
              <a:noAutofit/>
            </a:bodyPr>
            <a:p>
              <a:pPr algn="ctr"/>
              <a:r>
                <a:rPr lang="zh-CN" altLang="en-US" sz="800" dirty="0">
                  <a:sym typeface="+mn-ea"/>
                </a:rPr>
                <a:t>应用服务器</a:t>
              </a:r>
              <a:endParaRPr lang="zh-CN" altLang="en-US" sz="800" dirty="0">
                <a:sym typeface="+mn-ea"/>
              </a:endParaRPr>
            </a:p>
            <a:p>
              <a:pPr algn="ctr"/>
              <a:r>
                <a:rPr lang="zh-CN" altLang="en-US" sz="800" dirty="0">
                  <a:sym typeface="+mn-ea"/>
                </a:rPr>
                <a:t>（主备</a:t>
              </a:r>
              <a:r>
                <a:rPr lang="zh-CN" altLang="en-US" sz="900" dirty="0">
                  <a:sym typeface="+mn-ea"/>
                </a:rPr>
                <a:t>）</a:t>
              </a:r>
              <a:endParaRPr lang="zh-CN" altLang="en-US" sz="900" dirty="0">
                <a:sym typeface="+mn-ea"/>
              </a:endParaRPr>
            </a:p>
          </p:txBody>
        </p:sp>
        <p:pic>
          <p:nvPicPr>
            <p:cNvPr id="96" name="图片 95"/>
            <p:cNvPicPr/>
            <p:nvPr>
              <p:custDataLst>
                <p:tags r:id="rId56"/>
              </p:custDataLst>
            </p:nvPr>
          </p:nvPicPr>
          <p:blipFill>
            <a:blip r:embed="rId5">
              <a:clrChange>
                <a:clrFrom>
                  <a:srgbClr val="F6F6F6">
                    <a:alpha val="100000"/>
                  </a:srgbClr>
                </a:clrFrom>
                <a:clrTo>
                  <a:srgbClr val="F6F6F6">
                    <a:alpha val="100000"/>
                    <a:alpha val="0"/>
                  </a:srgbClr>
                </a:clrTo>
              </a:clrChange>
            </a:blip>
            <a:stretch>
              <a:fillRect/>
            </a:stretch>
          </p:blipFill>
          <p:spPr>
            <a:xfrm>
              <a:off x="2097" y="8159"/>
              <a:ext cx="760" cy="922"/>
            </a:xfrm>
            <a:prstGeom prst="rect">
              <a:avLst/>
            </a:prstGeom>
            <a:noFill/>
            <a:ln w="9525">
              <a:noFill/>
            </a:ln>
          </p:spPr>
        </p:pic>
        <p:sp>
          <p:nvSpPr>
            <p:cNvPr id="97" name="文本框 96"/>
            <p:cNvSpPr txBox="1"/>
            <p:nvPr>
              <p:custDataLst>
                <p:tags r:id="rId57"/>
              </p:custDataLst>
            </p:nvPr>
          </p:nvSpPr>
          <p:spPr>
            <a:xfrm>
              <a:off x="1805" y="9026"/>
              <a:ext cx="1248" cy="966"/>
            </a:xfrm>
            <a:prstGeom prst="rect">
              <a:avLst/>
            </a:prstGeom>
            <a:noFill/>
          </p:spPr>
          <p:txBody>
            <a:bodyPr wrap="square" rtlCol="0" anchor="t">
              <a:spAutoFit/>
            </a:bodyPr>
            <a:p>
              <a:pPr algn="ctr"/>
              <a:r>
                <a:rPr lang="zh-CN" altLang="en-US" sz="800" dirty="0">
                  <a:sym typeface="+mn-ea"/>
                </a:rPr>
                <a:t>数据库服务器</a:t>
              </a:r>
              <a:endParaRPr lang="zh-CN" altLang="en-US" sz="800" dirty="0">
                <a:sym typeface="+mn-ea"/>
              </a:endParaRPr>
            </a:p>
            <a:p>
              <a:pPr algn="ctr"/>
              <a:r>
                <a:rPr lang="zh-CN" altLang="en-US" sz="800" dirty="0">
                  <a:sym typeface="+mn-ea"/>
                </a:rPr>
                <a:t>（主从）</a:t>
              </a:r>
              <a:endParaRPr lang="zh-CN" altLang="en-US" sz="800" dirty="0">
                <a:sym typeface="+mn-ea"/>
              </a:endParaRPr>
            </a:p>
          </p:txBody>
        </p:sp>
        <p:pic>
          <p:nvPicPr>
            <p:cNvPr id="98" name="图片 97"/>
            <p:cNvPicPr/>
            <p:nvPr>
              <p:custDataLst>
                <p:tags r:id="rId58"/>
              </p:custDataLst>
            </p:nvPr>
          </p:nvPicPr>
          <p:blipFill>
            <a:blip r:embed="rId8">
              <a:clrChange>
                <a:clrFrom>
                  <a:srgbClr val="FFFFFF">
                    <a:alpha val="100000"/>
                  </a:srgbClr>
                </a:clrFrom>
                <a:clrTo>
                  <a:srgbClr val="FFFFFF">
                    <a:alpha val="100000"/>
                    <a:alpha val="0"/>
                  </a:srgbClr>
                </a:clrTo>
              </a:clrChange>
            </a:blip>
            <a:stretch>
              <a:fillRect/>
            </a:stretch>
          </p:blipFill>
          <p:spPr>
            <a:xfrm>
              <a:off x="279" y="6338"/>
              <a:ext cx="859" cy="723"/>
            </a:xfrm>
            <a:prstGeom prst="rect">
              <a:avLst/>
            </a:prstGeom>
            <a:noFill/>
            <a:ln w="9525">
              <a:noFill/>
            </a:ln>
          </p:spPr>
        </p:pic>
        <p:pic>
          <p:nvPicPr>
            <p:cNvPr id="99" name="图片 98"/>
            <p:cNvPicPr/>
            <p:nvPr>
              <p:custDataLst>
                <p:tags r:id="rId59"/>
              </p:custDataLst>
            </p:nvPr>
          </p:nvPicPr>
          <p:blipFill>
            <a:blip r:embed="rId10">
              <a:clrChange>
                <a:clrFrom>
                  <a:srgbClr val="FFFFFF">
                    <a:alpha val="100000"/>
                  </a:srgbClr>
                </a:clrFrom>
                <a:clrTo>
                  <a:srgbClr val="FFFFFF">
                    <a:alpha val="100000"/>
                    <a:alpha val="0"/>
                  </a:srgbClr>
                </a:clrTo>
              </a:clrChange>
            </a:blip>
            <a:stretch>
              <a:fillRect/>
            </a:stretch>
          </p:blipFill>
          <p:spPr>
            <a:xfrm>
              <a:off x="187" y="8150"/>
              <a:ext cx="977" cy="1000"/>
            </a:xfrm>
            <a:prstGeom prst="rect">
              <a:avLst/>
            </a:prstGeom>
            <a:noFill/>
            <a:ln w="9525">
              <a:noFill/>
            </a:ln>
          </p:spPr>
        </p:pic>
        <p:sp>
          <p:nvSpPr>
            <p:cNvPr id="100" name="文本框 99"/>
            <p:cNvSpPr txBox="1"/>
            <p:nvPr>
              <p:custDataLst>
                <p:tags r:id="rId60"/>
              </p:custDataLst>
            </p:nvPr>
          </p:nvSpPr>
          <p:spPr>
            <a:xfrm>
              <a:off x="429" y="9220"/>
              <a:ext cx="608" cy="708"/>
            </a:xfrm>
            <a:prstGeom prst="rect">
              <a:avLst/>
            </a:prstGeom>
            <a:noFill/>
          </p:spPr>
          <p:txBody>
            <a:bodyPr wrap="square" rtlCol="0" anchor="t">
              <a:spAutoFit/>
            </a:bodyPr>
            <a:p>
              <a:pPr algn="ctr"/>
              <a:r>
                <a:rPr lang="zh-CN" altLang="en-US" sz="800" dirty="0">
                  <a:sym typeface="+mn-ea"/>
                </a:rPr>
                <a:t>终端</a:t>
              </a:r>
              <a:endParaRPr lang="zh-CN" altLang="en-US" sz="800" dirty="0">
                <a:sym typeface="+mn-ea"/>
              </a:endParaRPr>
            </a:p>
          </p:txBody>
        </p:sp>
        <p:pic>
          <p:nvPicPr>
            <p:cNvPr id="101" name="图片 100"/>
            <p:cNvPicPr/>
            <p:nvPr>
              <p:custDataLst>
                <p:tags r:id="rId61"/>
              </p:custDataLst>
            </p:nvPr>
          </p:nvPicPr>
          <p:blipFill>
            <a:blip r:embed="rId13">
              <a:clrChange>
                <a:clrFrom>
                  <a:srgbClr val="FFFFFF">
                    <a:alpha val="100000"/>
                  </a:srgbClr>
                </a:clrFrom>
                <a:clrTo>
                  <a:srgbClr val="FFFFFF">
                    <a:alpha val="100000"/>
                    <a:alpha val="0"/>
                  </a:srgbClr>
                </a:clrTo>
              </a:clrChange>
            </a:blip>
            <a:stretch>
              <a:fillRect/>
            </a:stretch>
          </p:blipFill>
          <p:spPr>
            <a:xfrm>
              <a:off x="2037" y="5888"/>
              <a:ext cx="821" cy="1122"/>
            </a:xfrm>
            <a:prstGeom prst="rect">
              <a:avLst/>
            </a:prstGeom>
            <a:noFill/>
            <a:ln w="9525">
              <a:noFill/>
            </a:ln>
          </p:spPr>
        </p:pic>
        <p:cxnSp>
          <p:nvCxnSpPr>
            <p:cNvPr id="102" name="直接箭头连接符 101"/>
            <p:cNvCxnSpPr/>
            <p:nvPr>
              <p:custDataLst>
                <p:tags r:id="rId62"/>
              </p:custDataLst>
            </p:nvPr>
          </p:nvCxnSpPr>
          <p:spPr>
            <a:xfrm flipV="1">
              <a:off x="753" y="7319"/>
              <a:ext cx="0" cy="8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endCxn id="108" idx="1"/>
            </p:cNvCxnSpPr>
            <p:nvPr>
              <p:custDataLst>
                <p:tags r:id="rId63"/>
              </p:custDataLst>
            </p:nvPr>
          </p:nvCxnSpPr>
          <p:spPr>
            <a:xfrm>
              <a:off x="1120" y="6757"/>
              <a:ext cx="53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5" name="文本框 104"/>
            <p:cNvSpPr txBox="1"/>
            <p:nvPr>
              <p:custDataLst>
                <p:tags r:id="rId64"/>
              </p:custDataLst>
            </p:nvPr>
          </p:nvSpPr>
          <p:spPr>
            <a:xfrm>
              <a:off x="279" y="7298"/>
              <a:ext cx="332" cy="1166"/>
            </a:xfrm>
            <a:prstGeom prst="rect">
              <a:avLst/>
            </a:prstGeom>
            <a:noFill/>
          </p:spPr>
          <p:txBody>
            <a:bodyPr wrap="square" rtlCol="0" anchor="t">
              <a:noAutofit/>
            </a:bodyPr>
            <a:p>
              <a:r>
                <a:rPr lang="zh-CN" altLang="en-US" sz="800">
                  <a:sym typeface="+mn-ea"/>
                </a:rPr>
                <a:t>域名解析</a:t>
              </a:r>
              <a:endParaRPr lang="zh-CN" altLang="en-US" sz="800">
                <a:sym typeface="+mn-ea"/>
              </a:endParaRPr>
            </a:p>
          </p:txBody>
        </p:sp>
        <p:sp>
          <p:nvSpPr>
            <p:cNvPr id="106" name="文本框 105"/>
            <p:cNvSpPr txBox="1"/>
            <p:nvPr>
              <p:custDataLst>
                <p:tags r:id="rId65"/>
              </p:custDataLst>
            </p:nvPr>
          </p:nvSpPr>
          <p:spPr>
            <a:xfrm>
              <a:off x="230" y="6881"/>
              <a:ext cx="976" cy="449"/>
            </a:xfrm>
            <a:prstGeom prst="rect">
              <a:avLst/>
            </a:prstGeom>
            <a:noFill/>
          </p:spPr>
          <p:txBody>
            <a:bodyPr wrap="square" rtlCol="0" anchor="t">
              <a:spAutoFit/>
            </a:bodyPr>
            <a:p>
              <a:pPr algn="ctr"/>
              <a:r>
                <a:rPr lang="en-US" altLang="zh-CN" sz="800">
                  <a:sym typeface="+mn-ea"/>
                </a:rPr>
                <a:t>Nginx</a:t>
              </a:r>
              <a:endParaRPr lang="en-US" altLang="zh-CN" sz="800">
                <a:sym typeface="+mn-ea"/>
              </a:endParaRPr>
            </a:p>
          </p:txBody>
        </p:sp>
        <p:cxnSp>
          <p:nvCxnSpPr>
            <p:cNvPr id="107" name="直接箭头连接符 106"/>
            <p:cNvCxnSpPr/>
            <p:nvPr>
              <p:custDataLst>
                <p:tags r:id="rId66"/>
              </p:custDataLst>
            </p:nvPr>
          </p:nvCxnSpPr>
          <p:spPr>
            <a:xfrm>
              <a:off x="2429" y="7612"/>
              <a:ext cx="0" cy="51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8" name="矩形 107"/>
            <p:cNvSpPr/>
            <p:nvPr>
              <p:custDataLst>
                <p:tags r:id="rId67"/>
              </p:custDataLst>
            </p:nvPr>
          </p:nvSpPr>
          <p:spPr>
            <a:xfrm>
              <a:off x="1653" y="5901"/>
              <a:ext cx="1637" cy="1711"/>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09" name="文本框 108"/>
            <p:cNvSpPr txBox="1"/>
            <p:nvPr>
              <p:custDataLst>
                <p:tags r:id="rId68"/>
              </p:custDataLst>
            </p:nvPr>
          </p:nvSpPr>
          <p:spPr>
            <a:xfrm>
              <a:off x="2668" y="5888"/>
              <a:ext cx="732" cy="496"/>
            </a:xfrm>
            <a:prstGeom prst="rect">
              <a:avLst/>
            </a:prstGeom>
            <a:noFill/>
          </p:spPr>
          <p:txBody>
            <a:bodyPr wrap="square" rtlCol="0" anchor="t">
              <a:noAutofit/>
            </a:bodyPr>
            <a:p>
              <a:r>
                <a:rPr lang="en-US" altLang="zh-CN" sz="800" b="1">
                  <a:sym typeface="+mn-ea"/>
                </a:rPr>
                <a:t>Web VPC</a:t>
              </a:r>
              <a:endParaRPr lang="en-US" altLang="zh-CN" sz="800" b="1">
                <a:sym typeface="+mn-ea"/>
              </a:endParaRPr>
            </a:p>
          </p:txBody>
        </p:sp>
        <p:sp>
          <p:nvSpPr>
            <p:cNvPr id="110" name="矩形 109"/>
            <p:cNvSpPr/>
            <p:nvPr>
              <p:custDataLst>
                <p:tags r:id="rId69"/>
              </p:custDataLst>
            </p:nvPr>
          </p:nvSpPr>
          <p:spPr>
            <a:xfrm>
              <a:off x="1653" y="8042"/>
              <a:ext cx="1643" cy="15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11" name="文本框 110"/>
            <p:cNvSpPr txBox="1"/>
            <p:nvPr>
              <p:custDataLst>
                <p:tags r:id="rId70"/>
              </p:custDataLst>
            </p:nvPr>
          </p:nvSpPr>
          <p:spPr>
            <a:xfrm>
              <a:off x="2753" y="8040"/>
              <a:ext cx="646" cy="435"/>
            </a:xfrm>
            <a:prstGeom prst="rect">
              <a:avLst/>
            </a:prstGeom>
            <a:noFill/>
          </p:spPr>
          <p:txBody>
            <a:bodyPr wrap="square" rtlCol="0" anchor="t">
              <a:noAutofit/>
            </a:bodyPr>
            <a:p>
              <a:r>
                <a:rPr lang="en-US" altLang="zh-CN" sz="800" b="1">
                  <a:sym typeface="+mn-ea"/>
                </a:rPr>
                <a:t>DB </a:t>
              </a:r>
              <a:endParaRPr lang="en-US" altLang="zh-CN" sz="800" b="1">
                <a:sym typeface="+mn-ea"/>
              </a:endParaRPr>
            </a:p>
            <a:p>
              <a:r>
                <a:rPr lang="en-US" altLang="zh-CN" sz="800" b="1">
                  <a:sym typeface="+mn-ea"/>
                </a:rPr>
                <a:t>VPC</a:t>
              </a:r>
              <a:endParaRPr lang="en-US" altLang="zh-CN" sz="800" b="1">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标题 2"/>
          <p:cNvSpPr>
            <a:spLocks noGrp="1"/>
          </p:cNvSpPr>
          <p:nvPr>
            <p:ph type="title"/>
          </p:nvPr>
        </p:nvSpPr>
        <p:spPr/>
        <p:txBody>
          <a:bodyPr wrap="square" lIns="91440" tIns="45720" rIns="91440" bIns="45720" anchor="ctr"/>
          <a:lstStyle/>
          <a:p>
            <a:pPr defTabSz="685800"/>
            <a:r>
              <a:rPr lang="en-US" altLang="zh-CN" dirty="0">
                <a:latin typeface="Arial" panose="020B0604020202090204" pitchFamily="34" charset="0"/>
                <a:sym typeface="宋体" panose="02010600030101010101" pitchFamily="2" charset="-122"/>
              </a:rPr>
              <a:t>2.3</a:t>
            </a:r>
            <a:r>
              <a:rPr lang="zh-CN" altLang="en-US" dirty="0">
                <a:latin typeface="Arial" panose="020B0604020202090204" pitchFamily="34" charset="0"/>
                <a:sym typeface="宋体" panose="02010600030101010101" pitchFamily="2" charset="-122"/>
              </a:rPr>
              <a:t>资源估算</a:t>
            </a:r>
            <a:r>
              <a:rPr lang="en-US" altLang="zh-CN" dirty="0">
                <a:latin typeface="Arial" panose="020B0604020202090204" pitchFamily="34" charset="0"/>
                <a:sym typeface="宋体" panose="02010600030101010101" pitchFamily="2" charset="-122"/>
              </a:rPr>
              <a:t>-</a:t>
            </a:r>
            <a:r>
              <a:rPr lang="zh-CN" altLang="en-US" dirty="0">
                <a:latin typeface="Arial" panose="020B0604020202090204" pitchFamily="34" charset="0"/>
                <a:sym typeface="宋体" panose="02010600030101010101" pitchFamily="2" charset="-122"/>
              </a:rPr>
              <a:t>软硬件估算</a:t>
            </a:r>
            <a:endParaRPr lang="zh-CN" altLang="en-US" dirty="0">
              <a:latin typeface="Arial" panose="020B0604020202090204" pitchFamily="34" charset="0"/>
              <a:sym typeface="宋体" panose="02010600030101010101" pitchFamily="2" charset="-122"/>
            </a:endParaRPr>
          </a:p>
        </p:txBody>
      </p:sp>
      <p:sp>
        <p:nvSpPr>
          <p:cNvPr id="2"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a:latin typeface="黑体" panose="02010609060101010101" charset="-122"/>
                <a:ea typeface="黑体" panose="02010609060101010101" charset="-122"/>
                <a:cs typeface="+mn-cs"/>
              </a:rPr>
              <a:t>第</a:t>
            </a:r>
            <a:r>
              <a:rPr lang="en-US" altLang="zh-CN" strike="noStrike" noProof="1">
                <a:latin typeface="黑体" panose="02010609060101010101" charset="-122"/>
                <a:ea typeface="黑体" panose="02010609060101010101" charset="-122"/>
                <a:cs typeface="+mn-cs"/>
              </a:rPr>
              <a:t>23</a:t>
            </a:r>
            <a:r>
              <a:rPr lang="zh-CN" altLang="en-US" strike="noStrike" noProof="1">
                <a:latin typeface="黑体" panose="02010609060101010101" charset="-122"/>
                <a:ea typeface="黑体" panose="02010609060101010101" charset="-122"/>
                <a:cs typeface="+mn-cs"/>
              </a:rPr>
              <a:t>页</a:t>
            </a:r>
            <a:endParaRPr lang="zh-CN" altLang="en-US" strike="noStrike" noProof="1"/>
          </a:p>
        </p:txBody>
      </p:sp>
      <p:graphicFrame>
        <p:nvGraphicFramePr>
          <p:cNvPr id="3" name="表格 2"/>
          <p:cNvGraphicFramePr/>
          <p:nvPr>
            <p:custDataLst>
              <p:tags r:id="rId1"/>
            </p:custDataLst>
          </p:nvPr>
        </p:nvGraphicFramePr>
        <p:xfrm>
          <a:off x="6407150" y="919480"/>
          <a:ext cx="5588635" cy="3983355"/>
        </p:xfrm>
        <a:graphic>
          <a:graphicData uri="http://schemas.openxmlformats.org/drawingml/2006/table">
            <a:tbl>
              <a:tblPr firstRow="1">
                <a:tableStyleId>{5C22544A-7EE6-4342-B048-85BDC9FD1C3A}</a:tableStyleId>
              </a:tblPr>
              <a:tblGrid>
                <a:gridCol w="1009015"/>
                <a:gridCol w="1348740"/>
                <a:gridCol w="815340"/>
                <a:gridCol w="667385"/>
                <a:gridCol w="760730"/>
                <a:gridCol w="987425"/>
              </a:tblGrid>
              <a:tr h="408305">
                <a:tc gridSpan="6">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软件资源估算（证联网）</a:t>
                      </a:r>
                      <a:endParaRPr lang="zh-CN" altLang="en-US" sz="10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marL="90170" marR="90170" marT="46990" marB="46990" anchor="ctr">
                    <a:solidFill>
                      <a:schemeClr val="accent2"/>
                    </a:solidFill>
                  </a:tcPr>
                </a:tc>
                <a:tc hMerge="1">
                  <a:tcPr marL="90170" marR="90170" marT="46990" marB="46990" anchor="ctr">
                    <a:solidFill>
                      <a:schemeClr val="accent2"/>
                    </a:solidFill>
                  </a:tcPr>
                </a:tc>
                <a:tc hMerge="1">
                  <a:tcPr/>
                </a:tc>
                <a:tc hMerge="1">
                  <a:tcPr marL="90170" marR="90170" marT="46990" marB="46990" anchor="ctr">
                    <a:solidFill>
                      <a:schemeClr val="accent2"/>
                    </a:solidFill>
                  </a:tcPr>
                </a:tc>
                <a:tc hMerge="1">
                  <a:tcPr marL="90170" marR="90170" marT="46990" marB="46990" anchor="ctr">
                    <a:solidFill>
                      <a:schemeClr val="accent2"/>
                    </a:solidFill>
                  </a:tcPr>
                </a:tc>
              </a:tr>
              <a:tr h="357505">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软件资源名称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grid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资源情况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版本合规性</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r>
              <a:tr h="356870">
                <a:tc vMerge="1">
                  <a:tcPr/>
                </a:tc>
                <a:tc vMerge="1">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版本号</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vMerge="1">
                  <a:tcPr/>
                </a:tc>
                <a:tc vMerge="1">
                  <a:tcPr/>
                </a:tc>
              </a:tr>
              <a:tr h="357505">
                <a:tc rowSpan="3">
                  <a:txBody>
                    <a:bodyPr/>
                    <a:lstStyle/>
                    <a:p>
                      <a:pPr marL="0" lvl="0" indent="0" algn="ctr" eaLnBrk="0" hangingPunct="0">
                        <a:spcBef>
                          <a:spcPct val="20000"/>
                        </a:spcBef>
                        <a:buNone/>
                      </a:pPr>
                      <a:r>
                        <a:rPr lang="zh-CN" sz="800" b="1">
                          <a:latin typeface="微软雅黑" panose="020B0503020204020204" pitchFamily="34" charset="-122"/>
                          <a:ea typeface="微软雅黑" panose="020B0503020204020204" pitchFamily="34" charset="-122"/>
                          <a:sym typeface="+mn-ea"/>
                        </a:rPr>
                        <a:t>数据</a:t>
                      </a:r>
                      <a:r>
                        <a:rPr lang="zh-CN" sz="800" b="1">
                          <a:latin typeface="微软雅黑" panose="020B0503020204020204" pitchFamily="34" charset="-122"/>
                          <a:ea typeface="微软雅黑" panose="020B0503020204020204" pitchFamily="34" charset="-122"/>
                          <a:sym typeface="+mn-ea"/>
                        </a:rPr>
                        <a:t>同步服务</a:t>
                      </a:r>
                      <a:endParaRPr lang="zh-CN" sz="800" b="1">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Tong Web</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7.0.4.6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rowSpan="2">
                  <a:txBody>
                    <a:bodyPr/>
                    <a:lstStyle/>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统信UOS</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20.1</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vMerge="1">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KingBase</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V8R6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8</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graphicFrame>
        <p:nvGraphicFramePr>
          <p:cNvPr id="6" name="表格 5"/>
          <p:cNvGraphicFramePr/>
          <p:nvPr/>
        </p:nvGraphicFramePr>
        <p:xfrm>
          <a:off x="298450" y="919163"/>
          <a:ext cx="5201920" cy="3747135"/>
        </p:xfrm>
        <a:graphic>
          <a:graphicData uri="http://schemas.openxmlformats.org/drawingml/2006/table">
            <a:tbl>
              <a:tblPr/>
              <a:tblGrid>
                <a:gridCol w="650240"/>
                <a:gridCol w="650240"/>
                <a:gridCol w="650240"/>
                <a:gridCol w="650240"/>
                <a:gridCol w="650240"/>
                <a:gridCol w="650240"/>
                <a:gridCol w="650240"/>
                <a:gridCol w="650240"/>
              </a:tblGrid>
              <a:tr h="232410">
                <a:tc gridSpan="8">
                  <a:txBody>
                    <a:bodyPr/>
                    <a:p>
                      <a:pPr algn="ctr" fontAlgn="ctr"/>
                      <a:r>
                        <a:rPr lang="zh-CN" altLang="en-US" sz="1000" b="1" i="0">
                          <a:solidFill>
                            <a:srgbClr val="FFFFFF"/>
                          </a:solidFill>
                          <a:latin typeface="微软雅黑" panose="020B0503020204020204" pitchFamily="34" charset="-122"/>
                          <a:ea typeface="微软雅黑" panose="020B0503020204020204" pitchFamily="34" charset="-122"/>
                        </a:rPr>
                        <a:t>硬件资源估算</a:t>
                      </a:r>
                      <a:endParaRPr lang="zh-CN" altLang="en-US" sz="1000" b="1"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6096E6"/>
                    </a:solidFill>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r>
              <a:tr h="232410">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资源划分</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硬件资源名称</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所在网段</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grid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已有资源</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grid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新增资源</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hMerge="1">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rowSpan="2">
                  <a:txBody>
                    <a:bodyPr/>
                    <a:p>
                      <a:pPr algn="ctr" fontAlgn="ctr"/>
                      <a:r>
                        <a:rPr lang="zh-CN" altLang="en-US" sz="800" b="0" i="0">
                          <a:solidFill>
                            <a:srgbClr val="FFFFFF"/>
                          </a:solidFill>
                          <a:latin typeface="微软雅黑" panose="020B0503020204020204" pitchFamily="34" charset="-122"/>
                          <a:ea typeface="微软雅黑" panose="020B0503020204020204" pitchFamily="34" charset="-122"/>
                        </a:rPr>
                        <a:t>备注</a:t>
                      </a:r>
                      <a:endParaRPr lang="zh-CN" altLang="en-US" sz="800" b="0" i="0">
                        <a:solidFill>
                          <a:srgbClr val="FFFFFF"/>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r>
              <a:tr h="222885">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配置</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数量</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配置</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a:txBody>
                    <a:bodyPr/>
                    <a:p>
                      <a:pPr algn="ctr" fontAlgn="ctr"/>
                      <a:r>
                        <a:rPr lang="zh-CN" altLang="en-US" sz="800" b="0" i="0">
                          <a:solidFill>
                            <a:srgbClr val="000000"/>
                          </a:solidFill>
                          <a:latin typeface="微软雅黑" panose="020B0503020204020204" pitchFamily="34" charset="-122"/>
                          <a:ea typeface="微软雅黑" panose="020B0503020204020204" pitchFamily="34" charset="-122"/>
                        </a:rPr>
                        <a:t>数量</a:t>
                      </a:r>
                      <a:endParaRPr lang="zh-CN" altLang="en-US" sz="8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A0C0F0"/>
                    </a:solidFill>
                  </a:tcPr>
                </a:tc>
                <a:tc vMerge="1">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r>
              <a:tr h="33337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16</a:t>
                      </a:r>
                      <a:r>
                        <a:rPr lang="zh-CN" altLang="en-US" sz="800" b="0" i="0">
                          <a:solidFill>
                            <a:srgbClr val="000000"/>
                          </a:solidFill>
                          <a:latin typeface="宋体" panose="02010600030101010101" pitchFamily="2" charset="-122"/>
                          <a:ea typeface="宋体" panose="02010600030101010101" pitchFamily="2" charset="-122"/>
                        </a:rPr>
                        <a:t>核</a:t>
                      </a:r>
                      <a:r>
                        <a:rPr lang="en-US" altLang="zh-CN" sz="800" b="0" i="0">
                          <a:solidFill>
                            <a:srgbClr val="000000"/>
                          </a:solidFill>
                          <a:latin typeface="宋体" panose="02010600030101010101" pitchFamily="2" charset="-122"/>
                          <a:ea typeface="宋体" panose="02010600030101010101" pitchFamily="2" charset="-122"/>
                        </a:rPr>
                        <a:t>32g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证联网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a:solidFill>
                            <a:srgbClr val="000000"/>
                          </a:solidFill>
                          <a:latin typeface="宋体" panose="02010600030101010101" pitchFamily="2" charset="-122"/>
                          <a:ea typeface="宋体" panose="02010600030101010101" pitchFamily="2" charset="-122"/>
                          <a:sym typeface="+mn-ea"/>
                        </a:rPr>
                        <a:t>16</a:t>
                      </a:r>
                      <a:r>
                        <a:rPr lang="zh-CN" altLang="en-US" sz="800">
                          <a:solidFill>
                            <a:srgbClr val="000000"/>
                          </a:solidFill>
                          <a:latin typeface="宋体" panose="02010600030101010101" pitchFamily="2" charset="-122"/>
                          <a:ea typeface="宋体" panose="02010600030101010101" pitchFamily="2" charset="-122"/>
                          <a:sym typeface="+mn-ea"/>
                        </a:rPr>
                        <a:t>核</a:t>
                      </a:r>
                      <a:r>
                        <a:rPr lang="en-US" altLang="zh-CN" sz="800">
                          <a:solidFill>
                            <a:srgbClr val="000000"/>
                          </a:solidFill>
                          <a:latin typeface="宋体" panose="02010600030101010101" pitchFamily="2" charset="-122"/>
                          <a:ea typeface="宋体" panose="02010600030101010101" pitchFamily="2" charset="-122"/>
                          <a:sym typeface="+mn-ea"/>
                        </a:rPr>
                        <a:t>32g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互联网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a:solidFill>
                            <a:srgbClr val="000000"/>
                          </a:solidFill>
                          <a:latin typeface="宋体" panose="02010600030101010101" pitchFamily="2" charset="-122"/>
                          <a:ea typeface="宋体" panose="02010600030101010101" pitchFamily="2" charset="-122"/>
                          <a:sym typeface="+mn-ea"/>
                        </a:rPr>
                        <a:t>16</a:t>
                      </a:r>
                      <a:r>
                        <a:rPr lang="zh-CN" altLang="en-US" sz="800">
                          <a:solidFill>
                            <a:srgbClr val="000000"/>
                          </a:solidFill>
                          <a:latin typeface="宋体" panose="02010600030101010101" pitchFamily="2" charset="-122"/>
                          <a:ea typeface="宋体" panose="02010600030101010101" pitchFamily="2" charset="-122"/>
                          <a:sym typeface="+mn-ea"/>
                        </a:rPr>
                        <a:t>核</a:t>
                      </a:r>
                      <a:r>
                        <a:rPr lang="en-US" altLang="zh-CN" sz="800">
                          <a:solidFill>
                            <a:srgbClr val="000000"/>
                          </a:solidFill>
                          <a:latin typeface="宋体" panose="02010600030101010101" pitchFamily="2" charset="-122"/>
                          <a:ea typeface="宋体" panose="02010600030101010101" pitchFamily="2" charset="-122"/>
                          <a:sym typeface="+mn-ea"/>
                        </a:rPr>
                        <a:t>32g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非涉密内网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314325">
                <a:tc>
                  <a:txBody>
                    <a:bodyPr/>
                    <a:p>
                      <a:pPr algn="ctr" fontAlgn="t"/>
                      <a:r>
                        <a:rPr lang="zh-CN" altLang="en-US" sz="800" b="0" i="0">
                          <a:solidFill>
                            <a:srgbClr val="000000"/>
                          </a:solidFill>
                          <a:latin typeface="宋体" panose="02010600030101010101" pitchFamily="2" charset="-122"/>
                          <a:ea typeface="宋体" panose="02010600030101010101" pitchFamily="2" charset="-122"/>
                        </a:rPr>
                        <a:t>人大金仓加载卸载工具</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a:solidFill>
                            <a:srgbClr val="000000"/>
                          </a:solidFill>
                          <a:latin typeface="宋体" panose="02010600030101010101" pitchFamily="2" charset="-122"/>
                          <a:ea typeface="宋体" panose="02010600030101010101" pitchFamily="2" charset="-122"/>
                          <a:sym typeface="+mn-ea"/>
                        </a:rPr>
                        <a:t>16</a:t>
                      </a:r>
                      <a:r>
                        <a:rPr lang="zh-CN" altLang="en-US" sz="800">
                          <a:solidFill>
                            <a:srgbClr val="000000"/>
                          </a:solidFill>
                          <a:latin typeface="宋体" panose="02010600030101010101" pitchFamily="2" charset="-122"/>
                          <a:ea typeface="宋体" panose="02010600030101010101" pitchFamily="2" charset="-122"/>
                          <a:sym typeface="+mn-ea"/>
                        </a:rPr>
                        <a:t>核</a:t>
                      </a:r>
                      <a:r>
                        <a:rPr lang="en-US" altLang="zh-CN" sz="800">
                          <a:solidFill>
                            <a:srgbClr val="000000"/>
                          </a:solidFill>
                          <a:latin typeface="宋体" panose="02010600030101010101" pitchFamily="2" charset="-122"/>
                          <a:ea typeface="宋体" panose="02010600030101010101" pitchFamily="2" charset="-122"/>
                          <a:sym typeface="+mn-ea"/>
                        </a:rPr>
                        <a:t>32g</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KingBase</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服务器</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2</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r h="222885">
                <a:tc>
                  <a:txBody>
                    <a:bodyPr/>
                    <a:p>
                      <a:pPr algn="ctr" fontAlgn="t"/>
                      <a:r>
                        <a:rPr lang="en-US" altLang="zh-CN" sz="800" b="0" i="0">
                          <a:solidFill>
                            <a:srgbClr val="000000"/>
                          </a:solidFill>
                          <a:latin typeface="宋体" panose="02010600030101010101" pitchFamily="2" charset="-122"/>
                          <a:ea typeface="宋体" panose="02010600030101010101" pitchFamily="2" charset="-122"/>
                        </a:rPr>
                        <a:t>nas</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t"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zh-CN" altLang="en-US" sz="800" b="0" i="0">
                          <a:solidFill>
                            <a:srgbClr val="000000"/>
                          </a:solidFill>
                          <a:latin typeface="宋体" panose="02010600030101010101" pitchFamily="2" charset="-122"/>
                          <a:ea typeface="宋体" panose="02010600030101010101" pitchFamily="2" charset="-122"/>
                        </a:rPr>
                        <a:t>涉密内网</a:t>
                      </a:r>
                      <a:endParaRPr lang="zh-CN" altLang="en-US"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1T</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ctr" fontAlgn="ctr"/>
                      <a:r>
                        <a:rPr lang="en-US" altLang="zh-CN" sz="800" b="0" i="0">
                          <a:solidFill>
                            <a:srgbClr val="000000"/>
                          </a:solidFill>
                          <a:latin typeface="宋体" panose="02010600030101010101" pitchFamily="2" charset="-122"/>
                          <a:ea typeface="宋体" panose="02010600030101010101" pitchFamily="2" charset="-122"/>
                        </a:rPr>
                        <a:t>1</a:t>
                      </a:r>
                      <a:endParaRPr lang="en-US" altLang="zh-CN" sz="8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13017" marR="13017" marT="13017" marB="0" anchor="ctr" anchorCtr="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solidFill>
                      <a:srgbClr val="EAEFFA"/>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atin typeface="Arial" panose="020B0604020202090204" charset="-122"/>
                <a:sym typeface="宋体" panose="02010600030101010101" pitchFamily="2" charset="-122"/>
              </a:rPr>
              <a:t>非功能需求</a:t>
            </a:r>
            <a:endParaRPr>
              <a:latin typeface="Arial" panose="020B0604020202090204" charset="-122"/>
              <a:sym typeface="宋体" panose="02010600030101010101" pitchFamily="2" charset="-122"/>
            </a:endParaRPr>
          </a:p>
        </p:txBody>
      </p:sp>
      <p:graphicFrame>
        <p:nvGraphicFramePr>
          <p:cNvPr id="6" name="表格 5"/>
          <p:cNvGraphicFramePr/>
          <p:nvPr>
            <p:custDataLst>
              <p:tags r:id="rId1"/>
            </p:custDataLst>
          </p:nvPr>
        </p:nvGraphicFramePr>
        <p:xfrm>
          <a:off x="339725" y="841375"/>
          <a:ext cx="5455920" cy="5529580"/>
        </p:xfrm>
        <a:graphic>
          <a:graphicData uri="http://schemas.openxmlformats.org/drawingml/2006/table">
            <a:tbl>
              <a:tblPr/>
              <a:tblGrid>
                <a:gridCol w="652780"/>
                <a:gridCol w="1733550"/>
                <a:gridCol w="1384300"/>
                <a:gridCol w="1685290"/>
              </a:tblGrid>
              <a:tr h="28194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4">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用户数量</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总用户数量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应用系统应支持的总用户数量为10000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平均在线用户数量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应用系统应支持的平均每日在线用户数量为10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峰值在线用户数量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应用系统应支持的峰值在线用户数量100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其它自定义可以衡量用户数量内容</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row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响应时间</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一般功能点响应最长时间不超过500毫秒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一般功能点响应平均时间不超过300毫秒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响应最长时间不超过2</a:t>
                      </a:r>
                      <a:r>
                        <a:rPr lang="en-US" sz="900">
                          <a:latin typeface="宋体" panose="02010600030101010101" pitchFamily="2" charset="-122"/>
                          <a:ea typeface="宋体" panose="02010600030101010101" pitchFamily="2" charset="-122"/>
                          <a:cs typeface="宋体" panose="02010600030101010101" pitchFamily="2" charset="-122"/>
                        </a:rPr>
                        <a:t>0</a:t>
                      </a:r>
                      <a:r>
                        <a:rPr lang="en-US" sz="900" b="0">
                          <a:latin typeface="宋体" panose="02010600030101010101" pitchFamily="2" charset="-122"/>
                          <a:ea typeface="宋体" panose="02010600030101010101" pitchFamily="2" charset="-122"/>
                          <a:cs typeface="宋体" panose="02010600030101010101" pitchFamily="2" charset="-122"/>
                        </a:rPr>
                        <a:t>毫秒，单条数据不超过1KB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响应平均时间不超过10毫秒</a:t>
                      </a:r>
                      <a:r>
                        <a:rPr lang="zh-CN" altLang="en-US" sz="900" b="0">
                          <a:latin typeface="宋体" panose="02010600030101010101" pitchFamily="2" charset="-122"/>
                          <a:ea typeface="宋体" panose="02010600030101010101" pitchFamily="2" charset="-122"/>
                          <a:cs typeface="宋体" panose="02010600030101010101" pitchFamily="2" charset="-122"/>
                        </a:rPr>
                        <a:t>，</a:t>
                      </a:r>
                      <a:r>
                        <a:rPr lang="en-US" sz="900">
                          <a:latin typeface="宋体" panose="02010600030101010101" pitchFamily="2" charset="-122"/>
                          <a:ea typeface="宋体" panose="02010600030101010101" pitchFamily="2" charset="-122"/>
                          <a:cs typeface="宋体" panose="02010600030101010101" pitchFamily="2" charset="-122"/>
                          <a:sym typeface="+mn-ea"/>
                        </a:rPr>
                        <a:t>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7">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批量处理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是否提供报表功能</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报表生成格式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报表生成频度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2">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网络带宽</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网络带宽申请类别</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a:latin typeface="宋体" panose="02010600030101010101" pitchFamily="2" charset="-122"/>
                          <a:ea typeface="宋体" panose="02010600030101010101" pitchFamily="2" charset="-122"/>
                          <a:cs typeface="宋体" panose="02010600030101010101" pitchFamily="2" charset="-122"/>
                          <a:sym typeface="+mn-ea"/>
                        </a:rPr>
                        <a:t>否</a:t>
                      </a:r>
                      <a:endParaRPr lang="zh-CN" altLang="en-US" sz="90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证网、</a:t>
                      </a:r>
                      <a:r>
                        <a:rPr lang="zh-CN" altLang="en-US" sz="900" b="0">
                          <a:latin typeface="宋体" panose="02010600030101010101" pitchFamily="2" charset="-122"/>
                          <a:ea typeface="宋体" panose="02010600030101010101" pitchFamily="2" charset="-122"/>
                          <a:cs typeface="宋体" panose="02010600030101010101" pitchFamily="2" charset="-122"/>
                        </a:rPr>
                        <a:t>政务外网</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546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4671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会话管理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用户在什么情况下，服务端结束当前会话状态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选项：退出系统、退出客户端、关闭浏览器、其他情况详细说明</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9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与应用系统通信的另一方在长时间内没有信息交换时，应用系统如何处理会话状态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处理会话状态选项：保持、结束、冻结、挂起及其他处理方式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其它自定义为会话管理的需求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7" name="表格 6"/>
          <p:cNvGraphicFramePr/>
          <p:nvPr/>
        </p:nvGraphicFramePr>
        <p:xfrm>
          <a:off x="6294120" y="878713"/>
          <a:ext cx="4842510" cy="5371465"/>
        </p:xfrm>
        <a:graphic>
          <a:graphicData uri="http://schemas.openxmlformats.org/drawingml/2006/table">
            <a:tbl>
              <a:tblPr/>
              <a:tblGrid>
                <a:gridCol w="579755"/>
                <a:gridCol w="1538605"/>
                <a:gridCol w="1228725"/>
                <a:gridCol w="1495425"/>
              </a:tblGrid>
              <a:tr h="26162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60985">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发展预期</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用户增长趋势，在投产后的一定周期（半年、一年、两年等）后，预计总用户数量、峰值用户数量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r>
                        <a:rPr lang="zh-CN" altLang="en-US" sz="900" b="0">
                          <a:latin typeface="宋体" panose="02010600030101010101" pitchFamily="2" charset="-122"/>
                          <a:ea typeface="宋体" panose="02010600030101010101" pitchFamily="2" charset="-122"/>
                          <a:cs typeface="宋体" panose="02010600030101010101" pitchFamily="2" charset="-122"/>
                        </a:rPr>
                        <a:t>目前仅税务总局使用</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存储增长趋势，在投产后的一定周期（半年、一年、两年等）后，预计在线、离线存储量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文件频率为季度和年度。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网络带宽增长趋势，在投产后的一定周期（半年、一年、两年等）后，预计网络带宽增长需求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应用监控</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应用监控应具备日志标准化输出功能，日志应要素完备、格式简明，能够快速用于监控功能研发实现</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遵循应用日志监控要求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954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cap="flat">
                      <a:noFill/>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是否接入监控</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是否设计了状态检测</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8">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数据</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应用系统产生的数据类型分类</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结构化数据（数据库表）</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数据来源</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配置信息和执行</a:t>
                      </a:r>
                      <a:r>
                        <a:rPr lang="zh-CN" altLang="en-US" sz="900" b="0">
                          <a:latin typeface="宋体" panose="02010600030101010101" pitchFamily="2" charset="-122"/>
                          <a:ea typeface="宋体" panose="02010600030101010101" pitchFamily="2" charset="-122"/>
                          <a:cs typeface="宋体" panose="02010600030101010101" pitchFamily="2" charset="-122"/>
                        </a:rPr>
                        <a:t>信息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48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数据保存时间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平台自身数据永久保存</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28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跨网段数据同步机制</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数据保护措施，为防止数据被破坏，需从硬件和软件、系统级和应用级两方面对系统数据进行保护。</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数据清理方式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01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数据规模</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en-US" sz="900" b="0">
                          <a:latin typeface="宋体" panose="02010600030101010101" pitchFamily="2" charset="-122"/>
                          <a:ea typeface="宋体" panose="02010600030101010101" pitchFamily="2" charset="-122"/>
                          <a:cs typeface="宋体" panose="02010600030101010101" pitchFamily="2" charset="-122"/>
                        </a:rPr>
                        <a:t>100M</a:t>
                      </a:r>
                      <a:r>
                        <a:rPr lang="zh-CN" altLang="en-US" sz="900" b="0">
                          <a:latin typeface="宋体" panose="02010600030101010101" pitchFamily="2" charset="-122"/>
                          <a:ea typeface="宋体" panose="02010600030101010101" pitchFamily="2" charset="-122"/>
                          <a:cs typeface="宋体" panose="02010600030101010101" pitchFamily="2" charset="-122"/>
                        </a:rPr>
                        <a:t>（按年度统计）</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数据发展预期</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时间计划</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预期成果</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3.1</a:t>
            </a:r>
            <a:r>
              <a:rPr lang="zh-CN" altLang="en-US" dirty="0">
                <a:latin typeface="Arial" panose="020B0604020202090204" pitchFamily="34" charset="0"/>
                <a:sym typeface="宋体" panose="02010600030101010101" pitchFamily="2" charset="-122"/>
              </a:rPr>
              <a:t>时间计划</a:t>
            </a:r>
            <a:endParaRPr lang="zh-CN" altLang="en-US" dirty="0">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26</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aphicFrame>
        <p:nvGraphicFramePr>
          <p:cNvPr id="3" name="内容占位符 48130"/>
          <p:cNvGraphicFramePr/>
          <p:nvPr>
            <p:custDataLst>
              <p:tags r:id="rId1"/>
            </p:custDataLst>
          </p:nvPr>
        </p:nvGraphicFramePr>
        <p:xfrm>
          <a:off x="1751330" y="943293"/>
          <a:ext cx="8688705" cy="5637530"/>
        </p:xfrm>
        <a:graphic>
          <a:graphicData uri="http://schemas.openxmlformats.org/drawingml/2006/table">
            <a:tbl>
              <a:tblPr firstRow="1" bandRow="1">
                <a:tableStyleId>{5C22544A-7EE6-4342-B048-85BDC9FD1C3A}</a:tableStyleId>
              </a:tblPr>
              <a:tblGrid>
                <a:gridCol w="985520"/>
                <a:gridCol w="1101090"/>
                <a:gridCol w="1118870"/>
                <a:gridCol w="1076325"/>
                <a:gridCol w="1939925"/>
                <a:gridCol w="1522730"/>
                <a:gridCol w="944245"/>
              </a:tblGrid>
              <a:tr h="596265">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阶段</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活动</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开始时间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结束时间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工作成果</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参与方</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是否里程碑</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r>
              <a:tr h="440690">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计划阶段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需求研制</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a:t>
                      </a:r>
                      <a:endParaRPr lang="en-US" altLang="x-none"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需求文档</a:t>
                      </a:r>
                      <a:endParaRPr lang="en-US" altLang="zh-CN"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0">
                <a:tc vMerge="1">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总体方案设计</a:t>
                      </a:r>
                      <a:endParaRPr lang="zh-CN" altLang="en-US" sz="1200" dirty="0">
                        <a:latin typeface="微软雅黑" panose="020B0503020204020204" pitchFamily="34" charset="-122"/>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总体方案</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rowSpan="2">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rowSpan="2">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455295">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设计阶段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0"/>
                </a:tc>
                <a:tc vMerge="1">
                  <a:tcPr marL="91451" marR="91451" marT="45725" marB="45725" vert="horz" anchor="ctr" anchorCtr="1"/>
                </a:tc>
                <a:tc vMerge="1">
                  <a:tcPr marL="91451" marR="91451" marT="45725" marB="45725" vert="horz" anchor="ctr" anchorCtr="1"/>
                </a:tc>
              </a:tr>
              <a:tr h="406400">
                <a:tc vMerge="1">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系统设计</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系统设计</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835660">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编码实施</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开发编码</a:t>
                      </a:r>
                      <a:endParaRPr lang="zh-CN" altLang="en-US" sz="1200" dirty="0">
                        <a:latin typeface="微软雅黑" panose="020B0503020204020204" pitchFamily="34" charset="-122"/>
                        <a:ea typeface="微软雅黑" panose="020B0503020204020204" pitchFamily="34" charset="-122"/>
                      </a:endParaRPr>
                    </a:p>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集成测试</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ea typeface="微软雅黑" panose="020B0503020204020204" pitchFamily="34" charset="-122"/>
                          <a:sym typeface="+mn-ea"/>
                        </a:rPr>
                        <a:t>202</a:t>
                      </a:r>
                      <a:r>
                        <a:rPr lang="en-US" sz="1200" dirty="0">
                          <a:solidFill>
                            <a:srgbClr val="000000"/>
                          </a:solidFill>
                          <a:latin typeface="微软雅黑" panose="020B0503020204020204" pitchFamily="34" charset="-122"/>
                          <a:ea typeface="微软雅黑" panose="020B0503020204020204" pitchFamily="34" charset="-122"/>
                          <a:sym typeface="+mn-ea"/>
                        </a:rPr>
                        <a:t>6.5.1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程序清单、</a:t>
                      </a: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代码合规自查评估报告</a:t>
                      </a:r>
                      <a:endParaRPr lang="en-US" altLang="zh-CN" sz="1200" dirty="0">
                        <a:solidFill>
                          <a:srgbClr val="000000"/>
                        </a:solidFill>
                        <a:latin typeface="微软雅黑" panose="020B0503020204020204" pitchFamily="34" charset="-122"/>
                        <a:sym typeface="+mn-ea"/>
                      </a:endParaRPr>
                    </a:p>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566420">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测试阶段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sym typeface="+mn-ea"/>
                        </a:rPr>
                        <a:t>系统测试、业务验收</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系统测试报告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652780">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投产准备</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投产准备、投产实施</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5.5.20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投产文档、项目投产</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384810">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验证</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技术验证</a:t>
                      </a:r>
                      <a:endParaRPr lang="zh-CN" altLang="en-US" sz="1200" dirty="0">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5.20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sym typeface="+mn-ea"/>
                        </a:rPr>
                        <a:t>验证报告</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631825">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试运行</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项目结项</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验收考核文档、项目结项报告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时间计划</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预期成果</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3.2</a:t>
            </a:r>
            <a:r>
              <a:rPr lang="zh-CN" altLang="en-US" dirty="0">
                <a:latin typeface="Arial" panose="020B0604020202090204" pitchFamily="34" charset="0"/>
                <a:sym typeface="宋体" panose="02010600030101010101" pitchFamily="2" charset="-122"/>
              </a:rPr>
              <a:t>预期成果</a:t>
            </a:r>
            <a:endParaRPr lang="zh-CN" altLang="en-US">
              <a:sym typeface="宋体" panose="02010600030101010101" pitchFamily="2" charset="-122"/>
            </a:endParaRPr>
          </a:p>
        </p:txBody>
      </p:sp>
      <p:sp>
        <p:nvSpPr>
          <p:cNvPr id="228354" name="TextBox 3"/>
          <p:cNvSpPr/>
          <p:nvPr/>
        </p:nvSpPr>
        <p:spPr>
          <a:xfrm>
            <a:off x="492125" y="1425575"/>
            <a:ext cx="10268585" cy="1699895"/>
          </a:xfrm>
          <a:prstGeom prst="rect">
            <a:avLst/>
          </a:prstGeom>
          <a:noFill/>
          <a:ln w="19050" cap="flat" cmpd="sng">
            <a:solidFill>
              <a:srgbClr val="0556A7"/>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pPr>
            <a:endParaRPr lang="zh-CN" altLang="en-US" sz="1200" b="1" dirty="0">
              <a:latin typeface="微软雅黑" panose="020B0503020204020204" pitchFamily="34" charset="-122"/>
              <a:ea typeface="微软雅黑" panose="020B0503020204020204" pitchFamily="34" charset="-122"/>
              <a:sym typeface="Arial" panose="020B0604020202090204" charset="-122"/>
            </a:endParaRPr>
          </a:p>
        </p:txBody>
      </p:sp>
      <p:sp>
        <p:nvSpPr>
          <p:cNvPr id="228355" name="Text Box 16"/>
          <p:cNvSpPr/>
          <p:nvPr/>
        </p:nvSpPr>
        <p:spPr>
          <a:xfrm>
            <a:off x="460375" y="1020445"/>
            <a:ext cx="1275715" cy="35242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预期</a:t>
            </a: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成果：</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第页</a:t>
            </a:r>
            <a:endParaRPr lang="zh-CN" altLang="en-US" strike="noStrike" noProof="1" smtClean="0"/>
          </a:p>
        </p:txBody>
      </p:sp>
      <p:sp>
        <p:nvSpPr>
          <p:cNvPr id="3" name="文本框 2"/>
          <p:cNvSpPr txBox="1"/>
          <p:nvPr/>
        </p:nvSpPr>
        <p:spPr>
          <a:xfrm>
            <a:off x="655320" y="1704975"/>
            <a:ext cx="10267950" cy="844550"/>
          </a:xfrm>
          <a:prstGeom prst="rect">
            <a:avLst/>
          </a:prstGeom>
          <a:noFill/>
        </p:spPr>
        <p:txBody>
          <a:bodyPr wrap="square" rtlCol="0">
            <a:noAutofit/>
          </a:bodyPr>
          <a:p>
            <a:r>
              <a:rPr lang="zh-CN" altLang="en-US"/>
              <a:t>构建一套标准化、高安全、可扩展的人大金仓数据卸载与加载工具，</a:t>
            </a:r>
            <a:r>
              <a:rPr lang="zh-CN" altLang="en-US" dirty="0">
                <a:latin typeface="微软雅黑" panose="020B0503020204020204" pitchFamily="34" charset="-122"/>
                <a:ea typeface="微软雅黑" panose="020B0503020204020204" pitchFamily="34" charset="-122"/>
                <a:sym typeface="Arial" panose="020B0604020202090204" charset="-122"/>
              </a:rPr>
              <a:t>服务于大数据智慧监督平台和会内监管业务系统入一库，</a:t>
            </a:r>
            <a:r>
              <a:rPr lang="zh-CN" altLang="en-US"/>
              <a:t>解决各项目组重复开发脚本、安全标准不统一、非结构化文件落地困难等问题。</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请示事项</a:t>
            </a:r>
            <a:endParaRPr lang="zh-CN" altLang="en-US"/>
          </a:p>
        </p:txBody>
      </p:sp>
      <p:sp>
        <p:nvSpPr>
          <p:cNvPr id="4" name="灯片编号占位符 3"/>
          <p:cNvSpPr>
            <a:spLocks noGrp="1"/>
          </p:cNvSpPr>
          <p:nvPr>
            <p:ph type="sldNum" sz="quarter" idx="12"/>
          </p:nvPr>
        </p:nvSpPr>
        <p:spPr/>
        <p:txBody>
          <a:bodyPr/>
          <a:p>
            <a:pPr fontAlgn="auto"/>
            <a:endParaRPr lang="zh-CN" altLang="en-US" strike="noStrike" noProof="1" smtClean="0"/>
          </a:p>
        </p:txBody>
      </p:sp>
      <p:sp>
        <p:nvSpPr>
          <p:cNvPr id="228354" name="TextBox 3"/>
          <p:cNvSpPr/>
          <p:nvPr/>
        </p:nvSpPr>
        <p:spPr>
          <a:xfrm>
            <a:off x="698500" y="1079500"/>
            <a:ext cx="10431780" cy="1089025"/>
          </a:xfrm>
          <a:prstGeom prst="rect">
            <a:avLst/>
          </a:prstGeom>
          <a:noFill/>
          <a:ln w="19050" cap="flat" cmpd="sng">
            <a:solidFill>
              <a:schemeClr val="accent1"/>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altLang="en-US" b="1" dirty="0">
                <a:latin typeface="微软雅黑" panose="020B0503020204020204" pitchFamily="34" charset="-122"/>
                <a:ea typeface="微软雅黑" panose="020B0503020204020204" pitchFamily="34" charset="-122"/>
                <a:sym typeface="Arial" panose="020B0604020202090204" charset="-122"/>
              </a:rPr>
              <a:t>方案是否合理。</a:t>
            </a:r>
            <a:endParaRPr lang="zh-CN" altLang="en-US" b="1" dirty="0">
              <a:latin typeface="微软雅黑" panose="020B0503020204020204" pitchFamily="34" charset="-122"/>
              <a:ea typeface="微软雅黑" panose="020B0503020204020204" pitchFamily="34" charset="-122"/>
              <a:sym typeface="Arial" panose="020B060402020209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Picture 2" descr="未标题-2"/>
          <p:cNvPicPr>
            <a:picLocks noChangeAspect="1"/>
          </p:cNvPicPr>
          <p:nvPr/>
        </p:nvPicPr>
        <p:blipFill>
          <a:blip r:embed="rId1"/>
          <a:stretch>
            <a:fillRect/>
          </a:stretch>
        </p:blipFill>
        <p:spPr>
          <a:xfrm>
            <a:off x="0" y="5519420"/>
            <a:ext cx="12206605" cy="1338580"/>
          </a:xfrm>
          <a:prstGeom prst="rect">
            <a:avLst/>
          </a:prstGeom>
          <a:noFill/>
          <a:ln w="9525">
            <a:noFill/>
          </a:ln>
        </p:spPr>
      </p:pic>
      <p:sp>
        <p:nvSpPr>
          <p:cNvPr id="29698" name="Text Box 5"/>
          <p:cNvSpPr txBox="1"/>
          <p:nvPr/>
        </p:nvSpPr>
        <p:spPr>
          <a:xfrm>
            <a:off x="5297488" y="4086225"/>
            <a:ext cx="1758950" cy="831850"/>
          </a:xfrm>
          <a:prstGeom prst="rect">
            <a:avLst/>
          </a:prstGeom>
          <a:noFill/>
          <a:ln w="9525">
            <a:noFill/>
          </a:ln>
        </p:spPr>
        <p:txBody>
          <a:bodyPr wrap="none" anchor="t">
            <a:spAutoFit/>
          </a:bodyPr>
          <a:p>
            <a:r>
              <a:rPr lang="zh-CN" altLang="en-US" sz="4800" dirty="0">
                <a:solidFill>
                  <a:srgbClr val="002B69"/>
                </a:solidFill>
                <a:latin typeface="Arial" panose="020B0604020202090204" pitchFamily="34" charset="0"/>
                <a:ea typeface="微软雅黑" panose="020B0503020204020204" pitchFamily="34" charset="-122"/>
              </a:rPr>
              <a:t>谢  谢</a:t>
            </a:r>
            <a:endParaRPr lang="zh-CN" altLang="zh-CN" sz="4800" dirty="0">
              <a:solidFill>
                <a:srgbClr val="002B69"/>
              </a:solidFill>
              <a:latin typeface="Arial" panose="020B0604020202090204" pitchFamily="34" charset="0"/>
              <a:ea typeface="微软雅黑" panose="020B0503020204020204" pitchFamily="34" charset="-122"/>
            </a:endParaRPr>
          </a:p>
        </p:txBody>
      </p:sp>
      <p:pic>
        <p:nvPicPr>
          <p:cNvPr id="29699" name="Picture 6" descr="未标题-2"/>
          <p:cNvPicPr>
            <a:picLocks noChangeAspect="1"/>
          </p:cNvPicPr>
          <p:nvPr/>
        </p:nvPicPr>
        <p:blipFill>
          <a:blip r:embed="rId2"/>
          <a:stretch>
            <a:fillRect/>
          </a:stretch>
        </p:blipFill>
        <p:spPr>
          <a:xfrm>
            <a:off x="8311515" y="6036945"/>
            <a:ext cx="2781300" cy="303213"/>
          </a:xfrm>
          <a:prstGeom prst="rect">
            <a:avLst/>
          </a:prstGeom>
          <a:noFill/>
          <a:ln w="9525">
            <a:noFill/>
          </a:ln>
        </p:spPr>
      </p:pic>
      <p:sp>
        <p:nvSpPr>
          <p:cNvPr id="29700" name="Text Box 7"/>
          <p:cNvSpPr txBox="1"/>
          <p:nvPr/>
        </p:nvSpPr>
        <p:spPr>
          <a:xfrm>
            <a:off x="1918018" y="6101080"/>
            <a:ext cx="1519237" cy="584200"/>
          </a:xfrm>
          <a:prstGeom prst="rect">
            <a:avLst/>
          </a:prstGeom>
          <a:noFill/>
          <a:ln w="9525">
            <a:noFill/>
          </a:ln>
        </p:spPr>
        <p:txBody>
          <a:bodyPr wrap="none" anchor="t">
            <a:spAutoFit/>
          </a:bodyPr>
          <a:p>
            <a:r>
              <a:rPr lang="zh-CN" altLang="zh-CN" sz="1400" dirty="0">
                <a:solidFill>
                  <a:srgbClr val="FFFFFF"/>
                </a:solidFill>
                <a:latin typeface="Arial" panose="020B0604020202090204" pitchFamily="34" charset="0"/>
                <a:ea typeface="宋体" panose="02010600030101010101" pitchFamily="2" charset="-122"/>
              </a:rPr>
              <a:t>www.csits.</a:t>
            </a:r>
            <a:r>
              <a:rPr lang="en-US" altLang="zh-CN" sz="1400" dirty="0">
                <a:solidFill>
                  <a:srgbClr val="FFFFFF"/>
                </a:solidFill>
                <a:latin typeface="Arial" panose="020B0604020202090204" pitchFamily="34" charset="0"/>
                <a:ea typeface="宋体" panose="02010600030101010101" pitchFamily="2" charset="-122"/>
              </a:rPr>
              <a:t>org.cn</a:t>
            </a:r>
            <a:endParaRPr lang="zh-CN" altLang="zh-CN" sz="1400" dirty="0">
              <a:solidFill>
                <a:srgbClr val="FFFFFF"/>
              </a:solidFill>
              <a:latin typeface="Arial" panose="020B0604020202090204" pitchFamily="34" charset="0"/>
              <a:ea typeface="宋体" panose="02010600030101010101" pitchFamily="2" charset="-122"/>
            </a:endParaRPr>
          </a:p>
          <a:p>
            <a:endParaRPr lang="zh-CN" altLang="zh-CN" dirty="0">
              <a:solidFill>
                <a:srgbClr val="000000"/>
              </a:solidFill>
              <a:latin typeface="Arial" panose="020B0604020202090204" pitchFamily="34" charset="0"/>
              <a:ea typeface="宋体" panose="02010600030101010101" pitchFamily="2" charset="-122"/>
            </a:endParaRPr>
          </a:p>
        </p:txBody>
      </p:sp>
      <p:pic>
        <p:nvPicPr>
          <p:cNvPr id="29701" name="图片 1" descr="微信图片_20200527103432"/>
          <p:cNvPicPr>
            <a:picLocks noChangeAspect="1"/>
          </p:cNvPicPr>
          <p:nvPr/>
        </p:nvPicPr>
        <p:blipFill>
          <a:blip r:embed="rId3"/>
          <a:stretch>
            <a:fillRect/>
          </a:stretch>
        </p:blipFill>
        <p:spPr>
          <a:xfrm>
            <a:off x="2049463" y="0"/>
            <a:ext cx="7335837" cy="45847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202*456"/>
  <p:tag name="TABLE_ENDDRAG_RECT" val="0*58*202*456"/>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UNIT_TABLE_BEAUTIFY" val="smartTable{66b9837d-2cef-48b9-80ac-99b39771cc35}"/>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 name="KSO_WM_DIAGRAM_VIRTUALLY_FRAME" val="{&quot;height&quot;:135.6,&quot;left&quot;:65.55,&quot;top&quot;:300.1,&quot;width&quot;:734.7}"/>
</p:tagLst>
</file>

<file path=ppt/tags/tag122.xml><?xml version="1.0" encoding="utf-8"?>
<p:tagLst xmlns:p="http://schemas.openxmlformats.org/presentationml/2006/main">
  <p:tag name="KSO_WM_BEAUTIFY_FLAG" val=""/>
  <p:tag name="KSO_WM_DIAGRAM_VIRTUALLY_FRAME" val="{&quot;height&quot;:135.6,&quot;left&quot;:65.55,&quot;top&quot;:300.1,&quot;width&quot;:734.7}"/>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 name="KSO_WM_DIAGRAM_VIRTUALLY_FRAME" val="{&quot;height&quot;:135.6,&quot;left&quot;:65.55,&quot;top&quot;:300.1,&quot;width&quot;:734.7}"/>
</p:tagLst>
</file>

<file path=ppt/tags/tag126.xml><?xml version="1.0" encoding="utf-8"?>
<p:tagLst xmlns:p="http://schemas.openxmlformats.org/presentationml/2006/main">
  <p:tag name="KSO_WM_BEAUTIFY_FLAG" val=""/>
  <p:tag name="KSO_WM_DIAGRAM_VIRTUALLY_FRAME" val="{&quot;height&quot;:135.6,&quot;left&quot;:65.55,&quot;top&quot;:300.1,&quot;width&quot;:734.7}"/>
</p:tagLst>
</file>

<file path=ppt/tags/tag127.xml><?xml version="1.0" encoding="utf-8"?>
<p:tagLst xmlns:p="http://schemas.openxmlformats.org/presentationml/2006/main">
  <p:tag name="KSO_WM_BEAUTIFY_FLAG" val=""/>
  <p:tag name="KSO_WM_DIAGRAM_VIRTUALLY_FRAME" val="{&quot;height&quot;:135.6,&quot;left&quot;:65.55,&quot;top&quot;:300.1,&quot;width&quot;:734.7}"/>
</p:tagLst>
</file>

<file path=ppt/tags/tag128.xml><?xml version="1.0" encoding="utf-8"?>
<p:tagLst xmlns:p="http://schemas.openxmlformats.org/presentationml/2006/main">
  <p:tag name="KSO_WM_BEAUTIFY_FLAG" val=""/>
  <p:tag name="KSO_WM_DIAGRAM_VIRTUALLY_FRAME" val="{&quot;height&quot;:135.6,&quot;left&quot;:65.55,&quot;top&quot;:300.1,&quot;width&quot;:734.7}"/>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UNIT_TABLE_BEAUTIFY" val="smartTable{43f073fd-112d-433c-a3e3-7d60374f5409}"/>
  <p:tag name="TABLE_ENDDRAG_ORIGIN_RECT" val="923*479"/>
  <p:tag name="TABLE_ENDDRAG_RECT" val="17*64*923*479"/>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UNIT_TABLE_BEAUTIFY" val="smartTable{f0ce9259-0b9f-4999-97c8-8c46c4fb3ac0}"/>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UNIT_TABLE_BEAUTIFY" val="smartTable{62c881bb-4d50-4f7c-9e9b-6762aeb3a2df}"/>
  <p:tag name="TABLE_ENDDRAG_ORIGIN_RECT" val="478*341"/>
  <p:tag name="TABLE_ENDDRAG_RECT" val="451*115*478*341"/>
  <p:tag name="KSO_WM_BEAUTIFY_FLAG" val=""/>
</p:tagLst>
</file>

<file path=ppt/tags/tag263.xml><?xml version="1.0" encoding="utf-8"?>
<p:tagLst xmlns:p="http://schemas.openxmlformats.org/presentationml/2006/main">
  <p:tag name="TABLE_ENDDRAG_ORIGIN_RECT" val="429*400"/>
  <p:tag name="TABLE_ENDDRAG_RECT" val="26*74*429*400"/>
</p:tagLst>
</file>

<file path=ppt/tags/tag264.xml><?xml version="1.0" encoding="utf-8"?>
<p:tagLst xmlns:p="http://schemas.openxmlformats.org/presentationml/2006/main">
  <p:tag name="KSO_WM_UNIT_TABLE_BEAUTIFY" val="smartTable{5e3ec443-624a-4c47-aa6e-995707a52145}"/>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6295</Words>
  <Application>WPS 演示</Application>
  <PresentationFormat>宽屏</PresentationFormat>
  <Paragraphs>2028</Paragraphs>
  <Slides>31</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7</vt:i4>
      </vt:variant>
      <vt:variant>
        <vt:lpstr>幻灯片标题</vt:lpstr>
      </vt:variant>
      <vt:variant>
        <vt:i4>31</vt:i4>
      </vt:variant>
    </vt:vector>
  </HeadingPairs>
  <TitlesOfParts>
    <vt:vector size="59" baseType="lpstr">
      <vt:lpstr>Arial</vt:lpstr>
      <vt:lpstr>宋体</vt:lpstr>
      <vt:lpstr>Wingdings</vt:lpstr>
      <vt:lpstr>微软雅黑</vt:lpstr>
      <vt:lpstr>黑体</vt:lpstr>
      <vt:lpstr>Wingdings</vt:lpstr>
      <vt:lpstr>Times New Roman</vt:lpstr>
      <vt:lpstr>华文细黑</vt:lpstr>
      <vt:lpstr>Arial</vt:lpstr>
      <vt:lpstr>等线</vt:lpstr>
      <vt:lpstr>汉仪中等线KW</vt:lpstr>
      <vt:lpstr>Arial Unicode MS</vt:lpstr>
      <vt:lpstr>Calibri</vt:lpstr>
      <vt:lpstr>华文楷体</vt:lpstr>
      <vt:lpstr>仿宋</vt:lpstr>
      <vt:lpstr>Arial</vt:lpstr>
      <vt:lpstr>黑体-简</vt:lpstr>
      <vt:lpstr>Times New Roman</vt:lpstr>
      <vt:lpstr>华文细黑</vt:lpstr>
      <vt:lpstr>等线</vt:lpstr>
      <vt:lpstr>Office 主题​​</vt:lpstr>
      <vt:lpstr>Visio.Drawing.11</vt:lpstr>
      <vt:lpstr>Visio.Drawing.11</vt:lpstr>
      <vt:lpstr>Visio.Drawing.11</vt:lpstr>
      <vt:lpstr>Visio.Drawing.11</vt:lpstr>
      <vt:lpstr>Visio.Drawing.11</vt:lpstr>
      <vt:lpstr>Visio.Drawing.11</vt:lpstr>
      <vt:lpstr>Visio.Drawing.11</vt:lpstr>
      <vt:lpstr>人大金仓数据卸载加载 总体方案设计                            业务支撑系统-公共模块</vt:lpstr>
      <vt:lpstr>PowerPoint 演示文稿</vt:lpstr>
      <vt:lpstr>1.1基本情况</vt:lpstr>
      <vt:lpstr>PowerPoint 演示文稿</vt:lpstr>
      <vt:lpstr> 1.2业务规划</vt:lpstr>
      <vt:lpstr>目录页</vt:lpstr>
      <vt:lpstr>2.1人大金仓数据卸载加载工具整体架构</vt:lpstr>
      <vt:lpstr> 2.1总体架构</vt:lpstr>
      <vt:lpstr>目录页</vt:lpstr>
      <vt:lpstr>PowerPoint 演示文稿</vt:lpstr>
      <vt:lpstr>目录页</vt:lpstr>
      <vt:lpstr>2.2数据架构</vt:lpstr>
      <vt:lpstr>2.2数据架构-数据流向</vt:lpstr>
      <vt:lpstr> 2.2数据架构-数据流向</vt:lpstr>
      <vt:lpstr>目录页</vt:lpstr>
      <vt:lpstr>2.3基础架构-开发架构</vt:lpstr>
      <vt:lpstr>2.4基础架构-安全架构</vt:lpstr>
      <vt:lpstr>2.3基础架构-安全架构</vt:lpstr>
      <vt:lpstr>2.4基础架构-技术架构</vt:lpstr>
      <vt:lpstr>2.3基础架构-技术架构</vt:lpstr>
      <vt:lpstr>PowerPoint 演示文稿</vt:lpstr>
      <vt:lpstr>2.3部署架构</vt:lpstr>
      <vt:lpstr>2.3资源估算-软硬件估算</vt:lpstr>
      <vt:lpstr>2.4基础架构-非功能需求</vt:lpstr>
      <vt:lpstr>目录页</vt:lpstr>
      <vt:lpstr> 3.1时间计划</vt:lpstr>
      <vt:lpstr>目录页</vt:lpstr>
      <vt:lpstr> 3.2预期成果</vt:lpstr>
      <vt:lpstr>目录页</vt:lpstr>
      <vt:lpstr>请示事项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Renzb</cp:lastModifiedBy>
  <cp:revision>701</cp:revision>
  <dcterms:created xsi:type="dcterms:W3CDTF">2026-01-29T01:56:44Z</dcterms:created>
  <dcterms:modified xsi:type="dcterms:W3CDTF">2026-01-29T01:56:44Z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A1603DF82A83230A30317769750B90BF_43</vt:lpwstr>
  </property>
</Properties>
</file>