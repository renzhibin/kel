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赵韵东/技术总监室/软件开发中心/总行机关/ABC" initials="赵" lastIdx="2" clrIdx="0"/>
  <p:cmAuthor id="2" name="肖永刚/技术总监室/软件开发中心/总行机关/ABC" initials="肖" lastIdx="3" clrIdx="1"/>
  <p:cmAuthor id="3" name="谢俊/技术总监室/软件开发中心/总行机关/ABC" initials="谢" lastIdx="141" clrIdx="2"/>
  <p:cmAuthor id="4" name="CN=谢俊/OU=技术总监室/OU=软件开发中心/OU=总行机关/O=ABC" initials="C" lastIdx="3" clrIdx="3"/>
  <p:cmAuthor id="5" name="赖强/技术总监室/软件开发中心/总行机关/ABC" initials="赖" lastIdx="5" clrIdx="2"/>
  <p:cmAuthor id="6" name="黄诚/互联网金融研发部/软件开发中心/总行机关/ABC" initials="黄" lastIdx="4" clrIdx="0"/>
  <p:cmAuthor id="7" name="谢钊/应用平台研发部/软件开发中心/总行机关/ABC" initials="谢" lastIdx="10" clrIdx="6"/>
  <p:cmAuthor id="8" name="J" initials="J" lastIdx="10" clrIdx="0"/>
  <p:cmAuthor id="9" name="闫晓林/应用开发一部/软件开发中心/总行机关/ABC" initials="闫" lastIdx="509" clrIdx="1"/>
  <p:cmAuthor id="10" name="Mia Vida Villanueva" initials="M" lastIdx="1" clrIdx="0"/>
  <p:cmAuthor id="11" name="Hao Tang" initials="H" lastIdx="33" clrIdx="1"/>
  <p:cmAuthor id="12" name="kahlen qi" initials="k" lastIdx="2" clrIdx="2"/>
  <p:cmAuthor id="13" name="刘旭/应用平台研发部/软件开发中心/总行机关/ABC" initials="刘" lastIdx="1" clrIdx="0"/>
  <p:cmAuthor id="14" name="moogle" initials="m" lastIdx="1" clrIdx="6"/>
  <p:cmAuthor id="15" name="罗位国/应用平台研发部/软件开发中心/总行机关/ABC" initials="罗" lastIdx="1" clrIdx="1"/>
  <p:cmAuthor id="16" name="lenovo" initials="l" lastIdx="2" clrIdx="6"/>
  <p:cmAuthor id="17" name="ZhangqQi" initials="Z" lastIdx="1" clrIdx="7"/>
  <p:cmAuthor id="18" name="CN=周正贤/OU=架构管理办公室/OU=软件开发中心/OU=总行机关/O=ABC" initials="C" lastIdx="101" clrIdx="3"/>
  <p:cmAuthor id="19" name="fyl" initials="f" lastIdx="3" clrIdx="2"/>
  <p:cmAuthor id="20" name="杨宁/技术总监室/软件开发中心/总行机关/ABC" initials="杨" lastIdx="7" clrIdx="3"/>
  <p:cmAuthor id="21" name="011915056" initials="0" lastIdx="2" clrIdx="5"/>
  <p:cmAuthor id="22" name="wenzi" initials="w" lastIdx="8" clrIdx="0"/>
  <p:cmAuthor id="23" name="部室管理员/软件开发中心/总行机关/ABC" initials="部" lastIdx="1" clrIdx="5"/>
  <p:cmAuthor id="24" name="pearl" initials="p" lastIdx="5" clrIdx="26"/>
  <p:cmAuthor id="25" name="Shirley D Duo" initials="S" lastIdx="1" clrIdx="27"/>
  <p:cmAuthor id="26" name="周轶奇/上研技术保障部/研发中心/总行机关/ABC" initials="周" lastIdx="6" clrIdx="26"/>
  <p:cmAuthor id="27" name="杨庆辰" initials="杨" lastIdx="9" clrIdx="27"/>
  <p:cmAuthor id="28" name="霍桃梅/成研开发二部/研发中心/总行机关/ABC" initials="霍" lastIdx="5" clrIdx="28"/>
  <p:cmAuthor id="29" name="ketchup" initials="k" lastIdx="47" clrIdx="29"/>
  <p:cmAuthor id="30" name="Administrator" initials="A" lastIdx="1" clrIdx="29"/>
  <p:cmAuthor id="31" name="刘俐孜" initials="llz" lastIdx="1" clrIdx="30"/>
  <p:cmAuthor id="0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1" dt="2025-05-13T16:13:59.862" idx="1">
    <p:pos x="-1986" y="4322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highlight>
                  <a:srgbClr val="FFFF00"/>
                </a:highlight>
              </a:rPr>
              <a:t>当前页问题：总体架构与本页合并？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>
                <a:highlight>
                  <a:srgbClr val="FFFF00"/>
                </a:highlight>
              </a:rPr>
              <a:t>复杂的系统卡一下颗粒度，到底画到哪个程度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en-US" altLang="zh-CN"/>
              <a:t>1.</a:t>
            </a:r>
            <a:r>
              <a:rPr lang="zh-CN" altLang="en-US"/>
              <a:t>直线关系，不要折，直接自由曲线；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线上写数据内容、拉取</a:t>
            </a:r>
            <a:r>
              <a:rPr lang="en-US" altLang="zh-CN"/>
              <a:t>/</a:t>
            </a:r>
            <a:r>
              <a:rPr lang="zh-CN" altLang="en-US"/>
              <a:t>传输等描述；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数据库</a:t>
            </a:r>
            <a:r>
              <a:rPr lang="en-US" altLang="zh-CN"/>
              <a:t>/</a:t>
            </a:r>
            <a:r>
              <a:rPr lang="zh-CN" altLang="en-US"/>
              <a:t>采集系统等干什么用；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线的颜色图例：数据？服务？监管人员</a:t>
            </a:r>
            <a:r>
              <a:rPr lang="en-US" altLang="zh-CN"/>
              <a:t>/</a:t>
            </a:r>
            <a:r>
              <a:rPr lang="zh-CN" altLang="en-US"/>
              <a:t>用户的访问路径？（</a:t>
            </a:r>
            <a:r>
              <a:rPr lang="en-US" altLang="zh-CN"/>
              <a:t>ex.</a:t>
            </a:r>
            <a:r>
              <a:rPr lang="zh-CN" altLang="en-US"/>
              <a:t>黄色</a:t>
            </a:r>
            <a:r>
              <a:rPr lang="en-US" altLang="zh-CN"/>
              <a:t>-</a:t>
            </a:r>
            <a:r>
              <a:rPr lang="zh-CN" altLang="en-US"/>
              <a:t>数据流向；蓝色</a:t>
            </a:r>
            <a:r>
              <a:rPr lang="en-US" altLang="zh-CN"/>
              <a:t>-</a:t>
            </a:r>
            <a:r>
              <a:rPr lang="zh-CN" altLang="en-US"/>
              <a:t>；红色</a:t>
            </a:r>
            <a:r>
              <a:rPr lang="en-US" altLang="zh-CN"/>
              <a:t>-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标题占位符 1"/>
          <p:cNvSpPr txBox="1"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368925" y="90170"/>
            <a:ext cx="6577330" cy="62293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rgbClr val="002B6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68925" y="90170"/>
            <a:ext cx="6577330" cy="62293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rgbClr val="002B6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6277540" y="526855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 txBox="1"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368925" y="90170"/>
            <a:ext cx="6577330" cy="62293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rgbClr val="002B6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Picture 3" descr="未标题-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46063" y="565150"/>
            <a:ext cx="11699875" cy="211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8" descr="微信图片_2020052710343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14350" y="-71437"/>
            <a:ext cx="1514475" cy="94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1" name="Picture 3" descr="未标题-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588" y="6231573"/>
            <a:ext cx="12192000" cy="573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2" name="Text Box 7"/>
          <p:cNvSpPr txBox="1"/>
          <p:nvPr userDrawn="1"/>
        </p:nvSpPr>
        <p:spPr>
          <a:xfrm>
            <a:off x="590550" y="6509385"/>
            <a:ext cx="1579563" cy="31908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www.csits.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org.cn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3" name="矩形 6"/>
          <p:cNvSpPr/>
          <p:nvPr userDrawn="1"/>
        </p:nvSpPr>
        <p:spPr>
          <a:xfrm>
            <a:off x="9017000" y="6231890"/>
            <a:ext cx="3175000" cy="319088"/>
          </a:xfrm>
          <a:prstGeom prst="rect">
            <a:avLst/>
          </a:prstGeom>
          <a:noFill/>
          <a:ln w="9525">
            <a:noFill/>
          </a:ln>
        </p:spPr>
        <p:txBody>
          <a:bodyPr anchor="ctr" anchorCtr="1">
            <a:spAutoFit/>
          </a:bodyPr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中证信息技术服务有限责任公司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488611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20.xml"/><Relationship Id="rId7" Type="http://schemas.openxmlformats.org/officeDocument/2006/relationships/image" Target="../media/image6.png"/><Relationship Id="rId6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comments" Target="../comments/comment1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Arial" panose="020B0604020202090204" pitchFamily="34" charset="0"/>
                <a:sym typeface="宋体" panose="02010600030101010101" pitchFamily="2" charset="-122"/>
              </a:rPr>
              <a:t> </a:t>
            </a:r>
            <a:r>
              <a:rPr>
                <a:latin typeface="Arial" panose="020B0604020202090204" pitchFamily="34" charset="0"/>
                <a:sym typeface="宋体" panose="02010600030101010101" pitchFamily="2" charset="-122"/>
              </a:rPr>
              <a:t>政务信息数据共享整体架构</a:t>
            </a:r>
            <a:endParaRPr>
              <a:latin typeface="Arial" panose="020B0604020202090204" pitchFamily="34" charset="0"/>
              <a:sym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第</a:t>
            </a:r>
            <a:fld id="{7D9BB5D0-35E4-459D-AEF3-FE4D7C45CC19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</a:fld>
            <a:r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页</a:t>
            </a:r>
            <a:endParaRPr lang="zh-CN" altLang="en-US" strike="noStrike" noProof="1" smtClean="0"/>
          </a:p>
        </p:txBody>
      </p:sp>
      <p:sp>
        <p:nvSpPr>
          <p:cNvPr id="180" name="object 178"/>
          <p:cNvSpPr txBox="1"/>
          <p:nvPr>
            <p:custDataLst>
              <p:tags r:id="rId1"/>
            </p:custDataLst>
          </p:nvPr>
        </p:nvSpPr>
        <p:spPr>
          <a:xfrm>
            <a:off x="6865620" y="1259840"/>
            <a:ext cx="1906905" cy="273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-1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仿宋" panose="02010609060101010101" pitchFamily="1" charset="-122"/>
              </a:rPr>
              <a:t>证监会富凯证联网区</a:t>
            </a:r>
            <a:endParaRPr lang="zh-CN" altLang="en-US" sz="1600" b="1" spc="-1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仿宋" panose="02010609060101010101" pitchFamily="1" charset="-122"/>
            </a:endParaRPr>
          </a:p>
        </p:txBody>
      </p:sp>
      <p:sp>
        <p:nvSpPr>
          <p:cNvPr id="106" name="object 178"/>
          <p:cNvSpPr txBox="1"/>
          <p:nvPr>
            <p:custDataLst>
              <p:tags r:id="rId2"/>
            </p:custDataLst>
          </p:nvPr>
        </p:nvSpPr>
        <p:spPr>
          <a:xfrm>
            <a:off x="3040380" y="1282065"/>
            <a:ext cx="2207260" cy="273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-1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仿宋" panose="02010609060101010101" pitchFamily="1" charset="-122"/>
              </a:rPr>
              <a:t>证监会监管云证联网区</a:t>
            </a:r>
            <a:endParaRPr lang="zh-CN" altLang="en-US" sz="1600" b="1" spc="-1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仿宋" panose="02010609060101010101" pitchFamily="1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536065" y="2807335"/>
            <a:ext cx="15544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数据共享服务</a:t>
            </a:r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4451985" y="2816860"/>
            <a:ext cx="15544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ym typeface="+mn-ea"/>
              </a:rPr>
              <a:t>接口通道服务</a:t>
            </a:r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6445885" y="2807335"/>
            <a:ext cx="10972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代理服务</a:t>
            </a:r>
            <a:endParaRPr lang="zh-CN" altLang="en-US"/>
          </a:p>
        </p:txBody>
      </p:sp>
      <p:sp>
        <p:nvSpPr>
          <p:cNvPr id="134" name="文本框 133"/>
          <p:cNvSpPr txBox="1"/>
          <p:nvPr/>
        </p:nvSpPr>
        <p:spPr>
          <a:xfrm>
            <a:off x="9745980" y="2732405"/>
            <a:ext cx="15544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税务总局系统</a:t>
            </a:r>
            <a:endParaRPr lang="zh-CN" altLang="en-US"/>
          </a:p>
        </p:txBody>
      </p:sp>
      <p:cxnSp>
        <p:nvCxnSpPr>
          <p:cNvPr id="5" name="直接连接符 4"/>
          <p:cNvCxnSpPr/>
          <p:nvPr>
            <p:custDataLst>
              <p:tags r:id="rId3"/>
            </p:custDataLst>
          </p:nvPr>
        </p:nvCxnSpPr>
        <p:spPr>
          <a:xfrm>
            <a:off x="6006465" y="1259840"/>
            <a:ext cx="1270" cy="4937760"/>
          </a:xfrm>
          <a:prstGeom prst="line">
            <a:avLst/>
          </a:prstGeom>
          <a:ln w="19050" cmpd="sng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858135" y="2419350"/>
            <a:ext cx="1808480" cy="139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5632450" y="2378075"/>
            <a:ext cx="941705" cy="139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858135" y="2056765"/>
            <a:ext cx="1654810" cy="3194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数据封装</a:t>
            </a:r>
            <a:r>
              <a:rPr lang="en-US" altLang="zh-CN" sz="1400"/>
              <a:t>/</a:t>
            </a:r>
            <a:r>
              <a:rPr lang="zh-CN" altLang="en-US" sz="1400"/>
              <a:t>数据加密</a:t>
            </a:r>
            <a:endParaRPr lang="zh-CN" altLang="en-US" sz="1400"/>
          </a:p>
        </p:txBody>
      </p:sp>
      <p:sp>
        <p:nvSpPr>
          <p:cNvPr id="27" name="文本框 26"/>
          <p:cNvSpPr txBox="1"/>
          <p:nvPr/>
        </p:nvSpPr>
        <p:spPr>
          <a:xfrm>
            <a:off x="5648960" y="2044700"/>
            <a:ext cx="894080" cy="3194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发送请求</a:t>
            </a:r>
            <a:endParaRPr lang="zh-CN" altLang="en-US" sz="14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960485" y="2369185"/>
            <a:ext cx="1044575" cy="2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9005570" y="2044700"/>
            <a:ext cx="999490" cy="319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请求转发</a:t>
            </a:r>
            <a:endParaRPr lang="zh-CN" altLang="en-US" sz="14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355" y="1882140"/>
            <a:ext cx="967740" cy="85852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955" y="1882140"/>
            <a:ext cx="967740" cy="85852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5060" y="1897380"/>
            <a:ext cx="834390" cy="82804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140" y="1948815"/>
            <a:ext cx="967740" cy="85852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639570" y="4441190"/>
            <a:ext cx="15544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数据共享服务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512945" y="4441190"/>
            <a:ext cx="15544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ym typeface="+mn-ea"/>
              </a:rPr>
              <a:t>接口通道服务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495415" y="4365625"/>
            <a:ext cx="10972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代理服务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745980" y="4335145"/>
            <a:ext cx="15544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ym typeface="+mn-ea"/>
              </a:rPr>
              <a:t>税务总局系统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058275" y="3699510"/>
            <a:ext cx="894080" cy="3194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1400"/>
              <a:t>发送请求</a:t>
            </a:r>
            <a:endParaRPr lang="zh-CN" sz="140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9097010" y="4080510"/>
            <a:ext cx="85534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609715" y="5520690"/>
            <a:ext cx="1097280" cy="384810"/>
          </a:xfrm>
          <a:prstGeom prst="rect">
            <a:avLst/>
          </a:prstGeom>
          <a:solidFill>
            <a:srgbClr val="F0F0F0"/>
          </a:solidFill>
        </p:spPr>
        <p:txBody>
          <a:bodyPr wrap="none" rtlCol="0">
            <a:spAutoFit/>
          </a:bodyPr>
          <a:p>
            <a:r>
              <a:rPr lang="zh-CN" altLang="en-US"/>
              <a:t>数据存储</a:t>
            </a:r>
            <a:endParaRPr lang="zh-CN" altLang="en-US"/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7110095" y="4826000"/>
            <a:ext cx="7620" cy="69088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5632450" y="4003675"/>
            <a:ext cx="945515" cy="15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730875" y="3684270"/>
            <a:ext cx="894080" cy="3194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>
                <a:sym typeface="+mn-ea"/>
              </a:rPr>
              <a:t>发送请求</a:t>
            </a:r>
            <a:endParaRPr lang="zh-CN" altLang="en-US"/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2616835" y="4072255"/>
            <a:ext cx="1931035" cy="11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040380" y="3699510"/>
            <a:ext cx="1249680" cy="3194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拉取数据请求</a:t>
            </a:r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445" y="3598545"/>
            <a:ext cx="967740" cy="85852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475" y="3582670"/>
            <a:ext cx="967740" cy="85852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590" y="3598545"/>
            <a:ext cx="967740" cy="85852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5060" y="3537585"/>
            <a:ext cx="834390" cy="8280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805" y="1555115"/>
            <a:ext cx="313055" cy="2026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证监会政务数据推送</a:t>
            </a:r>
            <a:endParaRPr lang="zh-CN" altLang="en-US" sz="1400" b="1"/>
          </a:p>
        </p:txBody>
      </p:sp>
      <p:sp>
        <p:nvSpPr>
          <p:cNvPr id="6" name="文本框 5"/>
          <p:cNvSpPr txBox="1"/>
          <p:nvPr/>
        </p:nvSpPr>
        <p:spPr>
          <a:xfrm>
            <a:off x="11633200" y="3437890"/>
            <a:ext cx="313055" cy="22396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税务总局政务数据推送</a:t>
            </a:r>
            <a:endParaRPr lang="zh-CN" altLang="en-US" sz="1400" b="1"/>
          </a:p>
        </p:txBody>
      </p:sp>
      <p:sp>
        <p:nvSpPr>
          <p:cNvPr id="7" name="文本框 6"/>
          <p:cNvSpPr txBox="1"/>
          <p:nvPr/>
        </p:nvSpPr>
        <p:spPr>
          <a:xfrm>
            <a:off x="640080" y="2743200"/>
            <a:ext cx="6400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一库</a:t>
            </a:r>
            <a:endParaRPr lang="zh-CN" altLang="en-US"/>
          </a:p>
        </p:txBody>
      </p:sp>
      <p:sp>
        <p:nvSpPr>
          <p:cNvPr id="23" name="object 16"/>
          <p:cNvSpPr/>
          <p:nvPr>
            <p:custDataLst>
              <p:tags r:id="rId6"/>
            </p:custDataLst>
          </p:nvPr>
        </p:nvSpPr>
        <p:spPr>
          <a:xfrm>
            <a:off x="596265" y="2056765"/>
            <a:ext cx="683895" cy="5543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cxnSp>
        <p:nvCxnSpPr>
          <p:cNvPr id="8" name="直接箭头连接符 7"/>
          <p:cNvCxnSpPr/>
          <p:nvPr/>
        </p:nvCxnSpPr>
        <p:spPr>
          <a:xfrm>
            <a:off x="1396365" y="2332355"/>
            <a:ext cx="485775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40080" y="4472305"/>
            <a:ext cx="640080" cy="3848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一库</a:t>
            </a:r>
            <a:endParaRPr lang="zh-CN" altLang="en-US"/>
          </a:p>
        </p:txBody>
      </p:sp>
      <p:sp>
        <p:nvSpPr>
          <p:cNvPr id="10" name="object 16"/>
          <p:cNvSpPr/>
          <p:nvPr>
            <p:custDataLst>
              <p:tags r:id="rId8"/>
            </p:custDataLst>
          </p:nvPr>
        </p:nvSpPr>
        <p:spPr>
          <a:xfrm>
            <a:off x="596265" y="3785870"/>
            <a:ext cx="683895" cy="5543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cxnSp>
        <p:nvCxnSpPr>
          <p:cNvPr id="11" name="直接箭头连接符 10"/>
          <p:cNvCxnSpPr/>
          <p:nvPr/>
        </p:nvCxnSpPr>
        <p:spPr>
          <a:xfrm flipV="1">
            <a:off x="1396365" y="4065905"/>
            <a:ext cx="547370" cy="6350"/>
          </a:xfrm>
          <a:prstGeom prst="straightConnector1">
            <a:avLst/>
          </a:prstGeom>
          <a:ln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图片 215"/>
          <p:cNvPicPr/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3750" y="2125980"/>
            <a:ext cx="487680" cy="5187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/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2805" y="3821430"/>
            <a:ext cx="487680" cy="51879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3" name="直接箭头连接符 12"/>
          <p:cNvCxnSpPr/>
          <p:nvPr/>
        </p:nvCxnSpPr>
        <p:spPr>
          <a:xfrm flipV="1">
            <a:off x="7543165" y="2369185"/>
            <a:ext cx="761365" cy="12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7512050" y="4099560"/>
            <a:ext cx="81089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512050" y="1977390"/>
            <a:ext cx="999490" cy="319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请求转发</a:t>
            </a:r>
            <a:endParaRPr lang="zh-CN" altLang="en-US" sz="1400"/>
          </a:p>
        </p:txBody>
      </p:sp>
      <p:sp>
        <p:nvSpPr>
          <p:cNvPr id="18" name="文本框 17"/>
          <p:cNvSpPr txBox="1"/>
          <p:nvPr/>
        </p:nvSpPr>
        <p:spPr>
          <a:xfrm>
            <a:off x="8154670" y="2732405"/>
            <a:ext cx="1124585" cy="596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前置代理（</a:t>
            </a:r>
            <a:r>
              <a:rPr lang="en-US" altLang="zh-CN" sz="1600"/>
              <a:t>NG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sp>
        <p:nvSpPr>
          <p:cNvPr id="19" name="文本框 18"/>
          <p:cNvSpPr txBox="1"/>
          <p:nvPr/>
        </p:nvSpPr>
        <p:spPr>
          <a:xfrm>
            <a:off x="8164195" y="4335145"/>
            <a:ext cx="1124585" cy="596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前置代理（</a:t>
            </a:r>
            <a:r>
              <a:rPr lang="en-US" altLang="zh-CN" sz="1600"/>
              <a:t>NG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sp>
        <p:nvSpPr>
          <p:cNvPr id="20" name="文本框 19"/>
          <p:cNvSpPr txBox="1"/>
          <p:nvPr/>
        </p:nvSpPr>
        <p:spPr>
          <a:xfrm>
            <a:off x="7473315" y="3752850"/>
            <a:ext cx="999490" cy="319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请求转发</a:t>
            </a:r>
            <a:endParaRPr lang="zh-CN" altLang="en-US" sz="1400"/>
          </a:p>
        </p:txBody>
      </p:sp>
      <p:sp>
        <p:nvSpPr>
          <p:cNvPr id="21" name="文本框 20"/>
          <p:cNvSpPr txBox="1"/>
          <p:nvPr/>
        </p:nvSpPr>
        <p:spPr>
          <a:xfrm>
            <a:off x="6280150" y="4984115"/>
            <a:ext cx="1657350" cy="532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数据存储</a:t>
            </a:r>
            <a:r>
              <a:rPr lang="en-US" altLang="zh-CN" sz="1400"/>
              <a:t>/</a:t>
            </a:r>
            <a:r>
              <a:rPr lang="zh-CN" altLang="en-US" sz="1400"/>
              <a:t>数据读取</a:t>
            </a:r>
            <a:endParaRPr lang="zh-CN" altLang="en-US" sz="1400"/>
          </a:p>
          <a:p>
            <a:pPr algn="ctr"/>
            <a:r>
              <a:rPr lang="zh-CN" altLang="en-US" sz="1400"/>
              <a:t>（密文文件）</a:t>
            </a:r>
            <a:endParaRPr lang="zh-CN" altLang="en-US" sz="1400"/>
          </a:p>
        </p:txBody>
      </p:sp>
      <p:cxnSp>
        <p:nvCxnSpPr>
          <p:cNvPr id="22" name="直接连接符 21"/>
          <p:cNvCxnSpPr/>
          <p:nvPr>
            <p:custDataLst>
              <p:tags r:id="rId10"/>
            </p:custDataLst>
          </p:nvPr>
        </p:nvCxnSpPr>
        <p:spPr>
          <a:xfrm>
            <a:off x="9516745" y="1259840"/>
            <a:ext cx="12700" cy="4920615"/>
          </a:xfrm>
          <a:prstGeom prst="line">
            <a:avLst/>
          </a:prstGeom>
          <a:ln w="19050" cmpd="sng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ject 178"/>
          <p:cNvSpPr txBox="1"/>
          <p:nvPr>
            <p:custDataLst>
              <p:tags r:id="rId11"/>
            </p:custDataLst>
          </p:nvPr>
        </p:nvSpPr>
        <p:spPr>
          <a:xfrm>
            <a:off x="9854565" y="1259840"/>
            <a:ext cx="1854200" cy="273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-1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仿宋" panose="02010609060101010101" pitchFamily="1" charset="-122"/>
              </a:rPr>
              <a:t>政务外网（税务总局）</a:t>
            </a:r>
            <a:endParaRPr lang="zh-CN" altLang="en-US" sz="1600" b="1" spc="-1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仿宋" panose="02010609060101010101" pitchFamily="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95705" y="1897380"/>
            <a:ext cx="894080" cy="3194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业务文件</a:t>
            </a:r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1280160" y="3811905"/>
            <a:ext cx="894080" cy="5327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业务文件</a:t>
            </a:r>
            <a:endParaRPr lang="en-US" altLang="zh-CN" sz="1400"/>
          </a:p>
          <a:p>
            <a:r>
              <a:rPr lang="en-US" altLang="zh-CN" sz="1400"/>
              <a:t>解密</a:t>
            </a:r>
            <a:endParaRPr lang="en-US" altLang="zh-CN" sz="1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WPS 文字</Application>
  <PresentationFormat>宽屏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Wingdings</vt:lpstr>
      <vt:lpstr>仿宋</vt:lpstr>
      <vt:lpstr>Arial Unicode MS</vt:lpstr>
      <vt:lpstr>Calibri</vt:lpstr>
      <vt:lpstr>Office 主题​​</vt:lpstr>
      <vt:lpstr> 政务信息数据共享整体架构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cz</dc:creator>
  <cp:lastModifiedBy>Renzb</cp:lastModifiedBy>
  <cp:revision>4</cp:revision>
  <dcterms:created xsi:type="dcterms:W3CDTF">2026-01-22T09:16:38Z</dcterms:created>
  <dcterms:modified xsi:type="dcterms:W3CDTF">2026-01-22T09:16:38Z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95A67F4400561FE2F5EA7169C27D2029_43</vt:lpwstr>
  </property>
</Properties>
</file>