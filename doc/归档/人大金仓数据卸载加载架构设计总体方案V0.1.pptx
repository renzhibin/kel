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5"/>
  </p:handoutMasterIdLst>
  <p:sldIdLst>
    <p:sldId id="939" r:id="rId3"/>
    <p:sldId id="412" r:id="rId5"/>
    <p:sldId id="940" r:id="rId6"/>
    <p:sldId id="582" r:id="rId7"/>
    <p:sldId id="941" r:id="rId8"/>
    <p:sldId id="442" r:id="rId9"/>
    <p:sldId id="942" r:id="rId10"/>
    <p:sldId id="943" r:id="rId11"/>
    <p:sldId id="448" r:id="rId12"/>
    <p:sldId id="966" r:id="rId13"/>
    <p:sldId id="453" r:id="rId14"/>
    <p:sldId id="945" r:id="rId15"/>
    <p:sldId id="946" r:id="rId16"/>
    <p:sldId id="947" r:id="rId17"/>
    <p:sldId id="588" r:id="rId18"/>
    <p:sldId id="948" r:id="rId19"/>
    <p:sldId id="694" r:id="rId20"/>
    <p:sldId id="950" r:id="rId21"/>
    <p:sldId id="963" r:id="rId22"/>
    <p:sldId id="951" r:id="rId23"/>
    <p:sldId id="952" r:id="rId24"/>
    <p:sldId id="953" r:id="rId25"/>
    <p:sldId id="954" r:id="rId26"/>
    <p:sldId id="955" r:id="rId27"/>
    <p:sldId id="505" r:id="rId28"/>
    <p:sldId id="956" r:id="rId29"/>
    <p:sldId id="632" r:id="rId30"/>
    <p:sldId id="957" r:id="rId31"/>
    <p:sldId id="633" r:id="rId32"/>
    <p:sldId id="533" r:id="rId33"/>
    <p:sldId id="532"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41" userDrawn="1">
          <p15:clr>
            <a:srgbClr val="A4A3A4"/>
          </p15:clr>
        </p15:guide>
        <p15:guide id="2" pos="38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赵韵东/技术总监室/软件开发中心/总行机关/ABC" initials="赵" lastIdx="2" clrIdx="0"/>
  <p:cmAuthor id="2" name="肖永刚/技术总监室/软件开发中心/总行机关/ABC" initials="肖" lastIdx="3" clrIdx="1"/>
  <p:cmAuthor id="3" name="谢俊/技术总监室/软件开发中心/总行机关/ABC" initials="谢" lastIdx="141" clrIdx="2"/>
  <p:cmAuthor id="4" name="CN=谢俊/OU=技术总监室/OU=软件开发中心/OU=总行机关/O=ABC" initials="C" lastIdx="3" clrIdx="3"/>
  <p:cmAuthor id="5" name="赖强/技术总监室/软件开发中心/总行机关/ABC" initials="赖" lastIdx="5" clrIdx="2"/>
  <p:cmAuthor id="6" name="黄诚/互联网金融研发部/软件开发中心/总行机关/ABC" initials="黄" lastIdx="4" clrIdx="0"/>
  <p:cmAuthor id="7" name="谢钊/应用平台研发部/软件开发中心/总行机关/ABC" initials="谢" lastIdx="10" clrIdx="6"/>
  <p:cmAuthor id="8" name="J" initials="J" lastIdx="10" clrIdx="0"/>
  <p:cmAuthor id="9" name="闫晓林/应用开发一部/软件开发中心/总行机关/ABC" initials="闫" lastIdx="509" clrIdx="1"/>
  <p:cmAuthor id="10" name="Mia Vida Villanueva" initials="M" lastIdx="1" clrIdx="0"/>
  <p:cmAuthor id="11" name="Hao Tang" initials="H" lastIdx="33" clrIdx="1"/>
  <p:cmAuthor id="12" name="kahlen qi" initials="k" lastIdx="2" clrIdx="2"/>
  <p:cmAuthor id="13" name="刘旭/应用平台研发部/软件开发中心/总行机关/ABC" initials="刘" lastIdx="1" clrIdx="0"/>
  <p:cmAuthor id="14" name="moogle" initials="m" lastIdx="1" clrIdx="6"/>
  <p:cmAuthor id="15" name="罗位国/应用平台研发部/软件开发中心/总行机关/ABC" initials="罗" lastIdx="1" clrIdx="1"/>
  <p:cmAuthor id="16" name="lenovo" initials="l" lastIdx="2" clrIdx="6"/>
  <p:cmAuthor id="17" name="ZhangqQi" initials="Z" lastIdx="1" clrIdx="7"/>
  <p:cmAuthor id="18" name="CN=周正贤/OU=架构管理办公室/OU=软件开发中心/OU=总行机关/O=ABC" initials="C" lastIdx="101" clrIdx="3"/>
  <p:cmAuthor id="19" name="fyl" initials="f" lastIdx="3" clrIdx="2"/>
  <p:cmAuthor id="20" name="杨宁/技术总监室/软件开发中心/总行机关/ABC" initials="杨" lastIdx="7" clrIdx="3"/>
  <p:cmAuthor id="21" name="011915056" initials="0" lastIdx="2" clrIdx="5"/>
  <p:cmAuthor id="22" name="wenzi" initials="w" lastIdx="8" clrIdx="0"/>
  <p:cmAuthor id="23" name="部室管理员/软件开发中心/总行机关/ABC" initials="部" lastIdx="1" clrIdx="5"/>
  <p:cmAuthor id="24" name="pearl" initials="p" lastIdx="5" clrIdx="26"/>
  <p:cmAuthor id="25" name="Shirley D Duo" initials="S" lastIdx="1" clrIdx="27"/>
  <p:cmAuthor id="26" name="周轶奇/上研技术保障部/研发中心/总行机关/ABC" initials="周" lastIdx="6" clrIdx="26"/>
  <p:cmAuthor id="27" name="杨庆辰" initials="杨" lastIdx="9" clrIdx="27"/>
  <p:cmAuthor id="28" name="霍桃梅/成研开发二部/研发中心/总行机关/ABC" initials="霍" lastIdx="5" clrIdx="28"/>
  <p:cmAuthor id="29" name="ketchup" initials="k" lastIdx="47" clrIdx="29"/>
  <p:cmAuthor id="30" name="Administrator" initials="A" lastIdx="1" clrIdx="29"/>
  <p:cmAuthor id="0" name="康晓宇" initials="k" lastIdx="13" clrIdx="0"/>
  <p:cmAuthor id="31" name="wangyuanyuan" initials="w" lastIdx="1" clrIdx="30"/>
  <p:cmAuthor id="32" name="yanbi" initials="y" lastIdx="1" clrIdx="31"/>
  <p:cmAuthor id="33" name="Yaguang Ma" initials="Y" lastIdx="1" clrIdx="0"/>
  <p:cmAuthor id="34" name="元鹏 王" initials="元" lastIdx="1" clrIdx="1"/>
  <p:cmAuthor id="35" name="赵成文" initials="赵" lastIdx="4" clrIdx="1"/>
  <p:cmAuthor id="36" name="未知用户13" initials="未" lastIdx="16" clrIdx="0"/>
  <p:cmAuthor id="38" name="刘俐孜" initials="llz" lastIdx="1" clrIdx="37"/>
  <p:cmAuthor id="39" name="admin" initials="a" lastIdx="0" clrIdx="38"/>
  <p:cmAuthor id="40" name="CSITS-P-panry" initials="C" lastIdx="0" clrIdx="39"/>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096E6"/>
    <a:srgbClr val="F0F0F0"/>
    <a:srgbClr val="5B9BD5"/>
    <a:srgbClr val="004CA1"/>
    <a:srgbClr val="01B4ED"/>
    <a:srgbClr val="0890D4"/>
    <a:srgbClr val="0556A7"/>
    <a:srgbClr val="D9D9D9"/>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341"/>
        <p:guide pos="38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38" dt="2025-05-13T16:13:59.862" idx="1">
    <p:pos x="-1965" y="4322"/>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是否需要和</a:t>
            </a:r>
            <a:r>
              <a:rPr lang="en-US" altLang="zh-CN">
                <a:sym typeface="+mn-ea"/>
              </a:rPr>
              <a:t>“</a:t>
            </a:r>
            <a:r>
              <a:rPr lang="zh-CN" altLang="en-US">
                <a:sym typeface="+mn-ea"/>
              </a:rPr>
              <a:t>基本情况</a:t>
            </a:r>
            <a:r>
              <a:rPr lang="en-US" altLang="zh-CN">
                <a:sym typeface="+mn-ea"/>
              </a:rPr>
              <a:t>”</a:t>
            </a:r>
            <a:r>
              <a:rPr lang="zh-CN" altLang="en-US">
                <a:sym typeface="+mn-ea"/>
              </a:rPr>
              <a:t>合并？</a:t>
            </a:r>
            <a:endParaRPr lang="zh-CN" altLang="en-US">
              <a:sym typeface="+mn-ea"/>
            </a:endParaRPr>
          </a:p>
          <a:p>
            <a:r>
              <a:rPr lang="zh-CN" altLang="en-US">
                <a:highlight>
                  <a:srgbClr val="FFFF00"/>
                </a:highlight>
                <a:sym typeface="+mn-ea"/>
              </a:rPr>
              <a:t>整体结构</a:t>
            </a:r>
            <a:r>
              <a:rPr lang="zh-CN" altLang="en-US">
                <a:sym typeface="+mn-ea"/>
              </a:rPr>
              <a:t>：通过系统实现目的（项目需求）</a:t>
            </a:r>
            <a:r>
              <a:rPr lang="en-US" altLang="zh-CN">
                <a:sym typeface="+mn-ea"/>
              </a:rPr>
              <a:t>-</a:t>
            </a:r>
            <a:r>
              <a:rPr lang="zh-CN" altLang="en-US">
                <a:sym typeface="+mn-ea"/>
              </a:rPr>
              <a:t>具体功能简单介绍（项目背景</a:t>
            </a:r>
            <a:r>
              <a:rPr lang="en-US" altLang="zh-CN">
                <a:sym typeface="+mn-ea"/>
              </a:rPr>
              <a:t>=</a:t>
            </a:r>
            <a:r>
              <a:rPr lang="zh-CN" altLang="en-US">
                <a:sym typeface="+mn-ea"/>
              </a:rPr>
              <a:t>业务痛点）</a:t>
            </a:r>
            <a:r>
              <a:rPr lang="en-US" altLang="zh-CN">
                <a:sym typeface="+mn-ea"/>
              </a:rPr>
              <a:t>-</a:t>
            </a:r>
            <a:r>
              <a:rPr lang="zh-CN" altLang="en-US">
                <a:sym typeface="+mn-ea"/>
              </a:rPr>
              <a:t>现阶段做到哪个程度了（业务痛点）</a:t>
            </a:r>
            <a:r>
              <a:rPr lang="en-US" altLang="zh-CN">
                <a:sym typeface="+mn-ea"/>
              </a:rPr>
              <a:t>-</a:t>
            </a:r>
            <a:r>
              <a:rPr lang="zh-CN" altLang="en-US">
                <a:sym typeface="+mn-ea"/>
              </a:rPr>
              <a:t>要解决什么问题</a:t>
            </a:r>
            <a:r>
              <a:rPr lang="en-US" altLang="zh-CN">
                <a:sym typeface="+mn-ea"/>
              </a:rPr>
              <a:t>/</a:t>
            </a:r>
            <a:r>
              <a:rPr lang="zh-CN" altLang="en-US">
                <a:sym typeface="+mn-ea"/>
              </a:rPr>
              <a:t>方案（业务规划</a:t>
            </a:r>
            <a:r>
              <a:rPr lang="en-US" altLang="zh-CN">
                <a:sym typeface="+mn-ea"/>
              </a:rPr>
              <a:t>/</a:t>
            </a:r>
            <a:r>
              <a:rPr lang="zh-CN" altLang="en-US">
                <a:sym typeface="+mn-ea"/>
              </a:rPr>
              <a:t>实施计划）</a:t>
            </a:r>
            <a:r>
              <a:rPr lang="en-US" altLang="zh-CN">
                <a:sym typeface="+mn-ea"/>
              </a:rPr>
              <a:t>-</a:t>
            </a:r>
            <a:r>
              <a:rPr lang="zh-CN" altLang="en-US">
                <a:sym typeface="+mn-ea"/>
              </a:rPr>
              <a:t>架构的增删改对现有架构有什么影响</a:t>
            </a:r>
            <a:r>
              <a:rPr lang="en-US" altLang="zh-CN">
                <a:sym typeface="+mn-ea"/>
              </a:rPr>
              <a:t>-</a:t>
            </a:r>
            <a:r>
              <a:rPr lang="zh-CN" altLang="en-US">
                <a:sym typeface="+mn-ea"/>
              </a:rPr>
              <a:t>请示事项</a:t>
            </a:r>
            <a:endParaRPr lang="zh-CN" altLang="en-US"/>
          </a:p>
          <a:p>
            <a:r>
              <a:rPr lang="zh-CN" altLang="en-US">
                <a:highlight>
                  <a:srgbClr val="FFFF00"/>
                </a:highlight>
              </a:rPr>
              <a:t>两张图：</a:t>
            </a:r>
            <a:r>
              <a:rPr lang="zh-CN" altLang="en-US"/>
              <a:t>技术架构、数据流向图</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lvl="0" indent="0" algn="l">
              <a:lnSpc>
                <a:spcPct val="110000"/>
              </a:lnSpc>
              <a:buClrTx/>
              <a:buSzTx/>
              <a:buFontTx/>
              <a:buNone/>
            </a:pPr>
            <a:r>
              <a:rPr dirty="0">
                <a:sym typeface="+mn-ea"/>
              </a:rPr>
              <a:t>对接涉及</a:t>
            </a:r>
            <a:r>
              <a:rPr lang="zh-CN" dirty="0">
                <a:sym typeface="+mn-ea"/>
              </a:rPr>
              <a:t>税务总局与证监会之间的数据共享路径</a:t>
            </a:r>
            <a:r>
              <a:rPr dirty="0">
                <a:sym typeface="+mn-ea"/>
              </a:rPr>
              <a:t>。</a:t>
            </a:r>
            <a:endParaRPr dirty="0">
              <a:sym typeface="+mn-ea"/>
            </a:endParaRPr>
          </a:p>
          <a:p>
            <a:pPr lvl="0" indent="0" algn="l">
              <a:lnSpc>
                <a:spcPct val="110000"/>
              </a:lnSpc>
              <a:buClrTx/>
              <a:buSzTx/>
              <a:buFontTx/>
              <a:buNone/>
            </a:pPr>
            <a:r>
              <a:rPr dirty="0">
                <a:sym typeface="+mn-ea"/>
              </a:rPr>
              <a:t>主要对接方式：</a:t>
            </a:r>
            <a:endParaRPr dirty="0">
              <a:sym typeface="+mn-ea"/>
            </a:endParaRPr>
          </a:p>
          <a:p>
            <a:pPr marL="228600" lvl="0" indent="-228600" algn="l">
              <a:lnSpc>
                <a:spcPct val="110000"/>
              </a:lnSpc>
              <a:buClrTx/>
              <a:buSzTx/>
              <a:buFontTx/>
              <a:buAutoNum type="arabicPeriod"/>
            </a:pPr>
            <a:r>
              <a:rPr lang="zh-CN" altLang="en-US" dirty="0">
                <a:sym typeface="+mn-ea"/>
              </a:rPr>
              <a:t>证监会证网环境数据共享服务发送加密加签数据文件，并通过证网接口通道服务向证监会政务外网代理服务发送数据，代理服务接收数据并调用税务总局</a:t>
            </a:r>
            <a:r>
              <a:rPr lang="en-US" altLang="zh-CN" dirty="0">
                <a:sym typeface="+mn-ea"/>
              </a:rPr>
              <a:t>HTTP</a:t>
            </a:r>
            <a:r>
              <a:rPr lang="zh-CN" altLang="en-US" dirty="0">
                <a:sym typeface="+mn-ea"/>
              </a:rPr>
              <a:t>服务接口推送数据，税务总局信息交换系统进行数据解密验签并数据落地。</a:t>
            </a:r>
            <a:endParaRPr lang="zh-CN" altLang="en-US" dirty="0">
              <a:sym typeface="+mn-ea"/>
            </a:endParaRPr>
          </a:p>
          <a:p>
            <a:pPr marL="228600" lvl="0" indent="-228600" algn="l">
              <a:lnSpc>
                <a:spcPct val="110000"/>
              </a:lnSpc>
              <a:buClrTx/>
              <a:buSzTx/>
              <a:buFontTx/>
              <a:buAutoNum type="arabicPeriod"/>
            </a:pPr>
            <a:r>
              <a:rPr lang="zh-CN" altLang="en-US" dirty="0">
                <a:sym typeface="+mn-ea"/>
              </a:rPr>
              <a:t>税务总局信息交换系统向证监会政务外网代理服务发送加密加签的数据，代理服务接收数据并进行数据暂存。证联网环境数据共享服务定时通过接口通道服务拉取数据，并对数据进行解密验签及数据落地。</a:t>
            </a:r>
            <a:endParaRPr lang="zh-CN" altLang="en-US" dirty="0">
              <a:sym typeface="+mn-ea"/>
            </a:endParaRPr>
          </a:p>
          <a:p>
            <a:pPr marL="228600" lvl="0" indent="-228600" algn="l">
              <a:lnSpc>
                <a:spcPct val="110000"/>
              </a:lnSpc>
              <a:buClrTx/>
              <a:buSzTx/>
              <a:buFontTx/>
              <a:buAutoNum type="arabicPeriod"/>
            </a:pPr>
            <a:endParaRPr dirty="0">
              <a:sym typeface="+mn-ea"/>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幻灯片图像占位符 1"/>
          <p:cNvSpPr>
            <a:spLocks noGrp="1" noRot="1"/>
          </p:cNvSpPr>
          <p:nvPr>
            <p:ph type="sldImg"/>
          </p:nvPr>
        </p:nvSpPr>
        <p:spPr/>
      </p:sp>
      <p:sp>
        <p:nvSpPr>
          <p:cNvPr id="88066" name="文本占位符 2"/>
          <p:cNvSpPr>
            <a:spLocks noGrp="1"/>
          </p:cNvSpPr>
          <p:nvPr>
            <p:ph type="body"/>
          </p:nvPr>
        </p:nvSpPr>
        <p:spPr/>
        <p:txBody>
          <a:bodyPr lIns="91550" tIns="45775" rIns="91550" bIns="45775" anchor="ctr"/>
          <a:p>
            <a:pPr lvl="0" indent="0"/>
            <a:r>
              <a:rPr lang="zh-CN" altLang="en-US" dirty="0">
                <a:latin typeface="微软雅黑" panose="020B0503020204020204" pitchFamily="34" charset="-122"/>
                <a:ea typeface="微软雅黑" panose="020B0503020204020204" pitchFamily="34" charset="-122"/>
              </a:rPr>
              <a:t>入口的定义  </a:t>
            </a:r>
            <a:endParaRPr lang="en-US" altLang="zh-CN" dirty="0">
              <a:latin typeface="微软雅黑" panose="020B0503020204020204" pitchFamily="34" charset="-122"/>
              <a:ea typeface="微软雅黑" panose="020B0503020204020204" pitchFamily="34" charset="-122"/>
            </a:endParaRPr>
          </a:p>
          <a:p>
            <a:pPr lvl="0" indent="0"/>
            <a:r>
              <a:rPr lang="en-US" altLang="zh-CN" dirty="0">
                <a:latin typeface="微软雅黑" panose="020B0503020204020204" pitchFamily="34" charset="-122"/>
                <a:ea typeface="微软雅黑" panose="020B0503020204020204" pitchFamily="34" charset="-122"/>
              </a:rPr>
              <a:t>esj</a:t>
            </a:r>
            <a:endParaRPr lang="zh-CN" altLang="en-US"/>
          </a:p>
          <a:p>
            <a:pPr lvl="0" indent="0"/>
            <a:r>
              <a:rPr lang="zh-CN" altLang="en-US"/>
              <a:t>总体架构应该对后面三个架构的主要内容有充分表达</a:t>
            </a:r>
            <a:endParaRPr lang="zh-CN" altLang="en-US"/>
          </a:p>
          <a:p>
            <a:pPr lvl="0" indent="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幻灯片图像占位符 1"/>
          <p:cNvSpPr>
            <a:spLocks noGrp="1" noRot="1"/>
          </p:cNvSpPr>
          <p:nvPr>
            <p:ph type="sldImg"/>
          </p:nvPr>
        </p:nvSpPr>
        <p:spPr/>
      </p:sp>
      <p:sp>
        <p:nvSpPr>
          <p:cNvPr id="105474" name="文本占位符 2"/>
          <p:cNvSpPr>
            <a:spLocks noGrp="1"/>
          </p:cNvSpPr>
          <p:nvPr>
            <p:ph type="body"/>
          </p:nvPr>
        </p:nvSpPr>
        <p:spPr/>
        <p:txBody>
          <a:bodyPr lIns="91550" tIns="45775" rIns="91550" bIns="45775" anchor="ctr"/>
          <a:p>
            <a:pPr lvl="0" indent="0"/>
            <a:endParaRPr lang="zh-CN" altLang="en-US">
              <a:highlight>
                <a:srgbClr val="FFFF00"/>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highlight>
                <a:srgbClr val="FFFF00"/>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幻灯片图像占位符 1"/>
          <p:cNvSpPr>
            <a:spLocks noGrp="1"/>
          </p:cNvSpPr>
          <p:nvPr>
            <p:ph type="sldImg"/>
          </p:nvPr>
        </p:nvSpPr>
        <p:spPr/>
      </p:sp>
      <p:sp>
        <p:nvSpPr>
          <p:cNvPr id="143362" name="文本占位符 2"/>
          <p:cNvSpPr>
            <a:spLocks noGrp="1"/>
          </p:cNvSpPr>
          <p:nvPr>
            <p:ph type="body"/>
          </p:nvPr>
        </p:nvSpPr>
        <p:spPr/>
        <p:txBody>
          <a:bodyPr lIns="91550" tIns="45775" rIns="91550" bIns="45775" anchor="ctr" anchorCtr="0"/>
          <a:p>
            <a:pPr lvl="0"/>
            <a:r>
              <a:rPr lang="zh-CN" altLang="en-US">
                <a:solidFill>
                  <a:srgbClr val="FF0000"/>
                </a:solidFill>
                <a:ea typeface="宋体" panose="02010600030101010101" pitchFamily="2" charset="-122"/>
              </a:rPr>
              <a:t>注：本页中</a:t>
            </a:r>
            <a:r>
              <a:rPr lang="en-US" altLang="zh-CN">
                <a:solidFill>
                  <a:srgbClr val="FF0000"/>
                </a:solidFill>
                <a:ea typeface="宋体" panose="02010600030101010101" pitchFamily="2" charset="-122"/>
              </a:rPr>
              <a:t>“</a:t>
            </a:r>
            <a:r>
              <a:rPr lang="zh-CN" altLang="en-US">
                <a:solidFill>
                  <a:srgbClr val="FF0000"/>
                </a:solidFill>
                <a:ea typeface="宋体" panose="02010600030101010101" pitchFamily="2" charset="-122"/>
              </a:rPr>
              <a:t>说明</a:t>
            </a:r>
            <a:r>
              <a:rPr lang="en-US" altLang="zh-CN">
                <a:solidFill>
                  <a:srgbClr val="FF0000"/>
                </a:solidFill>
                <a:ea typeface="宋体" panose="02010600030101010101" pitchFamily="2" charset="-122"/>
              </a:rPr>
              <a:t>”</a:t>
            </a:r>
            <a:r>
              <a:rPr lang="zh-CN" altLang="en-US">
                <a:solidFill>
                  <a:srgbClr val="FF0000"/>
                </a:solidFill>
                <a:ea typeface="宋体" panose="02010600030101010101" pitchFamily="2" charset="-122"/>
              </a:rPr>
              <a:t>涉及的内容请项目组自行斟酌</a:t>
            </a:r>
            <a:endParaRPr lang="zh-CN" altLang="en-US">
              <a:solidFill>
                <a:srgbClr val="FF0000"/>
              </a:solidFill>
              <a:ea typeface="宋体" panose="02010600030101010101" pitchFamily="2" charset="-122"/>
            </a:endParaRPr>
          </a:p>
          <a:p>
            <a:pPr lvl="0"/>
            <a:r>
              <a:rPr lang="zh-CN" altLang="en-US">
                <a:solidFill>
                  <a:srgbClr val="FF0000"/>
                </a:solidFill>
                <a:ea typeface="宋体" panose="02010600030101010101" pitchFamily="2" charset="-122"/>
              </a:rPr>
              <a:t>架构设计过程中需要考虑的安全问题</a:t>
            </a:r>
            <a:r>
              <a:rPr lang="en-US" altLang="zh-CN">
                <a:solidFill>
                  <a:srgbClr val="FF0000"/>
                </a:solidFill>
                <a:ea typeface="宋体" panose="02010600030101010101" pitchFamily="2" charset="-122"/>
              </a:rPr>
              <a:t>/………………</a:t>
            </a:r>
            <a:r>
              <a:rPr lang="zh-CN" altLang="en-US">
                <a:solidFill>
                  <a:srgbClr val="FF0000"/>
                </a:solidFill>
                <a:ea typeface="宋体" panose="02010600030101010101" pitchFamily="2" charset="-122"/>
              </a:rPr>
              <a:t>安全部审核过程中的安全数据？安全评审不要混在架构里，划分</a:t>
            </a:r>
            <a:endParaRPr lang="zh-CN" altLang="en-US">
              <a:solidFill>
                <a:srgbClr val="FF0000"/>
              </a:solidFill>
              <a:ea typeface="宋体" panose="02010600030101010101" pitchFamily="2" charset="-122"/>
            </a:endParaRPr>
          </a:p>
          <a:p>
            <a:pPr lvl="0"/>
            <a:r>
              <a:rPr lang="zh-CN" altLang="en-US">
                <a:solidFill>
                  <a:srgbClr val="FF0000"/>
                </a:solidFill>
                <a:ea typeface="宋体" panose="02010600030101010101" pitchFamily="2" charset="-122"/>
              </a:rPr>
              <a:t>等保定级需要和柱子老师确定范围（系统？项目？）</a:t>
            </a:r>
            <a:endParaRPr lang="zh-CN" altLang="en-US">
              <a:solidFill>
                <a:srgbClr val="FF0000"/>
              </a:solidFill>
              <a:ea typeface="宋体" panose="02010600030101010101" pitchFamily="2" charset="-122"/>
            </a:endParaRPr>
          </a:p>
          <a:p>
            <a:pPr lvl="0"/>
            <a:endParaRPr lang="zh-CN" altLang="en-US">
              <a:solidFill>
                <a:srgbClr val="FF0000"/>
              </a:solidFill>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幻灯片图像占位符 1"/>
          <p:cNvSpPr>
            <a:spLocks noGrp="1" noRot="1"/>
          </p:cNvSpPr>
          <p:nvPr>
            <p:ph type="sldImg"/>
          </p:nvPr>
        </p:nvSpPr>
        <p:spPr/>
      </p:sp>
      <p:sp>
        <p:nvSpPr>
          <p:cNvPr id="164866" name="文本占位符 2"/>
          <p:cNvSpPr>
            <a:spLocks noGrp="1"/>
          </p:cNvSpPr>
          <p:nvPr>
            <p:ph type="body"/>
          </p:nvPr>
        </p:nvSpPr>
        <p:spPr/>
        <p:txBody>
          <a:bodyPr lIns="91440" tIns="45720" rIns="91440" bIns="45720" anchor="t"/>
          <a:p>
            <a:pPr lvl="0"/>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幻灯片图像占位符 1"/>
          <p:cNvSpPr>
            <a:spLocks noGrp="1" noRot="1"/>
          </p:cNvSpPr>
          <p:nvPr>
            <p:ph type="sldImg"/>
          </p:nvPr>
        </p:nvSpPr>
        <p:spPr/>
      </p:sp>
      <p:sp>
        <p:nvSpPr>
          <p:cNvPr id="164866" name="文本占位符 2"/>
          <p:cNvSpPr>
            <a:spLocks noGrp="1"/>
          </p:cNvSpPr>
          <p:nvPr>
            <p:ph type="body"/>
          </p:nvPr>
        </p:nvSpPr>
        <p:spPr/>
        <p:txBody>
          <a:bodyPr lIns="91440" tIns="45720" rIns="91440" bIns="45720" anchor="t"/>
          <a:p>
            <a:pPr lvl="0"/>
            <a:r>
              <a:rPr lang="zh-CN" altLang="en-US">
                <a:highlight>
                  <a:srgbClr val="FFFF00"/>
                </a:highlight>
              </a:rPr>
              <a:t>运行状态中间件描述</a:t>
            </a:r>
            <a:endParaRPr lang="zh-CN" altLang="en-US">
              <a:highlight>
                <a:srgbClr val="FFFF00"/>
              </a:highlight>
            </a:endParaRPr>
          </a:p>
          <a:p>
            <a:pPr lvl="0"/>
            <a:r>
              <a:rPr lang="en-US" altLang="zh-CN">
                <a:highlight>
                  <a:srgbClr val="FFFF00"/>
                </a:highlight>
              </a:rPr>
              <a:t>nacos</a:t>
            </a:r>
            <a:r>
              <a:rPr lang="zh-CN" altLang="en-US">
                <a:highlight>
                  <a:srgbClr val="FFFF00"/>
                </a:highlight>
              </a:rPr>
              <a:t>：放组件里</a:t>
            </a:r>
            <a:endParaRPr lang="zh-CN" altLang="en-US">
              <a:highlight>
                <a:srgbClr val="FFFF00"/>
              </a:highligh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a:t>基础设施部</a:t>
            </a:r>
            <a:endParaRPr lang="zh-CN" altLang="en-US" b="1"/>
          </a:p>
          <a:p>
            <a:r>
              <a:rPr lang="zh-CN" altLang="en-US"/>
              <a:t>本页展示最终生产环境的服务器数量</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资源节约</a:t>
            </a:r>
            <a:endParaRPr lang="zh-CN" altLang="en-US"/>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highlight>
                <a:srgbClr val="FFFF00"/>
              </a:high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7" name="幻灯片图像占位符 1"/>
          <p:cNvSpPr>
            <a:spLocks noGrp="1" noRot="1"/>
          </p:cNvSpPr>
          <p:nvPr>
            <p:ph type="sldImg"/>
          </p:nvPr>
        </p:nvSpPr>
        <p:spPr/>
      </p:sp>
      <p:sp>
        <p:nvSpPr>
          <p:cNvPr id="229378" name="文本占位符 2"/>
          <p:cNvSpPr>
            <a:spLocks noGrp="1"/>
          </p:cNvSpPr>
          <p:nvPr>
            <p:ph type="body"/>
          </p:nvPr>
        </p:nvSpPr>
        <p:spPr/>
        <p:txBody>
          <a:bodyPr lIns="91550" tIns="45775" rIns="91550" bIns="45775" anchor="ctr"/>
          <a:p>
            <a:pPr lvl="0" indent="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标题占位符 1"/>
          <p:cNvSpPr txBox="1">
            <a:spLocks noGrp="1"/>
          </p:cNvSpPr>
          <p:nvPr>
            <p:ph type="title"/>
            <p:custDataLst>
              <p:tags r:id="rId3"/>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8" name="灯片编号占位符 7"/>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标题占位符 1"/>
          <p:cNvSpPr txBox="1">
            <a:spLocks noGrp="1"/>
          </p:cNvSpPr>
          <p:nvPr>
            <p:ph type="title"/>
            <p:custDataLst>
              <p:tags r:id="rId2"/>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4" name="页脚占位符 3"/>
          <p:cNvSpPr>
            <a:spLocks noGrp="1"/>
          </p:cNvSpPr>
          <p:nvPr>
            <p:ph type="ftr" sz="quarter" idx="11"/>
            <p:custDataLst>
              <p:tags r:id="rId2"/>
            </p:custDataLst>
          </p:nvPr>
        </p:nvSpPr>
        <p:spPr>
          <a:xfrm>
            <a:off x="6277540" y="5268555"/>
            <a:ext cx="3960000" cy="316800"/>
          </a:xfrm>
        </p:spPr>
        <p:txBody>
          <a:bodyPr/>
          <a:lstStyle/>
          <a:p>
            <a:endParaRPr lang="zh-CN" altLang="en-US"/>
          </a:p>
        </p:txBody>
      </p:sp>
      <p:sp>
        <p:nvSpPr>
          <p:cNvPr id="7" name="内容占位符 6"/>
          <p:cNvSpPr>
            <a:spLocks noGrp="1"/>
          </p:cNvSpPr>
          <p:nvPr>
            <p:ph sz="quarter" idx="13"/>
            <p:custDataLst>
              <p:tags r:id="rId3"/>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3"/>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标题和文本">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p:txBody>
          <a:bodyPr/>
          <a:lstStyle/>
          <a:p>
            <a:pPr lvl="0" fontAlgn="auto"/>
            <a:r>
              <a:rPr lang="zh-CN" altLang="en-US" strike="noStrike" noProof="1" smtClean="0"/>
              <a:t>单击此处编辑母版文本样式</a:t>
            </a:r>
            <a:endParaRPr lang="zh-CN" altLang="en-US" strike="noStrike" noProof="1" smtClean="0"/>
          </a:p>
          <a:p>
            <a:pPr lvl="1" fontAlgn="auto"/>
            <a:r>
              <a:rPr lang="zh-CN" altLang="en-US" strike="noStrike" noProof="1" smtClean="0"/>
              <a:t>第二级</a:t>
            </a:r>
            <a:endParaRPr lang="zh-CN" altLang="en-US" strike="noStrike" noProof="1" smtClean="0"/>
          </a:p>
          <a:p>
            <a:pPr lvl="2" fontAlgn="auto"/>
            <a:r>
              <a:rPr lang="zh-CN" altLang="en-US" strike="noStrike" noProof="1" smtClean="0"/>
              <a:t>第三级</a:t>
            </a:r>
            <a:endParaRPr lang="zh-CN" altLang="en-US" strike="noStrike" noProof="1" smtClean="0"/>
          </a:p>
          <a:p>
            <a:pPr lvl="3" fontAlgn="auto"/>
            <a:r>
              <a:rPr lang="zh-CN" altLang="en-US" strike="noStrike" noProof="1" smtClean="0"/>
              <a:t>第四级</a:t>
            </a:r>
            <a:endParaRPr lang="zh-CN" altLang="en-US" strike="noStrike" noProof="1" smtClean="0"/>
          </a:p>
          <a:p>
            <a:pPr lvl="4" fontAlgn="auto"/>
            <a:r>
              <a:rPr lang="zh-CN" altLang="en-US" strike="noStrike" noProof="1" smtClean="0"/>
              <a:t>第五级</a:t>
            </a:r>
            <a:endParaRPr lang="zh-CN" altLang="en-US" strike="noStrike" noProof="1"/>
          </a:p>
        </p:txBody>
      </p:sp>
      <p:sp>
        <p:nvSpPr>
          <p:cNvPr id="6" name="灯片编号占位符 5"/>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txBox="1">
            <a:spLocks noGrp="1"/>
          </p:cNvSpPr>
          <p:nvPr>
            <p:ph type="title"/>
            <p:custDataLst>
              <p:tags r:id="rId11"/>
            </p:custDataLst>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buClrTx/>
              <a:buSzTx/>
              <a:buFontTx/>
              <a:buNone/>
              <a:defRPr kumimoji="0" lang="zh-CN" altLang="en-US" sz="2800" b="1" i="0" u="none" strike="noStrike" kern="1200" cap="none" spc="0" normalizeH="0" baseline="0" noProof="1" dirty="0">
                <a:solidFill>
                  <a:srgbClr val="002B69"/>
                </a:solidFill>
                <a:latin typeface="微软雅黑" panose="020B0503020204020204" pitchFamily="34" charset="-122"/>
                <a:ea typeface="微软雅黑" panose="020B0503020204020204" pitchFamily="34" charset="-122"/>
                <a:cs typeface="+mn-cs"/>
              </a:defRPr>
            </a:lvl1pPr>
          </a:lstStyle>
          <a:p>
            <a:pPr lvl="0"/>
            <a:r>
              <a:rPr>
                <a:sym typeface="+mn-ea"/>
              </a:rPr>
              <a:t>单击此处编辑母版标题样式</a:t>
            </a:r>
            <a:endParaRPr>
              <a:sym typeface="+mn-ea"/>
            </a:endParaRPr>
          </a:p>
        </p:txBody>
      </p:sp>
      <p:sp>
        <p:nvSpPr>
          <p:cNvPr id="3" name="文本占位符 2"/>
          <p:cNvSpPr>
            <a:spLocks noGrp="1"/>
          </p:cNvSpPr>
          <p:nvPr>
            <p:ph type="body" idx="1"/>
            <p:custDataLst>
              <p:tags r:id="rId12"/>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7" name="Picture 3" descr="未标题-2"/>
          <p:cNvPicPr>
            <a:picLocks noChangeAspect="1"/>
          </p:cNvPicPr>
          <p:nvPr userDrawn="1"/>
        </p:nvPicPr>
        <p:blipFill>
          <a:blip r:embed="rId13"/>
          <a:stretch>
            <a:fillRect/>
          </a:stretch>
        </p:blipFill>
        <p:spPr>
          <a:xfrm>
            <a:off x="246063" y="565150"/>
            <a:ext cx="11699875" cy="211138"/>
          </a:xfrm>
          <a:prstGeom prst="rect">
            <a:avLst/>
          </a:prstGeom>
          <a:noFill/>
          <a:ln w="9525">
            <a:noFill/>
          </a:ln>
        </p:spPr>
      </p:pic>
      <p:pic>
        <p:nvPicPr>
          <p:cNvPr id="8" name="图片 8" descr="微信图片_20200527103432"/>
          <p:cNvPicPr>
            <a:picLocks noChangeAspect="1"/>
          </p:cNvPicPr>
          <p:nvPr userDrawn="1"/>
        </p:nvPicPr>
        <p:blipFill>
          <a:blip r:embed="rId14"/>
          <a:stretch>
            <a:fillRect/>
          </a:stretch>
        </p:blipFill>
        <p:spPr>
          <a:xfrm>
            <a:off x="514350" y="-71437"/>
            <a:ext cx="1514475" cy="946150"/>
          </a:xfrm>
          <a:prstGeom prst="rect">
            <a:avLst/>
          </a:prstGeom>
          <a:noFill/>
          <a:ln w="9525">
            <a:noFill/>
          </a:ln>
        </p:spPr>
      </p:pic>
      <p:pic>
        <p:nvPicPr>
          <p:cNvPr id="15361" name="Picture 3" descr="未标题-2"/>
          <p:cNvPicPr>
            <a:picLocks noChangeAspect="1"/>
          </p:cNvPicPr>
          <p:nvPr userDrawn="1"/>
        </p:nvPicPr>
        <p:blipFill>
          <a:blip r:embed="rId15"/>
          <a:stretch>
            <a:fillRect/>
          </a:stretch>
        </p:blipFill>
        <p:spPr>
          <a:xfrm>
            <a:off x="1588" y="6231573"/>
            <a:ext cx="12192000" cy="573087"/>
          </a:xfrm>
          <a:prstGeom prst="rect">
            <a:avLst/>
          </a:prstGeom>
          <a:noFill/>
          <a:ln w="9525">
            <a:noFill/>
          </a:ln>
        </p:spPr>
      </p:pic>
      <p:sp>
        <p:nvSpPr>
          <p:cNvPr id="15362" name="Text Box 7"/>
          <p:cNvSpPr txBox="1"/>
          <p:nvPr userDrawn="1"/>
        </p:nvSpPr>
        <p:spPr>
          <a:xfrm>
            <a:off x="590550" y="6509385"/>
            <a:ext cx="1579563" cy="319088"/>
          </a:xfrm>
          <a:prstGeom prst="rect">
            <a:avLst/>
          </a:prstGeom>
          <a:noFill/>
          <a:ln w="9525">
            <a:noFill/>
          </a:ln>
        </p:spPr>
        <p:txBody>
          <a:bodyPr wrap="none" anchor="t">
            <a:spAutoFit/>
          </a:bodyPr>
          <a:p>
            <a:r>
              <a:rPr lang="zh-CN" altLang="zh-CN" sz="1400" dirty="0">
                <a:solidFill>
                  <a:schemeClr val="bg1"/>
                </a:solidFill>
                <a:latin typeface="微软雅黑" panose="020B0503020204020204" pitchFamily="34" charset="-122"/>
                <a:ea typeface="微软雅黑" panose="020B0503020204020204" pitchFamily="34" charset="-122"/>
              </a:rPr>
              <a:t>www.csits.</a:t>
            </a:r>
            <a:r>
              <a:rPr lang="en-US" altLang="zh-CN" sz="1400" dirty="0">
                <a:solidFill>
                  <a:schemeClr val="bg1"/>
                </a:solidFill>
                <a:latin typeface="微软雅黑" panose="020B0503020204020204" pitchFamily="34" charset="-122"/>
                <a:ea typeface="微软雅黑" panose="020B0503020204020204" pitchFamily="34" charset="-122"/>
              </a:rPr>
              <a:t>org.cn</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5363" name="矩形 6"/>
          <p:cNvSpPr/>
          <p:nvPr userDrawn="1"/>
        </p:nvSpPr>
        <p:spPr>
          <a:xfrm>
            <a:off x="9017000" y="6231890"/>
            <a:ext cx="3175000" cy="319088"/>
          </a:xfrm>
          <a:prstGeom prst="rect">
            <a:avLst/>
          </a:prstGeom>
          <a:noFill/>
          <a:ln w="9525">
            <a:noFill/>
          </a:ln>
        </p:spPr>
        <p:txBody>
          <a:bodyPr anchor="ctr" anchorCtr="1">
            <a:spAutoFit/>
          </a:bodyPr>
          <a:p>
            <a:pPr algn="ctr"/>
            <a:r>
              <a:rPr lang="zh-CN" altLang="en-US" sz="1400" dirty="0">
                <a:solidFill>
                  <a:schemeClr val="bg1"/>
                </a:solidFill>
                <a:latin typeface="微软雅黑" panose="020B0503020204020204" pitchFamily="34" charset="-122"/>
                <a:ea typeface="微软雅黑" panose="020B0503020204020204" pitchFamily="34" charset="-122"/>
              </a:rPr>
              <a:t>中证信息技术服务有限责任公司</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 name="灯片编号占位符 9"/>
          <p:cNvSpPr>
            <a:spLocks noGrp="1"/>
          </p:cNvSpPr>
          <p:nvPr>
            <p:ph type="sldNum" sz="quarter" idx="12"/>
          </p:nvPr>
        </p:nvSpPr>
        <p:spPr>
          <a:xfrm>
            <a:off x="4886113" y="6492875"/>
            <a:ext cx="2743200" cy="365125"/>
          </a:xfrm>
          <a:prstGeom prst="rect">
            <a:avLst/>
          </a:prstGeom>
        </p:spPr>
        <p:txBody>
          <a:bodyPr vert="horz" lIns="91440" tIns="45720" rIns="91440" bIns="45720" rtlCol="0" anchor="ctr"/>
          <a:lstStyle>
            <a:lvl1pPr algn="ctr">
              <a:defRPr sz="1200"/>
            </a:lvl1pPr>
          </a:lstStyle>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9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tags" Target="../tags/tag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2" Type="http://schemas.openxmlformats.org/officeDocument/2006/relationships/notesSlide" Target="../notesSlides/notesSlide3.xml"/><Relationship Id="rId21" Type="http://schemas.openxmlformats.org/officeDocument/2006/relationships/slideLayout" Target="../slideLayouts/slideLayout9.xml"/><Relationship Id="rId20" Type="http://schemas.openxmlformats.org/officeDocument/2006/relationships/tags" Target="../tags/tag37.xml"/><Relationship Id="rId2" Type="http://schemas.openxmlformats.org/officeDocument/2006/relationships/tags" Target="../tags/tag19.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9.xml"/><Relationship Id="rId2" Type="http://schemas.openxmlformats.org/officeDocument/2006/relationships/tags" Target="../tags/tag39.xml"/><Relationship Id="rId1" Type="http://schemas.openxmlformats.org/officeDocument/2006/relationships/tags" Target="../tags/tag3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1" Type="http://schemas.openxmlformats.org/officeDocument/2006/relationships/notesSlide" Target="../notesSlides/notesSlide5.xml"/><Relationship Id="rId20" Type="http://schemas.openxmlformats.org/officeDocument/2006/relationships/slideLayout" Target="../slideLayouts/slideLayout9.xml"/><Relationship Id="rId2" Type="http://schemas.openxmlformats.org/officeDocument/2006/relationships/tags" Target="../tags/tag41.xml"/><Relationship Id="rId19" Type="http://schemas.openxmlformats.org/officeDocument/2006/relationships/tags" Target="../tags/tag58.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2" Type="http://schemas.openxmlformats.org/officeDocument/2006/relationships/notesSlide" Target="../notesSlides/notesSlide6.xml"/><Relationship Id="rId11" Type="http://schemas.openxmlformats.org/officeDocument/2006/relationships/slideLayout" Target="../slideLayouts/slideLayout9.xml"/><Relationship Id="rId10" Type="http://schemas.openxmlformats.org/officeDocument/2006/relationships/tags" Target="../tags/tag68.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image" Target="../media/image4.png"/><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3" Type="http://schemas.openxmlformats.org/officeDocument/2006/relationships/comments" Target="../comments/comment1.xml"/><Relationship Id="rId32" Type="http://schemas.openxmlformats.org/officeDocument/2006/relationships/notesSlide" Target="../notesSlides/notesSlide7.xml"/><Relationship Id="rId31" Type="http://schemas.openxmlformats.org/officeDocument/2006/relationships/slideLayout" Target="../slideLayouts/slideLayout9.xml"/><Relationship Id="rId30" Type="http://schemas.openxmlformats.org/officeDocument/2006/relationships/tags" Target="../tags/tag95.xml"/><Relationship Id="rId3" Type="http://schemas.openxmlformats.org/officeDocument/2006/relationships/tags" Target="../tags/tag71.xml"/><Relationship Id="rId29" Type="http://schemas.openxmlformats.org/officeDocument/2006/relationships/tags" Target="../tags/tag94.xml"/><Relationship Id="rId28" Type="http://schemas.openxmlformats.org/officeDocument/2006/relationships/tags" Target="../tags/tag93.xml"/><Relationship Id="rId27" Type="http://schemas.openxmlformats.org/officeDocument/2006/relationships/tags" Target="../tags/tag92.xml"/><Relationship Id="rId26" Type="http://schemas.openxmlformats.org/officeDocument/2006/relationships/tags" Target="../tags/tag91.xml"/><Relationship Id="rId25" Type="http://schemas.openxmlformats.org/officeDocument/2006/relationships/image" Target="../media/image6.png"/><Relationship Id="rId24" Type="http://schemas.openxmlformats.org/officeDocument/2006/relationships/tags" Target="../tags/tag90.xml"/><Relationship Id="rId23" Type="http://schemas.openxmlformats.org/officeDocument/2006/relationships/tags" Target="../tags/tag89.xml"/><Relationship Id="rId22" Type="http://schemas.openxmlformats.org/officeDocument/2006/relationships/tags" Target="../tags/tag88.xml"/><Relationship Id="rId21" Type="http://schemas.openxmlformats.org/officeDocument/2006/relationships/tags" Target="../tags/tag87.xml"/><Relationship Id="rId20" Type="http://schemas.openxmlformats.org/officeDocument/2006/relationships/tags" Target="../tags/tag86.xml"/><Relationship Id="rId2" Type="http://schemas.openxmlformats.org/officeDocument/2006/relationships/tags" Target="../tags/tag70.xml"/><Relationship Id="rId19" Type="http://schemas.openxmlformats.org/officeDocument/2006/relationships/tags" Target="../tags/tag85.xml"/><Relationship Id="rId18" Type="http://schemas.openxmlformats.org/officeDocument/2006/relationships/image" Target="../media/image5.png"/><Relationship Id="rId17" Type="http://schemas.openxmlformats.org/officeDocument/2006/relationships/tags" Target="../tags/tag84.xml"/><Relationship Id="rId16" Type="http://schemas.openxmlformats.org/officeDocument/2006/relationships/tags" Target="../tags/tag83.xml"/><Relationship Id="rId15" Type="http://schemas.openxmlformats.org/officeDocument/2006/relationships/tags" Target="../tags/tag82.xml"/><Relationship Id="rId14" Type="http://schemas.openxmlformats.org/officeDocument/2006/relationships/tags" Target="../tags/tag81.xml"/><Relationship Id="rId13" Type="http://schemas.openxmlformats.org/officeDocument/2006/relationships/tags" Target="../tags/tag80.xml"/><Relationship Id="rId12" Type="http://schemas.openxmlformats.org/officeDocument/2006/relationships/tags" Target="../tags/tag7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tags" Target="../tags/tag6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tags" Target="../tags/tag96.xml"/><Relationship Id="rId3" Type="http://schemas.openxmlformats.org/officeDocument/2006/relationships/oleObject" Target="../embeddings/oleObject2.bin"/><Relationship Id="rId2" Type="http://schemas.openxmlformats.org/officeDocument/2006/relationships/image" Target="../media/image7.emf"/><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9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5.xml"/><Relationship Id="rId2" Type="http://schemas.openxmlformats.org/officeDocument/2006/relationships/tags" Target="../tags/tag99.xml"/><Relationship Id="rId1" Type="http://schemas.openxmlformats.org/officeDocument/2006/relationships/tags" Target="../tags/tag9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0.xml"/></Relationships>
</file>

<file path=ppt/slides/_rels/slide22.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image" Target="../media/image11.png"/><Relationship Id="rId4" Type="http://schemas.openxmlformats.org/officeDocument/2006/relationships/tags" Target="../tags/tag103.xml"/><Relationship Id="rId3" Type="http://schemas.openxmlformats.org/officeDocument/2006/relationships/image" Target="../media/image10.jpeg"/><Relationship Id="rId27" Type="http://schemas.openxmlformats.org/officeDocument/2006/relationships/notesSlide" Target="../notesSlides/notesSlide12.xml"/><Relationship Id="rId26" Type="http://schemas.openxmlformats.org/officeDocument/2006/relationships/slideLayout" Target="../slideLayouts/slideLayout9.xml"/><Relationship Id="rId25" Type="http://schemas.openxmlformats.org/officeDocument/2006/relationships/tags" Target="../tags/tag121.xml"/><Relationship Id="rId24" Type="http://schemas.openxmlformats.org/officeDocument/2006/relationships/tags" Target="../tags/tag120.xml"/><Relationship Id="rId23" Type="http://schemas.openxmlformats.org/officeDocument/2006/relationships/tags" Target="../tags/tag119.xml"/><Relationship Id="rId22" Type="http://schemas.openxmlformats.org/officeDocument/2006/relationships/tags" Target="../tags/tag118.xml"/><Relationship Id="rId21" Type="http://schemas.openxmlformats.org/officeDocument/2006/relationships/tags" Target="../tags/tag117.xml"/><Relationship Id="rId20" Type="http://schemas.openxmlformats.org/officeDocument/2006/relationships/tags" Target="../tags/tag116.xml"/><Relationship Id="rId2" Type="http://schemas.openxmlformats.org/officeDocument/2006/relationships/tags" Target="../tags/tag102.xml"/><Relationship Id="rId19" Type="http://schemas.openxmlformats.org/officeDocument/2006/relationships/tags" Target="../tags/tag115.xml"/><Relationship Id="rId18" Type="http://schemas.openxmlformats.org/officeDocument/2006/relationships/tags" Target="../tags/tag114.xml"/><Relationship Id="rId17" Type="http://schemas.openxmlformats.org/officeDocument/2006/relationships/tags" Target="../tags/tag113.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image" Target="../media/image13.png"/><Relationship Id="rId11" Type="http://schemas.openxmlformats.org/officeDocument/2006/relationships/tags" Target="../tags/tag108.xml"/><Relationship Id="rId10" Type="http://schemas.openxmlformats.org/officeDocument/2006/relationships/image" Target="../media/image12.png"/><Relationship Id="rId1" Type="http://schemas.openxmlformats.org/officeDocument/2006/relationships/tags" Target="../tags/tag10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3.xml"/><Relationship Id="rId1" Type="http://schemas.openxmlformats.org/officeDocument/2006/relationships/tags" Target="../tags/tag1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tags" Target="../tags/tag1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1287145"/>
            <a:ext cx="9799320" cy="3575685"/>
          </a:xfrm>
        </p:spPr>
        <p:txBody>
          <a:bodyPr>
            <a:normAutofit/>
          </a:bodyPr>
          <a:p>
            <a:r>
              <a:rPr sz="4800">
                <a:sym typeface="+mn-ea"/>
              </a:rPr>
              <a:t>人大金仓数据卸载加载</a:t>
            </a:r>
            <a:br>
              <a:rPr sz="4800"/>
            </a:br>
            <a:r>
              <a:rPr sz="4800"/>
              <a:t>总体方案设计</a:t>
            </a:r>
            <a:br>
              <a:rPr sz="4800"/>
            </a:br>
            <a:r>
              <a:rPr lang="en-US" altLang="zh-CN"/>
              <a:t>                           </a:t>
            </a:r>
            <a:r>
              <a:rPr sz="2400">
                <a:sym typeface="+mn-ea"/>
              </a:rPr>
              <a:t>业务支撑系统</a:t>
            </a:r>
            <a:r>
              <a:rPr lang="en-US" altLang="zh-CN" sz="2400">
                <a:sym typeface="+mn-ea"/>
              </a:rPr>
              <a:t>-</a:t>
            </a:r>
            <a:r>
              <a:rPr sz="2400">
                <a:sym typeface="+mn-ea"/>
              </a:rPr>
              <a:t>公共模块</a:t>
            </a:r>
            <a:endParaRPr sz="2400">
              <a:sym typeface="+mn-ea"/>
            </a:endParaRPr>
          </a:p>
        </p:txBody>
      </p:sp>
      <p:sp>
        <p:nvSpPr>
          <p:cNvPr id="4" name="文本框 3"/>
          <p:cNvSpPr txBox="1"/>
          <p:nvPr/>
        </p:nvSpPr>
        <p:spPr>
          <a:xfrm>
            <a:off x="5172710" y="4745990"/>
            <a:ext cx="1852295" cy="553085"/>
          </a:xfrm>
          <a:prstGeom prst="rect">
            <a:avLst/>
          </a:prstGeom>
          <a:effectLst>
            <a:glow rad="139700">
              <a:schemeClr val="accent1">
                <a:satMod val="175000"/>
                <a:alpha val="40000"/>
              </a:schemeClr>
            </a:glow>
          </a:effectLst>
        </p:spPr>
        <p:txBody>
          <a:bodyPr wrap="square" rtlCol="0" anchor="b">
            <a:sp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gn="ctr">
              <a:lnSpc>
                <a:spcPct val="150000"/>
              </a:lnSpc>
              <a:buClrTx/>
              <a:buSzTx/>
              <a:buFont typeface="Arial" panose="020B0604020202090204" pitchFamily="34" charset="0"/>
              <a:defRPr/>
            </a:pP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  20</a:t>
            </a:r>
            <a:r>
              <a:rPr lang="en-US"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26</a:t>
            </a: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年</a:t>
            </a:r>
            <a:r>
              <a:rPr lang="en-US"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1</a:t>
            </a:r>
            <a:r>
              <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月</a:t>
            </a:r>
            <a:endParaRPr lang="zh-CN" altLang="zh-CN" sz="200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7"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
        <p:nvSpPr>
          <p:cNvPr id="39949"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endParaRPr>
          </a:p>
        </p:txBody>
      </p:sp>
      <p:sp>
        <p:nvSpPr>
          <p:cNvPr id="39950"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1" name="矩形 25"/>
          <p:cNvSpPr/>
          <p:nvPr/>
        </p:nvSpPr>
        <p:spPr>
          <a:xfrm>
            <a:off x="5305425" y="2705100"/>
            <a:ext cx="1198880" cy="368300"/>
          </a:xfrm>
          <a:prstGeom prst="rect">
            <a:avLst/>
          </a:prstGeom>
          <a:noFill/>
          <a:ln w="9525">
            <a:noFill/>
          </a:ln>
        </p:spPr>
        <p:txBody>
          <a:bodyPr wrap="none" anchor="t">
            <a:spAutoFit/>
          </a:bodyPr>
          <a:p>
            <a:pPr lvl="0" algn="l">
              <a:lnSpc>
                <a:spcPct val="90000"/>
              </a:lnSpc>
              <a:buClrTx/>
              <a:buSzTx/>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56"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8"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63"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65"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74940" y="1910080"/>
            <a:ext cx="635" cy="150304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209867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1882775"/>
            <a:ext cx="2527300" cy="1322070"/>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基本情况</a:t>
            </a:r>
            <a:endParaRPr lang="en-US"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sym typeface="+mn-ea"/>
              </a:rPr>
              <a:t>业务规划</a:t>
            </a: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TextBox 3"/>
          <p:cNvSpPr/>
          <p:nvPr/>
        </p:nvSpPr>
        <p:spPr>
          <a:xfrm>
            <a:off x="1212215" y="1212215"/>
            <a:ext cx="9708515" cy="4488815"/>
          </a:xfrm>
          <a:prstGeom prst="rect">
            <a:avLst/>
          </a:prstGeom>
          <a:noFill/>
          <a:ln w="19050" cap="flat" cmpd="sng">
            <a:noFill/>
            <a:prstDash val="lgDash"/>
            <a:miter/>
            <a:headEnd type="none" w="med" len="med"/>
            <a:tailEnd type="none" w="med" len="med"/>
          </a:ln>
        </p:spPr>
        <p:txBody>
          <a:bodyPr wrap="square" anchor="t"/>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项目中文名称“</a:t>
            </a:r>
            <a:r>
              <a:rPr lang="zh-CN" altLang="en-US">
                <a:sym typeface="+mn-ea"/>
              </a:rPr>
              <a:t>人大金仓数据卸载加载工具</a:t>
            </a: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a:t>
            </a:r>
            <a:endParaRPr lang="zh-CN" altLang="en-US" sz="1800" dirty="0">
              <a:latin typeface="微软雅黑" panose="020B0503020204020204" pitchFamily="34" charset="-122"/>
              <a:ea typeface="微软雅黑" panose="020B0503020204020204" pitchFamily="34" charset="-122"/>
              <a:cs typeface="+mn-ea"/>
              <a:sym typeface="Arial" panose="020B0604020202090204" charset="-122"/>
            </a:endParaRPr>
          </a:p>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项目相关方：</a:t>
            </a:r>
            <a:endParaRPr lang="zh-CN" altLang="en-US" sz="1800" dirty="0">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highlight>
                  <a:srgbClr val="FFFF00"/>
                </a:highlight>
                <a:latin typeface="微软雅黑" panose="020B0503020204020204" pitchFamily="34" charset="-122"/>
                <a:ea typeface="微软雅黑" panose="020B0503020204020204" pitchFamily="34" charset="-122"/>
                <a:cs typeface="+mn-ea"/>
                <a:sym typeface="Arial" panose="020B0604020202090204" charset="-122"/>
              </a:rPr>
              <a:t>项目需求方：，</a:t>
            </a:r>
            <a:endParaRPr lang="zh-CN" altLang="en-US" dirty="0">
              <a:highlight>
                <a:srgbClr val="FFFF00"/>
              </a:highlight>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highlight>
                  <a:srgbClr val="FFFF00"/>
                </a:highlight>
                <a:latin typeface="微软雅黑" panose="020B0503020204020204" pitchFamily="34" charset="-122"/>
                <a:ea typeface="微软雅黑" panose="020B0503020204020204" pitchFamily="34" charset="-122"/>
                <a:cs typeface="+mn-ea"/>
                <a:sym typeface="Arial" panose="020B0604020202090204" charset="-122"/>
              </a:rPr>
              <a:t>研发部门：监管业务系统开发部，</a:t>
            </a:r>
            <a:endParaRPr lang="zh-CN" altLang="en-US" dirty="0">
              <a:highlight>
                <a:srgbClr val="FFFF00"/>
              </a:highlight>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highlight>
                  <a:srgbClr val="FFFF00"/>
                </a:highlight>
                <a:latin typeface="微软雅黑" panose="020B0503020204020204" pitchFamily="34" charset="-122"/>
                <a:ea typeface="微软雅黑" panose="020B0503020204020204" pitchFamily="34" charset="-122"/>
                <a:cs typeface="+mn-ea"/>
                <a:sym typeface="Arial" panose="020B0604020202090204" charset="-122"/>
              </a:rPr>
              <a:t>使用部门：，</a:t>
            </a:r>
            <a:endParaRPr lang="zh-CN" altLang="en-US" dirty="0">
              <a:highlight>
                <a:srgbClr val="FFFF00"/>
              </a:highlight>
              <a:latin typeface="微软雅黑" panose="020B0503020204020204" pitchFamily="34" charset="-122"/>
              <a:ea typeface="微软雅黑" panose="020B0503020204020204" pitchFamily="34" charset="-122"/>
              <a:cs typeface="+mn-ea"/>
              <a:sym typeface="Arial" panose="020B0604020202090204" charset="-122"/>
            </a:endParaRPr>
          </a:p>
          <a:p>
            <a:pPr indent="457200" eaLnBrk="0" hangingPunct="0">
              <a:lnSpc>
                <a:spcPct val="150000"/>
              </a:lnSpc>
              <a:buFont typeface="Wingdings" panose="05000000000000000000" pitchFamily="2" charset="2"/>
              <a:buNone/>
            </a:pPr>
            <a:r>
              <a:rPr lang="zh-CN" altLang="en-US" dirty="0">
                <a:highlight>
                  <a:srgbClr val="FFFF00"/>
                </a:highlight>
                <a:latin typeface="微软雅黑" panose="020B0503020204020204" pitchFamily="34" charset="-122"/>
                <a:ea typeface="微软雅黑" panose="020B0503020204020204" pitchFamily="34" charset="-122"/>
                <a:cs typeface="+mn-ea"/>
                <a:sym typeface="Arial" panose="020B0604020202090204" charset="-122"/>
              </a:rPr>
              <a:t>运行部门：运维部、基础设施部，</a:t>
            </a:r>
            <a:endParaRPr lang="zh-CN" altLang="en-US" dirty="0">
              <a:highlight>
                <a:srgbClr val="FFFF00"/>
              </a:highlight>
              <a:latin typeface="微软雅黑" panose="020B0503020204020204" pitchFamily="34" charset="-122"/>
              <a:ea typeface="微软雅黑" panose="020B0503020204020204" pitchFamily="34" charset="-122"/>
              <a:cs typeface="+mn-ea"/>
              <a:sym typeface="Arial" panose="020B0604020202090204" charset="-122"/>
            </a:endParaRPr>
          </a:p>
          <a:p>
            <a:pPr eaLnBrk="0" hangingPunct="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前期工作情况：为了解决各项目组在数据入库过程中面临的开发维护成本高以及模块分散导致的冗余建设等实际问题，开展了业务调研。期间完成了人大金仓</a:t>
            </a:r>
            <a:r>
              <a:rPr lang="en-US" altLang="zh-CN" sz="1800" dirty="0">
                <a:latin typeface="微软雅黑" panose="020B0503020204020204" pitchFamily="34" charset="-122"/>
                <a:ea typeface="微软雅黑" panose="020B0503020204020204" pitchFamily="34" charset="-122"/>
                <a:cs typeface="+mn-ea"/>
                <a:sym typeface="Arial" panose="020B0604020202090204" charset="-122"/>
              </a:rPr>
              <a:t>COPY</a:t>
            </a: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命令</a:t>
            </a:r>
            <a:r>
              <a:rPr lang="zh-CN" altLang="en-US" sz="1800" dirty="0">
                <a:latin typeface="微软雅黑" panose="020B0503020204020204" pitchFamily="34" charset="-122"/>
                <a:ea typeface="微软雅黑" panose="020B0503020204020204" pitchFamily="34" charset="-122"/>
                <a:cs typeface="+mn-ea"/>
                <a:sym typeface="Arial" panose="020B0604020202090204" charset="-122"/>
              </a:rPr>
              <a:t>使用的验证，在与各业务相关方充分沟通协作效率后，最终确立了人大金仓数据卸载加载工具的标准化设计路线与流程规范。</a:t>
            </a:r>
            <a:endParaRPr lang="zh-CN" altLang="en-US" sz="1800" dirty="0">
              <a:latin typeface="微软雅黑" panose="020B0503020204020204" pitchFamily="34" charset="-122"/>
              <a:ea typeface="微软雅黑" panose="020B0503020204020204" pitchFamily="34" charset="-122"/>
              <a:cs typeface="+mn-ea"/>
              <a:sym typeface="Arial" panose="020B0604020202090204" charset="-122"/>
            </a:endParaRPr>
          </a:p>
        </p:txBody>
      </p:sp>
      <p:sp>
        <p:nvSpPr>
          <p:cNvPr id="43010" name="Text Box 16"/>
          <p:cNvSpPr/>
          <p:nvPr/>
        </p:nvSpPr>
        <p:spPr>
          <a:xfrm>
            <a:off x="590550" y="875030"/>
            <a:ext cx="246443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项目情况</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43011" name="标题 4"/>
          <p:cNvSpPr>
            <a:spLocks noGrp="1"/>
          </p:cNvSpPr>
          <p:nvPr>
            <p:ph type="title"/>
          </p:nvPr>
        </p:nvSpPr>
        <p:spPr>
          <a:xfrm>
            <a:off x="3573780" y="76835"/>
            <a:ext cx="8337550" cy="577850"/>
          </a:xfrm>
        </p:spPr>
        <p:txBody>
          <a:bodyPr lIns="91440" tIns="45720" rIns="91440" bIns="45720" anchor="ctr"/>
          <a:p>
            <a:r>
              <a:rPr lang="en-US" altLang="zh-CN"/>
              <a:t>1.1</a:t>
            </a:r>
            <a:r>
              <a:rPr lang="zh-CN" altLang="zh-CN"/>
              <a:t>基本情况</a:t>
            </a:r>
            <a:endParaRPr lang="zh-CN" altLang="en-US"/>
          </a:p>
        </p:txBody>
      </p:sp>
      <p:sp>
        <p:nvSpPr>
          <p:cNvPr id="4" name="灯片编号占位符 3"/>
          <p:cNvSpPr>
            <a:spLocks noGrp="1"/>
          </p:cNvSpPr>
          <p:nvPr/>
        </p:nvSpPr>
        <p:spPr>
          <a:xfrm>
            <a:off x="4886113" y="6492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3</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7"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
        <p:nvSpPr>
          <p:cNvPr id="39949"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solidFill>
                <a:schemeClr val="tx1"/>
              </a:solidFill>
              <a:latin typeface="Times New Roman" panose="02020703060505090304" pitchFamily="2" charset="-20"/>
              <a:ea typeface="微软雅黑" panose="020B0503020204020204" pitchFamily="34" charset="-122"/>
              <a:sym typeface="Arial" panose="020B0604020202090204" charset="-122"/>
            </a:endParaRPr>
          </a:p>
        </p:txBody>
      </p:sp>
      <p:sp>
        <p:nvSpPr>
          <p:cNvPr id="39950"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1" name="矩形 25"/>
          <p:cNvSpPr/>
          <p:nvPr/>
        </p:nvSpPr>
        <p:spPr>
          <a:xfrm>
            <a:off x="5305425" y="2705100"/>
            <a:ext cx="1198880" cy="368300"/>
          </a:xfrm>
          <a:prstGeom prst="rect">
            <a:avLst/>
          </a:prstGeom>
          <a:noFill/>
          <a:ln w="9525">
            <a:noFill/>
          </a:ln>
        </p:spPr>
        <p:txBody>
          <a:bodyPr wrap="none" anchor="t">
            <a:spAutoFit/>
          </a:bodyPr>
          <a:p>
            <a:pPr lvl="0" algn="l">
              <a:lnSpc>
                <a:spcPct val="90000"/>
              </a:lnSpc>
              <a:buClrTx/>
              <a:buSzTx/>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56"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58"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9963"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9965"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74940" y="1910080"/>
            <a:ext cx="635" cy="150304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209867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1882775"/>
            <a:ext cx="2527300" cy="1322070"/>
          </a:xfrm>
          <a:prstGeom prst="rect">
            <a:avLst/>
          </a:prstGeom>
          <a:noFill/>
          <a:ln w="9525">
            <a:noFill/>
          </a:ln>
        </p:spPr>
        <p:txBody>
          <a:bodyPr wrap="square" anchor="t">
            <a:spAutoFit/>
          </a:bodyPr>
          <a:p>
            <a:pPr>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基本情况</a:t>
            </a:r>
            <a:endParaRPr lang="en-US"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sym typeface="+mn-ea"/>
              </a:rPr>
              <a:t>业务规划</a:t>
            </a: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2"/>
          <p:cNvSpPr>
            <a:spLocks noGrp="1"/>
          </p:cNvSpPr>
          <p:nvPr>
            <p:ph type="title" idx="4294967295"/>
          </p:nvPr>
        </p:nvSpPr>
        <p:spPr/>
        <p:txBody>
          <a:bodyPr wrap="square" lIns="91440" tIns="45720" rIns="91440" bIns="45720" anchor="ctr"/>
          <a:p>
            <a:r>
              <a:rPr lang="en-US" altLang="zh-CN" dirty="0">
                <a:latin typeface="Arial" panose="020B0604020202090204" charset="-122"/>
                <a:sym typeface="宋体" panose="02010600030101010101" pitchFamily="2" charset="-122"/>
              </a:rPr>
              <a:t> 1.2</a:t>
            </a:r>
            <a:r>
              <a:rPr lang="zh-CN" altLang="en-US" dirty="0">
                <a:latin typeface="Arial" panose="020B0604020202090204" charset="-122"/>
                <a:sym typeface="宋体" panose="02010600030101010101" pitchFamily="2" charset="-122"/>
              </a:rPr>
              <a:t>业务规划</a:t>
            </a:r>
            <a:endParaRPr lang="zh-CN" altLang="en-US" dirty="0">
              <a:latin typeface="Arial" panose="020B0604020202090204" charset="-122"/>
              <a:sym typeface="宋体" panose="02010600030101010101" pitchFamily="2" charset="-122"/>
            </a:endParaRPr>
          </a:p>
        </p:txBody>
      </p:sp>
      <p:sp>
        <p:nvSpPr>
          <p:cNvPr id="32770" name="TextBox 3"/>
          <p:cNvSpPr/>
          <p:nvPr/>
        </p:nvSpPr>
        <p:spPr>
          <a:xfrm>
            <a:off x="553720" y="1619250"/>
            <a:ext cx="10866755" cy="2571115"/>
          </a:xfrm>
          <a:prstGeom prst="rect">
            <a:avLst/>
          </a:prstGeom>
          <a:noFill/>
          <a:ln w="19050" cap="flat" cmpd="sng">
            <a:solidFill>
              <a:srgbClr val="5B9BD5"/>
            </a:solidFill>
            <a:prstDash val="lgDash"/>
            <a:bevel/>
            <a:headEnd type="none" w="med" len="med"/>
            <a:tailEnd type="none" w="med" len="med"/>
          </a:ln>
        </p:spPr>
        <p:txBody>
          <a:bodyPr wrap="square" anchor="t"/>
          <a:p>
            <a:pPr algn="l">
              <a:lnSpc>
                <a:spcPct val="125000"/>
              </a:lnSpc>
              <a:spcAft>
                <a:spcPts val="0"/>
              </a:spcAft>
              <a:buClrTx/>
              <a:buSzTx/>
              <a:buFontTx/>
            </a:pPr>
            <a:r>
              <a:rPr lang="zh-CN" altLang="en-US" b="1" dirty="0">
                <a:latin typeface="微软雅黑" panose="020B0503020204020204" pitchFamily="34" charset="-122"/>
                <a:ea typeface="微软雅黑" panose="020B0503020204020204" pitchFamily="34" charset="-122"/>
                <a:cs typeface="+mn-ea"/>
                <a:sym typeface="+mn-ea"/>
              </a:rPr>
              <a:t>     </a:t>
            </a:r>
            <a:r>
              <a:rPr lang="en-US" altLang="zh-CN" b="1" dirty="0">
                <a:latin typeface="微软雅黑" panose="020B0503020204020204" pitchFamily="34" charset="-122"/>
                <a:ea typeface="微软雅黑" panose="020B0503020204020204" pitchFamily="34" charset="-122"/>
                <a:cs typeface="+mn-ea"/>
                <a:sym typeface="+mn-ea"/>
              </a:rPr>
              <a:t>  </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为减轻各项目组数据入库的开发维护成本，避免分散开发导致的冗余建设和协作效率问题，构建一套标准化、高安全、可扩展的数据卸载与加载平台</a:t>
            </a:r>
            <a:r>
              <a:rPr lang="en-US" altLang="zh-CN" strike="noStrike" noProof="1" dirty="0">
                <a:latin typeface="微软雅黑" panose="020B0503020204020204" pitchFamily="34" charset="-122"/>
                <a:ea typeface="微软雅黑" panose="020B0503020204020204" pitchFamily="34" charset="-122"/>
                <a:sym typeface="Arial" panose="020B0604020202090204" charset="-122"/>
              </a:rPr>
              <a:t> </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。系统核心能力包括将人大金仓数据库和服务器文件高效卸载为本地加密数据包，并支持全量、增量及跨库加载还原</a:t>
            </a:r>
            <a:r>
              <a:rPr lang="en-US" altLang="zh-CN" strike="noStrike" noProof="1" dirty="0">
                <a:latin typeface="微软雅黑" panose="020B0503020204020204" pitchFamily="34" charset="-122"/>
                <a:ea typeface="微软雅黑" panose="020B0503020204020204" pitchFamily="34" charset="-122"/>
                <a:sym typeface="Arial" panose="020B0604020202090204" charset="-122"/>
              </a:rPr>
              <a:t> </a:t>
            </a:r>
            <a:r>
              <a:rPr lang="zh-CN" altLang="en-US" strike="noStrike" noProof="1" dirty="0">
                <a:latin typeface="微软雅黑" panose="020B0503020204020204" pitchFamily="34" charset="-122"/>
                <a:ea typeface="微软雅黑" panose="020B0503020204020204" pitchFamily="34" charset="-122"/>
                <a:sym typeface="Arial" panose="020B0604020202090204" charset="-122"/>
              </a:rPr>
              <a:t>。</a:t>
            </a:r>
            <a:endParaRPr lang="zh-CN" altLang="en-US" strike="noStrike" noProof="1" dirty="0">
              <a:latin typeface="微软雅黑" panose="020B0503020204020204" pitchFamily="34" charset="-122"/>
              <a:ea typeface="微软雅黑" panose="020B0503020204020204" pitchFamily="34" charset="-122"/>
              <a:sym typeface="Arial" panose="020B0604020202090204" charset="-122"/>
            </a:endParaRPr>
          </a:p>
        </p:txBody>
      </p:sp>
      <p:sp>
        <p:nvSpPr>
          <p:cNvPr id="45059" name="Text Box 16"/>
          <p:cNvSpPr/>
          <p:nvPr/>
        </p:nvSpPr>
        <p:spPr>
          <a:xfrm>
            <a:off x="377825" y="866775"/>
            <a:ext cx="240220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业务规划</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5</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8"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83979"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3981"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83982"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3983"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83988"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3990"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1925003"/>
            <a:ext cx="2527300" cy="2553335"/>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总体架构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rPr>
              <a:t>功能架构</a:t>
            </a: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数据架构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83998"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84000"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6"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49115" y="90170"/>
            <a:ext cx="7597140" cy="622935"/>
          </a:xfrm>
        </p:spPr>
        <p:txBody>
          <a:bodyPr/>
          <a:p>
            <a:r>
              <a:rPr lang="en-US" altLang="zh-CN">
                <a:latin typeface="Arial" panose="020B0604020202090204" pitchFamily="34" charset="0"/>
                <a:sym typeface="宋体" panose="02010600030101010101" pitchFamily="2" charset="-122"/>
              </a:rPr>
              <a:t>2.1</a:t>
            </a:r>
            <a:r>
              <a:rPr>
                <a:sym typeface="+mn-ea"/>
              </a:rPr>
              <a:t>人大金仓数据卸载加载工具</a:t>
            </a:r>
            <a:r>
              <a:rPr>
                <a:latin typeface="Arial" panose="020B0604020202090204" pitchFamily="34" charset="0"/>
                <a:sym typeface="宋体" panose="02010600030101010101" pitchFamily="2" charset="-122"/>
              </a:rPr>
              <a:t>整体架构</a:t>
            </a:r>
            <a:endParaRPr lang="zh-CN" altLang="en-US"/>
          </a:p>
        </p:txBody>
      </p:sp>
      <p:sp>
        <p:nvSpPr>
          <p:cNvPr id="4" name="灯片编号占位符 3"/>
          <p:cNvSpPr>
            <a:spLocks noGrp="1"/>
          </p:cNvSpPr>
          <p:nvPr>
            <p:ph type="sldNum" sz="quarter" idx="12"/>
          </p:nvPr>
        </p:nvSpPr>
        <p:spPr>
          <a:xfrm>
            <a:off x="5615093" y="6536055"/>
            <a:ext cx="2743200" cy="365125"/>
          </a:xfrm>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7</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39" name="直接连接符 38"/>
          <p:cNvCxnSpPr/>
          <p:nvPr>
            <p:custDataLst>
              <p:tags r:id="rId1"/>
            </p:custDataLst>
          </p:nvPr>
        </p:nvCxnSpPr>
        <p:spPr>
          <a:xfrm flipH="1">
            <a:off x="2590165" y="908685"/>
            <a:ext cx="38735" cy="5627370"/>
          </a:xfrm>
          <a:prstGeom prst="line">
            <a:avLst/>
          </a:prstGeom>
          <a:ln>
            <a:solidFill>
              <a:schemeClr val="tx1"/>
            </a:solidFill>
            <a:prstDash val="sysDot"/>
          </a:ln>
        </p:spPr>
        <p:style>
          <a:lnRef idx="2">
            <a:schemeClr val="accent1"/>
          </a:lnRef>
          <a:fillRef idx="0">
            <a:srgbClr val="FFFFFF"/>
          </a:fillRef>
          <a:effectRef idx="0">
            <a:srgbClr val="FFFFFF"/>
          </a:effectRef>
          <a:fontRef idx="minor">
            <a:schemeClr val="tx1"/>
          </a:fontRef>
        </p:style>
      </p:cxnSp>
      <p:sp>
        <p:nvSpPr>
          <p:cNvPr id="90" name="矩形 32"/>
          <p:cNvSpPr/>
          <p:nvPr>
            <p:custDataLst>
              <p:tags r:id="rId2"/>
            </p:custDataLst>
          </p:nvPr>
        </p:nvSpPr>
        <p:spPr>
          <a:xfrm>
            <a:off x="10882630" y="1546225"/>
            <a:ext cx="856615" cy="34988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调度平台</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graphicFrame>
        <p:nvGraphicFramePr>
          <p:cNvPr id="6" name="表格 5"/>
          <p:cNvGraphicFramePr/>
          <p:nvPr>
            <p:custDataLst>
              <p:tags r:id="rId3"/>
            </p:custDataLst>
          </p:nvPr>
        </p:nvGraphicFramePr>
        <p:xfrm>
          <a:off x="0" y="788035"/>
          <a:ext cx="2568575" cy="5794375"/>
        </p:xfrm>
        <a:graphic>
          <a:graphicData uri="http://schemas.openxmlformats.org/drawingml/2006/table">
            <a:tbl>
              <a:tblPr firstRow="1" bandRow="1">
                <a:tableStyleId>{5C22544A-7EE6-4342-B048-85BDC9FD1C3A}</a:tableStyleId>
              </a:tblPr>
              <a:tblGrid>
                <a:gridCol w="520700"/>
                <a:gridCol w="242570"/>
                <a:gridCol w="1805305"/>
              </a:tblGrid>
              <a:tr h="485140">
                <a:tc gridSpan="3">
                  <a:txBody>
                    <a:bodyPr/>
                    <a:p>
                      <a:pPr algn="ctr">
                        <a:buNone/>
                      </a:pPr>
                      <a:r>
                        <a:rPr lang="zh-CN" altLang="en-US" sz="800"/>
                        <a:t>人大金仓数据卸载加载</a:t>
                      </a:r>
                      <a:endParaRPr lang="zh-CN" altLang="en-US" sz="800"/>
                    </a:p>
                  </a:txBody>
                  <a:tcPr anchor="ctr" anchorCtr="0"/>
                </a:tc>
                <a:tc hMerge="1">
                  <a:tcPr/>
                </a:tc>
                <a:tc hMerge="1">
                  <a:tcPr/>
                </a:tc>
              </a:tr>
              <a:tr h="824865">
                <a:tc>
                  <a:txBody>
                    <a:bodyPr/>
                    <a:p>
                      <a:pPr algn="ctr">
                        <a:buClrTx/>
                        <a:buSzTx/>
                        <a:buFontTx/>
                        <a:buNone/>
                      </a:pPr>
                      <a:r>
                        <a:rPr lang="en-US" altLang="zh-CN" sz="800" b="1">
                          <a:solidFill>
                            <a:schemeClr val="lt1"/>
                          </a:solidFill>
                          <a:sym typeface="+mn-ea"/>
                        </a:rPr>
                        <a:t>模块调整内容</a:t>
                      </a:r>
                      <a:endParaRPr lang="en-US" altLang="zh-CN" sz="800" b="1">
                        <a:solidFill>
                          <a:schemeClr val="lt1"/>
                        </a:solidFill>
                        <a:sym typeface="+mn-ea"/>
                      </a:endParaRPr>
                    </a:p>
                  </a:txBody>
                  <a:tcPr anchor="ctr" anchorCtr="0">
                    <a:solidFill>
                      <a:srgbClr val="6096E6"/>
                    </a:solidFill>
                  </a:tcPr>
                </a:tc>
                <a:tc gridSpan="2">
                  <a:txBody>
                    <a:bodyPr/>
                    <a:p>
                      <a:pPr algn="l">
                        <a:buNone/>
                      </a:pPr>
                      <a:r>
                        <a:rPr lang="zh-CN" altLang="en-US" sz="800"/>
                        <a:t>新增</a:t>
                      </a:r>
                      <a:r>
                        <a:rPr lang="zh-CN" altLang="en-US" sz="800">
                          <a:sym typeface="+mn-ea"/>
                        </a:rPr>
                        <a:t>人大金仓数据卸载加载工具，</a:t>
                      </a:r>
                      <a:r>
                        <a:rPr lang="zh-CN" altLang="en-US" sz="800"/>
                        <a:t>负责数据人大金仓数据的卸载加载和非结构话文件的采集还原，以及管理功能。</a:t>
                      </a:r>
                      <a:endParaRPr lang="zh-CN" altLang="en-US" sz="800"/>
                    </a:p>
                  </a:txBody>
                  <a:tcPr anchor="ctr" anchorCtr="0"/>
                </a:tc>
                <a:tc hMerge="1">
                  <a:tcPr anchor="ctr" anchorCtr="0"/>
                </a:tc>
              </a:tr>
              <a:tr h="901065">
                <a:tc>
                  <a:txBody>
                    <a:bodyPr/>
                    <a:p>
                      <a:pPr algn="ctr">
                        <a:buClrTx/>
                        <a:buSzTx/>
                        <a:buFontTx/>
                        <a:buNone/>
                      </a:pPr>
                      <a:r>
                        <a:rPr lang="en-US" altLang="zh-CN" sz="800" b="1">
                          <a:solidFill>
                            <a:schemeClr val="lt1"/>
                          </a:solidFill>
                        </a:rPr>
                        <a:t>调整原因</a:t>
                      </a:r>
                      <a:endParaRPr lang="en-US" altLang="zh-CN" sz="800" b="1">
                        <a:solidFill>
                          <a:schemeClr val="lt1"/>
                        </a:solidFill>
                      </a:endParaRPr>
                    </a:p>
                  </a:txBody>
                  <a:tcPr anchor="ctr" anchorCtr="0">
                    <a:solidFill>
                      <a:srgbClr val="6096E6"/>
                    </a:solidFill>
                  </a:tcPr>
                </a:tc>
                <a:tc>
                  <a:txBody>
                    <a:bodyPr/>
                    <a:p>
                      <a:pPr algn="ctr">
                        <a:buNone/>
                      </a:pPr>
                      <a:r>
                        <a:rPr lang="zh-CN" altLang="en-US" sz="800"/>
                        <a:t>服务</a:t>
                      </a:r>
                      <a:r>
                        <a:rPr lang="en-US" altLang="zh-CN" sz="800"/>
                        <a:t>/</a:t>
                      </a:r>
                      <a:r>
                        <a:rPr lang="zh-CN" altLang="en-US" sz="800"/>
                        <a:t>功能</a:t>
                      </a:r>
                      <a:endParaRPr lang="zh-CN" altLang="en-US" sz="800"/>
                    </a:p>
                  </a:txBody>
                  <a:tcPr anchor="ctr" anchorCtr="0"/>
                </a:tc>
                <a:tc>
                  <a:txBody>
                    <a:bodyPr/>
                    <a:p>
                      <a:pPr>
                        <a:buNone/>
                      </a:pPr>
                      <a:endParaRPr lang="zh-CN" altLang="en-US" sz="800"/>
                    </a:p>
                  </a:txBody>
                  <a:tcPr anchor="ctr" anchorCtr="0"/>
                </a:tc>
              </a:tr>
              <a:tr h="902335">
                <a:tc>
                  <a:txBody>
                    <a:bodyPr/>
                    <a:p>
                      <a:pPr algn="ctr">
                        <a:buClrTx/>
                        <a:buSzTx/>
                        <a:buFontTx/>
                        <a:buNone/>
                      </a:pPr>
                      <a:r>
                        <a:rPr lang="en-US" altLang="zh-CN" sz="800" b="1">
                          <a:solidFill>
                            <a:schemeClr val="lt1"/>
                          </a:solidFill>
                        </a:rPr>
                        <a:t>是否可提供swagger</a:t>
                      </a:r>
                      <a:endParaRPr lang="en-US" altLang="zh-CN" sz="800" b="1">
                        <a:solidFill>
                          <a:schemeClr val="lt1"/>
                        </a:solidFill>
                      </a:endParaRPr>
                    </a:p>
                  </a:txBody>
                  <a:tcPr anchor="ctr" anchorCtr="0">
                    <a:solidFill>
                      <a:srgbClr val="6096E6"/>
                    </a:solidFill>
                  </a:tcPr>
                </a:tc>
                <a:tc gridSpan="2">
                  <a:txBody>
                    <a:bodyPr/>
                    <a:p>
                      <a:pPr algn="l">
                        <a:buNone/>
                      </a:pPr>
                      <a:r>
                        <a:rPr lang="zh-CN" altLang="en-US" sz="800"/>
                        <a:t>是</a:t>
                      </a:r>
                      <a:endParaRPr lang="zh-CN" altLang="en-US" sz="800"/>
                    </a:p>
                  </a:txBody>
                  <a:tcPr anchor="ctr" anchorCtr="0"/>
                </a:tc>
                <a:tc hMerge="1">
                  <a:tcPr anchor="ctr" anchorCtr="0"/>
                </a:tc>
              </a:tr>
              <a:tr h="777240">
                <a:tc>
                  <a:txBody>
                    <a:bodyPr/>
                    <a:p>
                      <a:pPr algn="ctr">
                        <a:buClrTx/>
                        <a:buSzTx/>
                        <a:buFontTx/>
                        <a:buNone/>
                      </a:pPr>
                      <a:r>
                        <a:rPr lang="en-US" altLang="zh-CN" sz="800" b="1">
                          <a:solidFill>
                            <a:schemeClr val="lt1"/>
                          </a:solidFill>
                          <a:sym typeface="+mn-ea"/>
                        </a:rPr>
                        <a:t>功能复用情况</a:t>
                      </a:r>
                      <a:endParaRPr lang="en-US" altLang="zh-CN" sz="800" b="1">
                        <a:solidFill>
                          <a:schemeClr val="lt1"/>
                        </a:solidFill>
                        <a:sym typeface="+mn-ea"/>
                      </a:endParaRPr>
                    </a:p>
                  </a:txBody>
                  <a:tcPr anchor="ctr" anchorCtr="0">
                    <a:solidFill>
                      <a:srgbClr val="6096E6"/>
                    </a:solidFill>
                  </a:tcPr>
                </a:tc>
                <a:tc gridSpan="2">
                  <a:txBody>
                    <a:bodyPr/>
                    <a:p>
                      <a:pPr algn="l">
                        <a:buNone/>
                      </a:pPr>
                      <a:r>
                        <a:rPr lang="zh-CN" altLang="en-US" sz="800"/>
                        <a:t>不涉及</a:t>
                      </a:r>
                      <a:endParaRPr lang="zh-CN" altLang="en-US" sz="800"/>
                    </a:p>
                  </a:txBody>
                  <a:tcPr anchor="ctr" anchorCtr="0"/>
                </a:tc>
                <a:tc hMerge="1">
                  <a:tcPr anchor="ctr" anchorCtr="0"/>
                </a:tc>
              </a:tr>
              <a:tr h="1057910">
                <a:tc rowSpan="2">
                  <a:txBody>
                    <a:bodyPr/>
                    <a:p>
                      <a:pPr algn="ctr">
                        <a:buClrTx/>
                        <a:buSzTx/>
                        <a:buFontTx/>
                        <a:buNone/>
                      </a:pPr>
                      <a:r>
                        <a:rPr lang="en-US" altLang="zh-CN" sz="800" b="1">
                          <a:solidFill>
                            <a:schemeClr val="lt1"/>
                          </a:solidFill>
                          <a:sym typeface="+mn-ea"/>
                        </a:rPr>
                        <a:t>功能实现方式</a:t>
                      </a:r>
                      <a:endParaRPr lang="en-US" altLang="zh-CN" sz="800" b="1">
                        <a:solidFill>
                          <a:schemeClr val="lt1"/>
                        </a:solidFill>
                        <a:sym typeface="+mn-ea"/>
                      </a:endParaRPr>
                    </a:p>
                  </a:txBody>
                  <a:tcPr anchor="ctr" anchorCtr="0">
                    <a:solidFill>
                      <a:srgbClr val="6096E6"/>
                    </a:solidFill>
                  </a:tcPr>
                </a:tc>
                <a:tc>
                  <a:txBody>
                    <a:bodyPr/>
                    <a:p>
                      <a:pPr algn="l">
                        <a:buNone/>
                      </a:pPr>
                      <a:r>
                        <a:rPr lang="zh-CN" altLang="en-US" sz="800">
                          <a:sym typeface="+mn-ea"/>
                        </a:rPr>
                        <a:t>数据卸载</a:t>
                      </a:r>
                      <a:r>
                        <a:rPr lang="zh-CN" altLang="en-US" sz="800">
                          <a:sym typeface="+mn-ea"/>
                        </a:rPr>
                        <a:t>加载</a:t>
                      </a:r>
                      <a:endParaRPr lang="zh-CN" altLang="en-US" sz="800">
                        <a:sym typeface="+mn-ea"/>
                      </a:endParaRPr>
                    </a:p>
                  </a:txBody>
                  <a:tcPr anchor="ctr" anchorCtr="0"/>
                </a:tc>
                <a:tc>
                  <a:txBody>
                    <a:bodyPr/>
                    <a:p>
                      <a:pPr algn="l">
                        <a:lnSpc>
                          <a:spcPct val="125000"/>
                        </a:lnSpc>
                        <a:spcAft>
                          <a:spcPts val="0"/>
                        </a:spcAft>
                        <a:buClrTx/>
                        <a:buSzTx/>
                        <a:buFontTx/>
                      </a:pPr>
                      <a:r>
                        <a:rPr lang="zh-CN" altLang="en-US" sz="800">
                          <a:sym typeface="+mn-ea"/>
                        </a:rPr>
                        <a:t>利用</a:t>
                      </a:r>
                      <a:r>
                        <a:rPr lang="en-US" altLang="zh-CN" sz="800">
                          <a:sym typeface="+mn-ea"/>
                        </a:rPr>
                        <a:t> COPY </a:t>
                      </a:r>
                      <a:r>
                        <a:rPr lang="zh-CN" altLang="en-US" sz="800">
                          <a:sym typeface="+mn-ea"/>
                        </a:rPr>
                        <a:t>命令或时间规则提取数据，经分片压缩与国密</a:t>
                      </a:r>
                      <a:r>
                        <a:rPr lang="en-US" altLang="zh-CN" sz="800">
                          <a:sym typeface="+mn-ea"/>
                        </a:rPr>
                        <a:t> SM4 </a:t>
                      </a:r>
                      <a:r>
                        <a:rPr lang="zh-CN" altLang="en-US" sz="800">
                          <a:sym typeface="+mn-ea"/>
                        </a:rPr>
                        <a:t>加密后生成带清单的数据包交付</a:t>
                      </a:r>
                      <a:r>
                        <a:rPr lang="en-US" altLang="zh-CN" sz="800">
                          <a:sym typeface="+mn-ea"/>
                        </a:rPr>
                        <a:t> </a:t>
                      </a:r>
                      <a:r>
                        <a:rPr lang="zh-CN" altLang="en-US" sz="800">
                          <a:sym typeface="+mn-ea"/>
                        </a:rPr>
                        <a:t>；加载端校验清单并解密还原，通过事务模式批量入库或原路径还原文件</a:t>
                      </a:r>
                      <a:r>
                        <a:rPr lang="en-US" altLang="zh-CN" sz="800">
                          <a:sym typeface="+mn-ea"/>
                        </a:rPr>
                        <a:t> </a:t>
                      </a:r>
                      <a:endParaRPr lang="zh-CN" altLang="en-US" sz="800"/>
                    </a:p>
                  </a:txBody>
                  <a:tcPr anchor="ctr" anchorCtr="0"/>
                </a:tc>
              </a:tr>
              <a:tr h="845820">
                <a:tc vMerge="1">
                  <a:tcPr/>
                </a:tc>
                <a:tc>
                  <a:txBody>
                    <a:bodyPr/>
                    <a:p>
                      <a:pPr algn="l">
                        <a:buNone/>
                      </a:pPr>
                      <a:r>
                        <a:rPr lang="zh-CN" altLang="en-US" sz="800"/>
                        <a:t>管控</a:t>
                      </a:r>
                      <a:r>
                        <a:rPr lang="zh-CN" altLang="en-US" sz="800"/>
                        <a:t>中心</a:t>
                      </a:r>
                      <a:endParaRPr lang="zh-CN" altLang="en-US" sz="800"/>
                    </a:p>
                  </a:txBody>
                  <a:tcPr anchor="ctr" anchorCtr="0"/>
                </a:tc>
                <a:tc>
                  <a:txBody>
                    <a:bodyPr/>
                    <a:p>
                      <a:pPr>
                        <a:buNone/>
                      </a:pPr>
                      <a:r>
                        <a:rPr lang="zh-CN" altLang="en-US" sz="800">
                          <a:sym typeface="+mn-ea"/>
                        </a:rPr>
                        <a:t>通过管理作业元数据，实现配置化上线，提供后台进行监控和人工干预</a:t>
                      </a:r>
                      <a:r>
                        <a:rPr lang="en-US" altLang="zh-CN" sz="800">
                          <a:sym typeface="+mn-ea"/>
                        </a:rPr>
                        <a:t> </a:t>
                      </a:r>
                      <a:r>
                        <a:rPr lang="zh-CN" altLang="en-US" sz="800">
                          <a:sym typeface="+mn-ea"/>
                        </a:rPr>
                        <a:t>。</a:t>
                      </a:r>
                      <a:endParaRPr lang="zh-CN" altLang="en-US" sz="800">
                        <a:sym typeface="+mn-ea"/>
                      </a:endParaRPr>
                    </a:p>
                  </a:txBody>
                  <a:tcPr anchor="ctr" anchorCtr="0"/>
                </a:tc>
              </a:tr>
            </a:tbl>
          </a:graphicData>
        </a:graphic>
      </p:graphicFrame>
      <p:sp>
        <p:nvSpPr>
          <p:cNvPr id="132" name="文本框 131"/>
          <p:cNvSpPr txBox="1"/>
          <p:nvPr/>
        </p:nvSpPr>
        <p:spPr>
          <a:xfrm>
            <a:off x="10732135" y="1145540"/>
            <a:ext cx="1031240" cy="287020"/>
          </a:xfrm>
          <a:prstGeom prst="rect">
            <a:avLst/>
          </a:prstGeom>
          <a:noFill/>
        </p:spPr>
        <p:txBody>
          <a:bodyPr wrap="square" rtlCol="0">
            <a:spAutoFit/>
          </a:bodyPr>
          <a:p>
            <a:pPr algn="ctr"/>
            <a:r>
              <a:rPr lang="zh-CN" altLang="en-US" sz="1200" b="1" dirty="0">
                <a:latin typeface="微软雅黑" panose="020B0503020204020204" pitchFamily="34" charset="-122"/>
                <a:ea typeface="微软雅黑" panose="020B0503020204020204" pitchFamily="34" charset="-122"/>
              </a:rPr>
              <a:t>关联系统</a:t>
            </a:r>
            <a:endParaRPr lang="zh-CN" altLang="en-US" sz="1200" b="1" dirty="0">
              <a:latin typeface="微软雅黑" panose="020B0503020204020204" pitchFamily="34" charset="-122"/>
              <a:ea typeface="微软雅黑" panose="020B0503020204020204" pitchFamily="34" charset="-122"/>
            </a:endParaRPr>
          </a:p>
        </p:txBody>
      </p:sp>
      <p:sp>
        <p:nvSpPr>
          <p:cNvPr id="126" name="矩形 125"/>
          <p:cNvSpPr/>
          <p:nvPr/>
        </p:nvSpPr>
        <p:spPr>
          <a:xfrm>
            <a:off x="10732135" y="1432560"/>
            <a:ext cx="1031240" cy="1157605"/>
          </a:xfrm>
          <a:prstGeom prst="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sp>
        <p:nvSpPr>
          <p:cNvPr id="5" name="文本框 4"/>
          <p:cNvSpPr txBox="1"/>
          <p:nvPr/>
        </p:nvSpPr>
        <p:spPr>
          <a:xfrm>
            <a:off x="2628900" y="1386840"/>
            <a:ext cx="794385" cy="372110"/>
          </a:xfrm>
          <a:prstGeom prst="rect">
            <a:avLst/>
          </a:prstGeom>
          <a:noFill/>
        </p:spPr>
        <p:txBody>
          <a:bodyPr wrap="square" rtlCol="0">
            <a:noAutofit/>
          </a:bodyPr>
          <a:p>
            <a:endParaRPr lang="zh-CN" altLang="en-US" sz="1200" b="1"/>
          </a:p>
        </p:txBody>
      </p:sp>
      <p:sp>
        <p:nvSpPr>
          <p:cNvPr id="56" name="矩形 32"/>
          <p:cNvSpPr/>
          <p:nvPr>
            <p:custDataLst>
              <p:tags r:id="rId4"/>
            </p:custDataLst>
          </p:nvPr>
        </p:nvSpPr>
        <p:spPr>
          <a:xfrm>
            <a:off x="11370945" y="5605145"/>
            <a:ext cx="669290" cy="15240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9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9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57" name="直接箭头连接符 56"/>
          <p:cNvCxnSpPr/>
          <p:nvPr>
            <p:custDataLst>
              <p:tags r:id="rId5"/>
            </p:custDataLst>
          </p:nvPr>
        </p:nvCxnSpPr>
        <p:spPr>
          <a:xfrm>
            <a:off x="11234420" y="612394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58" name="矩形 32"/>
          <p:cNvSpPr/>
          <p:nvPr>
            <p:custDataLst>
              <p:tags r:id="rId6"/>
            </p:custDataLst>
          </p:nvPr>
        </p:nvSpPr>
        <p:spPr>
          <a:xfrm>
            <a:off x="11370945" y="5063490"/>
            <a:ext cx="669290" cy="15240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新建</a:t>
            </a:r>
            <a:endParaRPr lang="zh-CN" altLang="en-US" sz="1000" dirty="0">
              <a:latin typeface="微软雅黑" panose="020B0503020204020204" pitchFamily="34" charset="-122"/>
              <a:ea typeface="微软雅黑" panose="020B0503020204020204" pitchFamily="34" charset="-122"/>
            </a:endParaRPr>
          </a:p>
        </p:txBody>
      </p:sp>
      <p:sp>
        <p:nvSpPr>
          <p:cNvPr id="61" name="矩形 32"/>
          <p:cNvSpPr/>
          <p:nvPr>
            <p:custDataLst>
              <p:tags r:id="rId7"/>
            </p:custDataLst>
          </p:nvPr>
        </p:nvSpPr>
        <p:spPr>
          <a:xfrm>
            <a:off x="11370945" y="5347970"/>
            <a:ext cx="669290" cy="15240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已有</a:t>
            </a:r>
            <a:endParaRPr lang="zh-CN" altLang="en-US" sz="1000" dirty="0">
              <a:latin typeface="微软雅黑" panose="020B0503020204020204" pitchFamily="34" charset="-122"/>
              <a:ea typeface="微软雅黑" panose="020B0503020204020204" pitchFamily="34" charset="-122"/>
            </a:endParaRPr>
          </a:p>
        </p:txBody>
      </p:sp>
      <p:sp>
        <p:nvSpPr>
          <p:cNvPr id="62" name="矩形 32"/>
          <p:cNvSpPr/>
          <p:nvPr>
            <p:custDataLst>
              <p:tags r:id="rId8"/>
            </p:custDataLst>
          </p:nvPr>
        </p:nvSpPr>
        <p:spPr>
          <a:xfrm>
            <a:off x="11356340" y="4344670"/>
            <a:ext cx="669925" cy="27940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外联系统</a:t>
            </a:r>
            <a:endParaRPr lang="zh-CN" altLang="en-US" sz="1000" dirty="0">
              <a:latin typeface="微软雅黑" panose="020B0503020204020204" pitchFamily="34" charset="-122"/>
              <a:ea typeface="微软雅黑" panose="020B0503020204020204" pitchFamily="34" charset="-122"/>
            </a:endParaRPr>
          </a:p>
          <a:p>
            <a:pPr algn="ctr" eaLnBrk="0" hangingPunct="0"/>
            <a:r>
              <a:rPr lang="zh-CN" altLang="en-US" sz="1000" dirty="0">
                <a:latin typeface="微软雅黑" panose="020B0503020204020204" pitchFamily="34" charset="-122"/>
                <a:ea typeface="微软雅黑" panose="020B0503020204020204" pitchFamily="34" charset="-122"/>
              </a:rPr>
              <a:t>或接口</a:t>
            </a:r>
            <a:endParaRPr lang="zh-CN" altLang="en-US" sz="1000" dirty="0">
              <a:latin typeface="微软雅黑" panose="020B0503020204020204" pitchFamily="34" charset="-122"/>
              <a:ea typeface="微软雅黑" panose="020B0503020204020204" pitchFamily="34" charset="-122"/>
            </a:endParaRPr>
          </a:p>
        </p:txBody>
      </p:sp>
      <p:sp>
        <p:nvSpPr>
          <p:cNvPr id="63" name="矩形 32"/>
          <p:cNvSpPr/>
          <p:nvPr>
            <p:custDataLst>
              <p:tags r:id="rId9"/>
            </p:custDataLst>
          </p:nvPr>
        </p:nvSpPr>
        <p:spPr>
          <a:xfrm>
            <a:off x="11370945" y="4761230"/>
            <a:ext cx="669290" cy="152400"/>
          </a:xfrm>
          <a:prstGeom prst="roundRect">
            <a:avLst>
              <a:gd name="adj" fmla="val 16667"/>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rPr>
              <a:t>优化</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71" name="Text Box 133"/>
          <p:cNvSpPr txBox="1"/>
          <p:nvPr>
            <p:custDataLst>
              <p:tags r:id="rId10"/>
            </p:custDataLst>
          </p:nvPr>
        </p:nvSpPr>
        <p:spPr>
          <a:xfrm>
            <a:off x="11784965" y="6011545"/>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9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90204" charset="-122"/>
            </a:endParaRPr>
          </a:p>
        </p:txBody>
      </p:sp>
      <p:sp>
        <p:nvSpPr>
          <p:cNvPr id="72" name="矩形 32"/>
          <p:cNvSpPr/>
          <p:nvPr/>
        </p:nvSpPr>
        <p:spPr>
          <a:xfrm>
            <a:off x="11370945" y="5859145"/>
            <a:ext cx="668655" cy="152400"/>
          </a:xfrm>
          <a:prstGeom prst="roundRect">
            <a:avLst>
              <a:gd name="adj" fmla="val 16667"/>
            </a:avLst>
          </a:prstGeom>
          <a:solidFill>
            <a:srgbClr val="F3541A"/>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900" dirty="0">
                <a:latin typeface="微软雅黑" panose="020B0503020204020204" pitchFamily="34" charset="-122"/>
                <a:ea typeface="微软雅黑" panose="020B0503020204020204" pitchFamily="34" charset="-122"/>
              </a:rPr>
              <a:t>外购</a:t>
            </a:r>
            <a:endParaRPr lang="zh-CN" altLang="en-US" sz="900" dirty="0">
              <a:latin typeface="微软雅黑" panose="020B0503020204020204" pitchFamily="34" charset="-122"/>
              <a:ea typeface="微软雅黑" panose="020B0503020204020204" pitchFamily="34" charset="-122"/>
            </a:endParaRPr>
          </a:p>
        </p:txBody>
      </p:sp>
      <p:sp>
        <p:nvSpPr>
          <p:cNvPr id="73" name="矩形 32"/>
          <p:cNvSpPr/>
          <p:nvPr>
            <p:custDataLst>
              <p:tags r:id="rId11"/>
            </p:custDataLst>
          </p:nvPr>
        </p:nvSpPr>
        <p:spPr>
          <a:xfrm>
            <a:off x="11370945" y="5605145"/>
            <a:ext cx="669290" cy="15240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9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9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74" name="直接箭头连接符 73"/>
          <p:cNvCxnSpPr/>
          <p:nvPr>
            <p:custDataLst>
              <p:tags r:id="rId12"/>
            </p:custDataLst>
          </p:nvPr>
        </p:nvCxnSpPr>
        <p:spPr>
          <a:xfrm>
            <a:off x="11234420" y="612394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75" name="矩形 32"/>
          <p:cNvSpPr/>
          <p:nvPr>
            <p:custDataLst>
              <p:tags r:id="rId13"/>
            </p:custDataLst>
          </p:nvPr>
        </p:nvSpPr>
        <p:spPr>
          <a:xfrm>
            <a:off x="11370945" y="5063490"/>
            <a:ext cx="669290" cy="15240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新建</a:t>
            </a:r>
            <a:endParaRPr lang="zh-CN" altLang="en-US" sz="1000" dirty="0">
              <a:latin typeface="微软雅黑" panose="020B0503020204020204" pitchFamily="34" charset="-122"/>
              <a:ea typeface="微软雅黑" panose="020B0503020204020204" pitchFamily="34" charset="-122"/>
            </a:endParaRPr>
          </a:p>
        </p:txBody>
      </p:sp>
      <p:sp>
        <p:nvSpPr>
          <p:cNvPr id="76" name="矩形 32"/>
          <p:cNvSpPr/>
          <p:nvPr>
            <p:custDataLst>
              <p:tags r:id="rId14"/>
            </p:custDataLst>
          </p:nvPr>
        </p:nvSpPr>
        <p:spPr>
          <a:xfrm>
            <a:off x="11370945" y="5347970"/>
            <a:ext cx="669290" cy="15240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已有</a:t>
            </a:r>
            <a:endParaRPr lang="zh-CN" altLang="en-US" sz="1000" dirty="0">
              <a:latin typeface="微软雅黑" panose="020B0503020204020204" pitchFamily="34" charset="-122"/>
              <a:ea typeface="微软雅黑" panose="020B0503020204020204" pitchFamily="34" charset="-122"/>
            </a:endParaRPr>
          </a:p>
        </p:txBody>
      </p:sp>
      <p:sp>
        <p:nvSpPr>
          <p:cNvPr id="77" name="矩形 32"/>
          <p:cNvSpPr/>
          <p:nvPr>
            <p:custDataLst>
              <p:tags r:id="rId15"/>
            </p:custDataLst>
          </p:nvPr>
        </p:nvSpPr>
        <p:spPr>
          <a:xfrm>
            <a:off x="11356340" y="4344670"/>
            <a:ext cx="669925" cy="27940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000" dirty="0">
                <a:latin typeface="微软雅黑" panose="020B0503020204020204" pitchFamily="34" charset="-122"/>
                <a:ea typeface="微软雅黑" panose="020B0503020204020204" pitchFamily="34" charset="-122"/>
              </a:rPr>
              <a:t>外联系统</a:t>
            </a:r>
            <a:endParaRPr lang="zh-CN" altLang="en-US" sz="1000" dirty="0">
              <a:latin typeface="微软雅黑" panose="020B0503020204020204" pitchFamily="34" charset="-122"/>
              <a:ea typeface="微软雅黑" panose="020B0503020204020204" pitchFamily="34" charset="-122"/>
            </a:endParaRPr>
          </a:p>
          <a:p>
            <a:pPr algn="ctr" eaLnBrk="0" hangingPunct="0"/>
            <a:r>
              <a:rPr lang="zh-CN" altLang="en-US" sz="1000" dirty="0">
                <a:latin typeface="微软雅黑" panose="020B0503020204020204" pitchFamily="34" charset="-122"/>
                <a:ea typeface="微软雅黑" panose="020B0503020204020204" pitchFamily="34" charset="-122"/>
              </a:rPr>
              <a:t>或接口</a:t>
            </a:r>
            <a:endParaRPr lang="zh-CN" altLang="en-US" sz="1000" dirty="0">
              <a:latin typeface="微软雅黑" panose="020B0503020204020204" pitchFamily="34" charset="-122"/>
              <a:ea typeface="微软雅黑" panose="020B0503020204020204" pitchFamily="34" charset="-122"/>
            </a:endParaRPr>
          </a:p>
        </p:txBody>
      </p:sp>
      <p:sp>
        <p:nvSpPr>
          <p:cNvPr id="78" name="矩形 32"/>
          <p:cNvSpPr/>
          <p:nvPr>
            <p:custDataLst>
              <p:tags r:id="rId16"/>
            </p:custDataLst>
          </p:nvPr>
        </p:nvSpPr>
        <p:spPr>
          <a:xfrm>
            <a:off x="11370945" y="4761230"/>
            <a:ext cx="669290" cy="152400"/>
          </a:xfrm>
          <a:prstGeom prst="roundRect">
            <a:avLst>
              <a:gd name="adj" fmla="val 16667"/>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rPr>
              <a:t>优化</a:t>
            </a:r>
            <a:endParaRPr lang="zh-CN" altLang="en-US" sz="1000" dirty="0">
              <a:solidFill>
                <a:schemeClr val="tx1"/>
              </a:solidFill>
              <a:latin typeface="微软雅黑" panose="020B0503020204020204" pitchFamily="34" charset="-122"/>
              <a:ea typeface="微软雅黑" panose="020B0503020204020204" pitchFamily="34" charset="-122"/>
            </a:endParaRPr>
          </a:p>
        </p:txBody>
      </p:sp>
      <p:sp>
        <p:nvSpPr>
          <p:cNvPr id="80" name="Text Box 133"/>
          <p:cNvSpPr txBox="1"/>
          <p:nvPr>
            <p:custDataLst>
              <p:tags r:id="rId17"/>
            </p:custDataLst>
          </p:nvPr>
        </p:nvSpPr>
        <p:spPr>
          <a:xfrm>
            <a:off x="11784965" y="6011545"/>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9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90204" charset="-122"/>
            </a:endParaRPr>
          </a:p>
        </p:txBody>
      </p:sp>
      <p:sp>
        <p:nvSpPr>
          <p:cNvPr id="81" name="矩形 32"/>
          <p:cNvSpPr/>
          <p:nvPr/>
        </p:nvSpPr>
        <p:spPr>
          <a:xfrm>
            <a:off x="11370945" y="5859145"/>
            <a:ext cx="668655" cy="152400"/>
          </a:xfrm>
          <a:prstGeom prst="roundRect">
            <a:avLst>
              <a:gd name="adj" fmla="val 16667"/>
            </a:avLst>
          </a:prstGeom>
          <a:solidFill>
            <a:srgbClr val="F3541A"/>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900" dirty="0">
                <a:latin typeface="微软雅黑" panose="020B0503020204020204" pitchFamily="34" charset="-122"/>
                <a:ea typeface="微软雅黑" panose="020B0503020204020204" pitchFamily="34" charset="-122"/>
              </a:rPr>
              <a:t>外购</a:t>
            </a:r>
            <a:endParaRPr lang="zh-CN" altLang="en-US" sz="900" dirty="0">
              <a:latin typeface="微软雅黑" panose="020B0503020204020204" pitchFamily="34" charset="-122"/>
              <a:ea typeface="微软雅黑" panose="020B0503020204020204" pitchFamily="34" charset="-122"/>
            </a:endParaRPr>
          </a:p>
        </p:txBody>
      </p:sp>
      <p:sp>
        <p:nvSpPr>
          <p:cNvPr id="44" name="矩形 32"/>
          <p:cNvSpPr/>
          <p:nvPr>
            <p:custDataLst>
              <p:tags r:id="rId18"/>
            </p:custDataLst>
          </p:nvPr>
        </p:nvSpPr>
        <p:spPr>
          <a:xfrm>
            <a:off x="10882630" y="2109470"/>
            <a:ext cx="822325" cy="28448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Overflow="overflow" horzOverflow="overflow" vert="horz" wrap="square" lIns="0" tIns="0" rIns="0" bIns="0" numCol="1" spcCol="0" rtlCol="0" fromWordArt="0" anchor="ctr" anchorCtr="0" forceAA="0" compatLnSpc="1">
            <a:noAutofit/>
          </a:bodyPr>
          <a:p>
            <a:pPr lvl="0" algn="ctr" eaLnBrk="0" hangingPunct="0">
              <a:buClrTx/>
              <a:buSzTx/>
              <a:buFontTx/>
            </a:pPr>
            <a:r>
              <a:rPr lang="zh-CN" altLang="en-US" sz="1200" dirty="0">
                <a:solidFill>
                  <a:schemeClr val="tx1"/>
                </a:solidFill>
                <a:latin typeface="微软雅黑" panose="020B0503020204020204" pitchFamily="34" charset="-122"/>
                <a:ea typeface="微软雅黑" panose="020B0503020204020204" pitchFamily="34" charset="-122"/>
                <a:sym typeface="+mn-ea"/>
              </a:rPr>
              <a:t>权限系统</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18" name="矩形 17"/>
          <p:cNvSpPr/>
          <p:nvPr/>
        </p:nvSpPr>
        <p:spPr>
          <a:xfrm>
            <a:off x="8202930" y="2413635"/>
            <a:ext cx="821055" cy="1431290"/>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sp>
        <p:nvSpPr>
          <p:cNvPr id="21" name="矩形 20"/>
          <p:cNvSpPr/>
          <p:nvPr/>
        </p:nvSpPr>
        <p:spPr>
          <a:xfrm>
            <a:off x="4244340" y="3013710"/>
            <a:ext cx="2771775" cy="461645"/>
          </a:xfrm>
          <a:prstGeom prst="rect">
            <a:avLst/>
          </a:prstGeom>
          <a:solidFill>
            <a:srgbClr val="92D050"/>
          </a:solid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p>
            <a:pPr lvl="0" algn="ctr"/>
            <a:endParaRPr lang="zh-CN" altLang="en-US" sz="1000" b="1">
              <a:solidFill>
                <a:schemeClr val="tx1"/>
              </a:solidFill>
              <a:latin typeface="+mn-ea"/>
              <a:sym typeface="+mn-ea"/>
            </a:endParaRPr>
          </a:p>
        </p:txBody>
      </p:sp>
      <p:sp>
        <p:nvSpPr>
          <p:cNvPr id="22" name="圆角矩形 21"/>
          <p:cNvSpPr/>
          <p:nvPr/>
        </p:nvSpPr>
        <p:spPr>
          <a:xfrm>
            <a:off x="4602480" y="3096260"/>
            <a:ext cx="835025" cy="25146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作业配置</a:t>
            </a:r>
            <a:endParaRPr lang="zh-CN" altLang="en-US" sz="1200" b="1">
              <a:solidFill>
                <a:schemeClr val="tx1"/>
              </a:solidFill>
            </a:endParaRPr>
          </a:p>
        </p:txBody>
      </p:sp>
      <p:sp>
        <p:nvSpPr>
          <p:cNvPr id="23" name="圆角矩形 22"/>
          <p:cNvSpPr/>
          <p:nvPr/>
        </p:nvSpPr>
        <p:spPr>
          <a:xfrm>
            <a:off x="3794760" y="2551430"/>
            <a:ext cx="3693160" cy="129413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流程图: 磁盘 24"/>
          <p:cNvSpPr/>
          <p:nvPr>
            <p:custDataLst>
              <p:tags r:id="rId19"/>
            </p:custDataLst>
          </p:nvPr>
        </p:nvSpPr>
        <p:spPr>
          <a:xfrm>
            <a:off x="8334375" y="3146425"/>
            <a:ext cx="511175" cy="606425"/>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zh-CN" altLang="en-US" sz="700" b="1" dirty="0">
                <a:latin typeface="微软雅黑" panose="020B0503020204020204" pitchFamily="34" charset="-122"/>
                <a:ea typeface="微软雅黑" panose="020B0503020204020204" pitchFamily="34" charset="-122"/>
                <a:sym typeface="+mn-ea"/>
              </a:rPr>
              <a:t>人大金仓数据库</a:t>
            </a:r>
            <a:endParaRPr lang="en-US" altLang="zh-CN" sz="700" b="1" dirty="0">
              <a:latin typeface="微软雅黑" panose="020B0503020204020204" pitchFamily="34" charset="-122"/>
              <a:ea typeface="微软雅黑" panose="020B0503020204020204" pitchFamily="34" charset="-122"/>
              <a:sym typeface="+mn-ea"/>
            </a:endParaRPr>
          </a:p>
        </p:txBody>
      </p:sp>
      <p:sp>
        <p:nvSpPr>
          <p:cNvPr id="26" name="圆角矩形 25"/>
          <p:cNvSpPr/>
          <p:nvPr/>
        </p:nvSpPr>
        <p:spPr>
          <a:xfrm>
            <a:off x="5843270" y="3101975"/>
            <a:ext cx="835025" cy="251460"/>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b="1">
                <a:solidFill>
                  <a:schemeClr val="tx1"/>
                </a:solidFill>
              </a:rPr>
              <a:t>执行器</a:t>
            </a:r>
            <a:endParaRPr lang="zh-CN" altLang="en-US" sz="1200" b="1">
              <a:solidFill>
                <a:schemeClr val="tx1"/>
              </a:solidFill>
            </a:endParaRPr>
          </a:p>
        </p:txBody>
      </p:sp>
      <p:sp>
        <p:nvSpPr>
          <p:cNvPr id="27" name="流程图: 磁盘 26"/>
          <p:cNvSpPr/>
          <p:nvPr>
            <p:custDataLst>
              <p:tags r:id="rId20"/>
            </p:custDataLst>
          </p:nvPr>
        </p:nvSpPr>
        <p:spPr>
          <a:xfrm>
            <a:off x="8334375" y="2451100"/>
            <a:ext cx="511175" cy="62230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wrap="square" lIns="0" tIns="0" rIns="0" bIns="0" rtlCol="0" anchor="ctr">
            <a:noAutofit/>
          </a:bodyPr>
          <a:p>
            <a:pPr lvl="0" algn="ctr" eaLnBrk="0" hangingPunct="0"/>
            <a:r>
              <a:rPr lang="en-US" altLang="zh-CN" sz="900" dirty="0">
                <a:latin typeface="微软雅黑" panose="020B0503020204020204" pitchFamily="34" charset="-122"/>
                <a:ea typeface="微软雅黑" panose="020B0503020204020204" pitchFamily="34" charset="-122"/>
                <a:sym typeface="+mn-ea"/>
              </a:rPr>
              <a:t>NFS</a:t>
            </a:r>
            <a:endParaRPr lang="en-US" altLang="zh-CN" sz="900" dirty="0">
              <a:latin typeface="微软雅黑" panose="020B0503020204020204" pitchFamily="34" charset="-122"/>
              <a:ea typeface="微软雅黑" panose="020B0503020204020204" pitchFamily="34" charset="-122"/>
              <a:sym typeface="+mn-ea"/>
            </a:endParaRPr>
          </a:p>
        </p:txBody>
      </p:sp>
      <p:sp>
        <p:nvSpPr>
          <p:cNvPr id="28" name="圆角矩形 27"/>
          <p:cNvSpPr/>
          <p:nvPr/>
        </p:nvSpPr>
        <p:spPr>
          <a:xfrm>
            <a:off x="3284855" y="2359025"/>
            <a:ext cx="6506845" cy="172466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左右箭头 28"/>
          <p:cNvSpPr/>
          <p:nvPr/>
        </p:nvSpPr>
        <p:spPr>
          <a:xfrm>
            <a:off x="7241540" y="2974340"/>
            <a:ext cx="762635" cy="21209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圆角矩形 31"/>
          <p:cNvSpPr/>
          <p:nvPr/>
        </p:nvSpPr>
        <p:spPr>
          <a:xfrm>
            <a:off x="4775835" y="2618740"/>
            <a:ext cx="1536700" cy="287655"/>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r>
              <a:rPr lang="zh-CN" altLang="en-US" sz="1200" b="1">
                <a:solidFill>
                  <a:schemeClr val="tx1"/>
                </a:solidFill>
                <a:sym typeface="等线" panose="02010600030101010101" pitchFamily="2" charset="-122"/>
              </a:rPr>
              <a:t>管控</a:t>
            </a:r>
            <a:r>
              <a:rPr lang="zh-CN" altLang="en-US" sz="1200" b="1">
                <a:solidFill>
                  <a:schemeClr val="tx1"/>
                </a:solidFill>
                <a:sym typeface="等线" panose="02010600030101010101" pitchFamily="2" charset="-122"/>
              </a:rPr>
              <a:t>中心</a:t>
            </a:r>
            <a:endParaRPr lang="zh-CN" altLang="en-US" sz="1200" b="1">
              <a:solidFill>
                <a:schemeClr val="tx1"/>
              </a:solidFill>
              <a:sym typeface="等线"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 2.1</a:t>
            </a:r>
            <a:r>
              <a:rPr lang="zh-CN" altLang="zh-CN" dirty="0">
                <a:latin typeface="Arial" panose="020B0604020202090204" pitchFamily="34" charset="0"/>
                <a:sym typeface="宋体" panose="02010600030101010101" pitchFamily="2" charset="-122"/>
              </a:rPr>
              <a:t>总体架构</a:t>
            </a:r>
            <a:endParaRPr lang="en-US" altLang="zh-CN" dirty="0">
              <a:latin typeface="Arial" panose="020B0604020202090204" charset="-122"/>
              <a:sym typeface="宋体" panose="02010600030101010101" pitchFamily="2" charset="-122"/>
            </a:endParaRPr>
          </a:p>
        </p:txBody>
      </p:sp>
      <p:sp>
        <p:nvSpPr>
          <p:cNvPr id="87042" name="Text Box 16"/>
          <p:cNvSpPr/>
          <p:nvPr/>
        </p:nvSpPr>
        <p:spPr>
          <a:xfrm>
            <a:off x="552450" y="883920"/>
            <a:ext cx="2988945"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系统间关系</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graphicFrame>
        <p:nvGraphicFramePr>
          <p:cNvPr id="2" name="表格 1"/>
          <p:cNvGraphicFramePr/>
          <p:nvPr>
            <p:custDataLst>
              <p:tags r:id="rId1"/>
            </p:custDataLst>
          </p:nvPr>
        </p:nvGraphicFramePr>
        <p:xfrm>
          <a:off x="552450" y="1561465"/>
          <a:ext cx="11182985" cy="3276600"/>
        </p:xfrm>
        <a:graphic>
          <a:graphicData uri="http://schemas.openxmlformats.org/drawingml/2006/table">
            <a:tbl>
              <a:tblPr firstRow="1" bandRow="1">
                <a:tableStyleId>{5C22544A-7EE6-4342-B048-85BDC9FD1C3A}</a:tableStyleId>
              </a:tblPr>
              <a:tblGrid>
                <a:gridCol w="922655"/>
                <a:gridCol w="786130"/>
                <a:gridCol w="1245870"/>
                <a:gridCol w="1031875"/>
                <a:gridCol w="1021715"/>
                <a:gridCol w="1212215"/>
                <a:gridCol w="1211580"/>
                <a:gridCol w="1278255"/>
                <a:gridCol w="1278890"/>
                <a:gridCol w="1193800"/>
              </a:tblGrid>
              <a:tr h="195580">
                <a:tc>
                  <a:txBody>
                    <a:bodyPr/>
                    <a:p>
                      <a:pPr algn="ctr">
                        <a:buNone/>
                      </a:pPr>
                      <a:r>
                        <a:rPr lang="zh-CN" altLang="zh-CN" sz="1400">
                          <a:latin typeface="微软雅黑" panose="020B0503020204020204" pitchFamily="34" charset="-122"/>
                          <a:ea typeface="微软雅黑" panose="020B0503020204020204" pitchFamily="34" charset="-122"/>
                        </a:rPr>
                        <a:t>消费方</a:t>
                      </a:r>
                      <a:endParaRPr lang="zh-CN" altLang="zh-CN"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服务方</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交换协议</a:t>
                      </a:r>
                      <a:r>
                        <a:rPr lang="en-US" altLang="zh-CN" sz="1400">
                          <a:latin typeface="微软雅黑" panose="020B0503020204020204" pitchFamily="34" charset="-122"/>
                          <a:ea typeface="微软雅黑" panose="020B0503020204020204" pitchFamily="34" charset="-122"/>
                        </a:rPr>
                        <a:t>/</a:t>
                      </a:r>
                      <a:r>
                        <a:rPr lang="zh-CN" altLang="zh-CN" sz="1400">
                          <a:latin typeface="微软雅黑" panose="020B0503020204020204" pitchFamily="34" charset="-122"/>
                          <a:ea typeface="微软雅黑" panose="020B0503020204020204" pitchFamily="34" charset="-122"/>
                        </a:rPr>
                        <a:t>工具</a:t>
                      </a:r>
                      <a:endParaRPr lang="zh-CN" altLang="zh-CN"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报文</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字符集</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调用发起方</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网络通道</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实时</a:t>
                      </a:r>
                      <a:r>
                        <a:rPr lang="en-US" altLang="zh-CN" sz="1400">
                          <a:latin typeface="微软雅黑" panose="020B0503020204020204" pitchFamily="34" charset="-122"/>
                          <a:ea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rPr>
                        <a:t>非实时</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服务可用时间</a:t>
                      </a:r>
                      <a:endParaRPr lang="zh-CN" altLang="en-US" sz="140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a:latin typeface="微软雅黑" panose="020B0503020204020204" pitchFamily="34" charset="-122"/>
                          <a:ea typeface="微软雅黑" panose="020B0503020204020204" pitchFamily="34" charset="-122"/>
                        </a:rPr>
                        <a:t>用途</a:t>
                      </a:r>
                      <a:endParaRPr lang="zh-CN" altLang="en-US" sz="1400">
                        <a:latin typeface="微软雅黑" panose="020B0503020204020204" pitchFamily="34" charset="-122"/>
                        <a:ea typeface="微软雅黑" panose="020B0503020204020204" pitchFamily="34" charset="-122"/>
                      </a:endParaRPr>
                    </a:p>
                  </a:txBody>
                  <a:tcPr anchor="ctr" anchorCtr="0"/>
                </a:tc>
              </a:tr>
              <a:tr h="417830">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调度平台</a:t>
                      </a:r>
                      <a:endParaRPr lang="zh-CN" sz="1200" dirty="0">
                        <a:latin typeface="微软雅黑" panose="020B0503020204020204" pitchFamily="34" charset="-122"/>
                        <a:ea typeface="微软雅黑" panose="020B0503020204020204" pitchFamily="34" charset="-122"/>
                        <a:sym typeface="+mn-ea"/>
                      </a:endParaRPr>
                    </a:p>
                  </a:txBody>
                  <a:tcPr anchor="ctr" anchorCtr="0"/>
                </a:tc>
                <a:tc>
                  <a:txBody>
                    <a:bodyPr/>
                    <a:p>
                      <a:pPr lvl="0" algn="ctr">
                        <a:buNone/>
                      </a:pPr>
                      <a:r>
                        <a:rPr lang="zh-CN" sz="1200" u="none" dirty="0">
                          <a:latin typeface="微软雅黑" panose="020B0503020204020204" pitchFamily="34" charset="-122"/>
                          <a:ea typeface="微软雅黑" panose="020B0503020204020204" pitchFamily="34" charset="-122"/>
                          <a:sym typeface="宋体" panose="02010600030101010101" pitchFamily="2" charset="-122"/>
                        </a:rPr>
                        <a:t>卸载</a:t>
                      </a:r>
                      <a:r>
                        <a:rPr lang="zh-CN" sz="1200" u="none" dirty="0">
                          <a:latin typeface="微软雅黑" panose="020B0503020204020204" pitchFamily="34" charset="-122"/>
                          <a:ea typeface="微软雅黑" panose="020B0503020204020204" pitchFamily="34" charset="-122"/>
                          <a:sym typeface="宋体" panose="02010600030101010101" pitchFamily="2" charset="-122"/>
                        </a:rPr>
                        <a:t>工具</a:t>
                      </a:r>
                      <a:endParaRPr lang="zh-CN"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algn="ctr">
                        <a:buNone/>
                      </a:pPr>
                      <a:r>
                        <a:rPr lang="zh-CN" sz="1200" b="0" dirty="0">
                          <a:latin typeface="微软雅黑" panose="020B0503020204020204" pitchFamily="34" charset="-122"/>
                          <a:ea typeface="微软雅黑" panose="020B0503020204020204" pitchFamily="34" charset="-122"/>
                        </a:rPr>
                        <a:t>HTTP</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marL="0" algn="ctr">
                        <a:buNone/>
                      </a:pPr>
                      <a:r>
                        <a:rPr lang="zh-CN" sz="1200" dirty="0">
                          <a:latin typeface="微软雅黑" panose="020B0503020204020204" pitchFamily="34" charset="-122"/>
                          <a:ea typeface="微软雅黑" panose="020B0503020204020204" pitchFamily="34" charset="-122"/>
                          <a:sym typeface="+mn-ea"/>
                        </a:rPr>
                        <a:t>JSON</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algn="ctr">
                        <a:buNone/>
                      </a:pPr>
                      <a:r>
                        <a:rPr lang="zh-CN" sz="1200" dirty="0">
                          <a:latin typeface="微软雅黑" panose="020B0503020204020204" pitchFamily="34" charset="-122"/>
                          <a:ea typeface="微软雅黑" panose="020B0503020204020204" pitchFamily="34" charset="-122"/>
                          <a:sym typeface="+mn-ea"/>
                        </a:rPr>
                        <a:t>UTF-8</a:t>
                      </a:r>
                      <a:endParaRPr lang="zh-CN" sz="1200" b="0" dirty="0">
                        <a:latin typeface="微软雅黑" panose="020B0503020204020204" pitchFamily="34" charset="-122"/>
                        <a:ea typeface="微软雅黑" panose="020B0503020204020204" pitchFamily="34" charset="-122"/>
                      </a:endParaRPr>
                    </a:p>
                  </a:txBody>
                  <a:tcPr marL="12700" marR="12700" marT="12700" anchor="ctr"/>
                </a:tc>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调度平台</a:t>
                      </a:r>
                      <a:endParaRPr lang="zh-CN" sz="1200"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直接调用</a:t>
                      </a:r>
                      <a:endParaRPr lang="zh-CN"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实时</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en-US" altLang="zh-CN"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00-24</a:t>
                      </a:r>
                      <a:endParaRPr lang="en-US" altLang="zh-CN" sz="1200" u="none">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lvl="0" algn="ctr">
                        <a:buNone/>
                      </a:pPr>
                      <a:endParaRPr lang="zh-CN" sz="1200" u="none"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xxljob定时任务调度管理</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r>
              <a:tr h="399415">
                <a:tc>
                  <a:txBody>
                    <a:bodyPr/>
                    <a:p>
                      <a:pPr algn="ctr">
                        <a:buNone/>
                      </a:pPr>
                      <a:r>
                        <a:rPr lang="zh-CN" altLang="en-US" sz="1200" dirty="0">
                          <a:latin typeface="微软雅黑" panose="020B0503020204020204" pitchFamily="34" charset="-122"/>
                          <a:ea typeface="微软雅黑" panose="020B0503020204020204" pitchFamily="34" charset="-122"/>
                          <a:sym typeface="+mn-ea"/>
                        </a:rPr>
                        <a:t>卸载工具</a:t>
                      </a:r>
                      <a:endParaRPr lang="en-US" altLang="zh-CN" sz="1200">
                        <a:solidFill>
                          <a:srgbClr val="000000"/>
                        </a:solidFill>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权限系统</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HTTP</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JSON</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UTF-8</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algn="ctr">
                        <a:buNone/>
                      </a:pPr>
                      <a:r>
                        <a:rPr lang="zh-CN" altLang="en-US" sz="1200" dirty="0">
                          <a:latin typeface="微软雅黑" panose="020B0503020204020204" pitchFamily="34" charset="-122"/>
                          <a:ea typeface="微软雅黑" panose="020B0503020204020204" pitchFamily="34" charset="-122"/>
                          <a:sym typeface="+mn-ea"/>
                        </a:rPr>
                        <a:t>卸载工具</a:t>
                      </a:r>
                      <a:endParaRPr lang="zh-CN" sz="1200"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u="none" dirty="0">
                          <a:latin typeface="微软雅黑" panose="020B0503020204020204" pitchFamily="34" charset="-122"/>
                          <a:ea typeface="微软雅黑" panose="020B0503020204020204" pitchFamily="34" charset="-122"/>
                        </a:rPr>
                        <a:t>直接调用</a:t>
                      </a:r>
                      <a:endParaRPr lang="zh-CN" sz="1200" u="none"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rPr>
                        <a:t>实时</a:t>
                      </a:r>
                      <a:endParaRPr lang="zh-CN" sz="1200" dirty="0">
                        <a:latin typeface="微软雅黑" panose="020B0503020204020204" pitchFamily="34" charset="-122"/>
                        <a:ea typeface="微软雅黑" panose="020B0503020204020204" pitchFamily="34" charset="-122"/>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mn-ea"/>
                        </a:rPr>
                        <a:t>00-24</a:t>
                      </a:r>
                      <a:endParaRPr lang="zh-CN" sz="1200" u="none" dirty="0">
                        <a:latin typeface="微软雅黑" panose="020B0503020204020204" pitchFamily="34" charset="-122"/>
                        <a:ea typeface="微软雅黑" panose="020B0503020204020204" pitchFamily="34" charset="-122"/>
                        <a:sym typeface="+mn-ea"/>
                      </a:endParaRPr>
                    </a:p>
                  </a:txBody>
                  <a:tcPr marL="46990" marR="46990" marT="46990" marB="46990" anchor="ctr"/>
                </a:tc>
                <a:tc>
                  <a:txBody>
                    <a:bodyPr/>
                    <a:p>
                      <a:pPr lvl="0" algn="ctr">
                        <a:buNone/>
                      </a:pPr>
                      <a:r>
                        <a:rPr lang="zh-CN" sz="1200" dirty="0">
                          <a:latin typeface="微软雅黑" panose="020B0503020204020204" pitchFamily="34" charset="-122"/>
                          <a:ea typeface="微软雅黑" panose="020B0503020204020204" pitchFamily="34" charset="-122"/>
                          <a:sym typeface="宋体" panose="02010600030101010101" pitchFamily="2" charset="-122"/>
                        </a:rPr>
                        <a:t>单点验证获取当前用户信息</a:t>
                      </a:r>
                      <a:endParaRPr lang="zh-CN" sz="1200" dirty="0">
                        <a:latin typeface="微软雅黑" panose="020B0503020204020204" pitchFamily="34" charset="-122"/>
                        <a:ea typeface="微软雅黑" panose="020B0503020204020204" pitchFamily="34" charset="-122"/>
                        <a:sym typeface="宋体" panose="02010600030101010101" pitchFamily="2" charset="-122"/>
                      </a:endParaRPr>
                    </a:p>
                  </a:txBody>
                  <a:tcPr marL="46990" marR="46990" marT="46990" marB="46990" anchor="ctr"/>
                </a:tc>
              </a:tr>
            </a:tbl>
          </a:graphicData>
        </a:graphic>
      </p:graphicFrame>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8</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85037" name="TextBox 3"/>
          <p:cNvSpPr/>
          <p:nvPr>
            <p:custDataLst>
              <p:tags r:id="rId2"/>
            </p:custDataLst>
          </p:nvPr>
        </p:nvSpPr>
        <p:spPr>
          <a:xfrm>
            <a:off x="504190" y="4930775"/>
            <a:ext cx="11183620" cy="1330960"/>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pPr>
            <a:r>
              <a:rPr lang="zh-CN" sz="1400" dirty="0">
                <a:latin typeface="微软雅黑" panose="020B0503020204020204" pitchFamily="34" charset="-122"/>
                <a:ea typeface="微软雅黑" panose="020B0503020204020204" pitchFamily="34" charset="-122"/>
              </a:rPr>
              <a:t>卸载工具</a:t>
            </a:r>
            <a:r>
              <a:rPr sz="1400" dirty="0">
                <a:latin typeface="微软雅黑" panose="020B0503020204020204" pitchFamily="34" charset="-122"/>
                <a:ea typeface="微软雅黑" panose="020B0503020204020204" pitchFamily="34" charset="-122"/>
              </a:rPr>
              <a:t>需要与</a:t>
            </a:r>
            <a:r>
              <a:rPr lang="zh-CN" sz="1400" dirty="0">
                <a:latin typeface="微软雅黑" panose="020B0503020204020204" pitchFamily="34" charset="-122"/>
                <a:ea typeface="微软雅黑" panose="020B0503020204020204" pitchFamily="34" charset="-122"/>
              </a:rPr>
              <a:t>以</a:t>
            </a:r>
            <a:r>
              <a:rPr sz="1400" dirty="0">
                <a:latin typeface="微软雅黑" panose="020B0503020204020204" pitchFamily="34" charset="-122"/>
                <a:ea typeface="微软雅黑" panose="020B0503020204020204" pitchFamily="34" charset="-122"/>
              </a:rPr>
              <a:t>下系统对接。</a:t>
            </a:r>
            <a:endParaRPr sz="1400" dirty="0">
              <a:latin typeface="微软雅黑" panose="020B0503020204020204" pitchFamily="34" charset="-122"/>
              <a:ea typeface="微软雅黑" panose="020B0503020204020204" pitchFamily="34" charset="-122"/>
            </a:endParaRPr>
          </a:p>
          <a:p>
            <a:pPr eaLnBrk="0" hangingPunct="0">
              <a:lnSpc>
                <a:spcPct val="120000"/>
              </a:lnSpc>
              <a:buFont typeface="Wingdings" panose="05000000000000000000" pitchFamily="2" charset="2"/>
            </a:pPr>
            <a:r>
              <a:rPr lang="en-US" sz="1400" dirty="0">
                <a:latin typeface="微软雅黑" panose="020B0503020204020204" pitchFamily="34" charset="-122"/>
                <a:ea typeface="微软雅黑" panose="020B0503020204020204" pitchFamily="34" charset="-122"/>
              </a:rPr>
              <a:t>1</a:t>
            </a:r>
            <a:r>
              <a:rPr sz="1400" dirty="0">
                <a:latin typeface="微软雅黑" panose="020B0503020204020204" pitchFamily="34" charset="-122"/>
                <a:ea typeface="微软雅黑" panose="020B0503020204020204" pitchFamily="34" charset="-122"/>
              </a:rPr>
              <a:t>、</a:t>
            </a:r>
            <a:r>
              <a:rPr lang="zh-CN" sz="1400" dirty="0">
                <a:latin typeface="微软雅黑" panose="020B0503020204020204" pitchFamily="34" charset="-122"/>
                <a:ea typeface="微软雅黑" panose="020B0503020204020204" pitchFamily="34" charset="-122"/>
              </a:rPr>
              <a:t>调度</a:t>
            </a:r>
            <a:r>
              <a:rPr sz="1400" dirty="0">
                <a:latin typeface="微软雅黑" panose="020B0503020204020204" pitchFamily="34" charset="-122"/>
                <a:ea typeface="微软雅黑" panose="020B0503020204020204" pitchFamily="34" charset="-122"/>
              </a:rPr>
              <a:t>平台：</a:t>
            </a:r>
            <a:r>
              <a:rPr lang="en-US" altLang="zh-CN" sz="1400">
                <a:solidFill>
                  <a:srgbClr val="000000"/>
                </a:solidFill>
                <a:latin typeface="微软雅黑" panose="020B0503020204020204" pitchFamily="34" charset="-122"/>
                <a:ea typeface="微软雅黑" panose="020B0503020204020204" pitchFamily="34" charset="-122"/>
                <a:sym typeface="+mn-ea"/>
              </a:rPr>
              <a:t>xxljob</a:t>
            </a:r>
            <a:r>
              <a:rPr lang="zh-CN" altLang="en-US" sz="1400">
                <a:solidFill>
                  <a:srgbClr val="000000"/>
                </a:solidFill>
                <a:latin typeface="微软雅黑" panose="020B0503020204020204" pitchFamily="34" charset="-122"/>
                <a:ea typeface="微软雅黑" panose="020B0503020204020204" pitchFamily="34" charset="-122"/>
                <a:sym typeface="+mn-ea"/>
              </a:rPr>
              <a:t>定时任务调度管理</a:t>
            </a:r>
            <a:r>
              <a:rPr sz="1400" dirty="0">
                <a:latin typeface="微软雅黑" panose="020B0503020204020204" pitchFamily="34" charset="-122"/>
                <a:ea typeface="微软雅黑" panose="020B0503020204020204" pitchFamily="34" charset="-122"/>
              </a:rPr>
              <a:t>。</a:t>
            </a:r>
            <a:endParaRPr sz="1400" dirty="0">
              <a:latin typeface="微软雅黑" panose="020B0503020204020204" pitchFamily="34" charset="-122"/>
              <a:ea typeface="微软雅黑" panose="020B0503020204020204" pitchFamily="34" charset="-122"/>
            </a:endParaRPr>
          </a:p>
          <a:p>
            <a:pPr eaLnBrk="0" hangingPunct="0">
              <a:lnSpc>
                <a:spcPct val="120000"/>
              </a:lnSpc>
              <a:buFont typeface="Wingdings" panose="05000000000000000000" pitchFamily="2" charset="2"/>
            </a:pP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、权限系统：获取</a:t>
            </a:r>
            <a:r>
              <a:rPr lang="zh-CN" altLang="en-US" sz="1400" dirty="0">
                <a:latin typeface="微软雅黑" panose="020B0503020204020204" pitchFamily="34" charset="-122"/>
                <a:ea typeface="微软雅黑" panose="020B0503020204020204" pitchFamily="34" charset="-122"/>
              </a:rPr>
              <a:t>用户信息</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8"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94219"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21"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94222"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23"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94228"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30"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94238"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94240"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2"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3"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4"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功能架构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数据架构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5" name="组合 6146"/>
            <p:cNvGrpSpPr/>
            <p:nvPr/>
          </p:nvGrpSpPr>
          <p:grpSpPr>
            <a:xfrm>
              <a:off x="6588" y="6602"/>
              <a:ext cx="1200" cy="1045"/>
              <a:chOff x="0" y="0"/>
              <a:chExt cx="1549" cy="1351"/>
            </a:xfrm>
          </p:grpSpPr>
          <p:sp>
            <p:nvSpPr>
              <p:cNvPr id="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9"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0"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1"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2" name="组合 11"/>
          <p:cNvGrpSpPr/>
          <p:nvPr/>
        </p:nvGrpSpPr>
        <p:grpSpPr>
          <a:xfrm>
            <a:off x="4268470" y="3402330"/>
            <a:ext cx="762000" cy="663575"/>
            <a:chOff x="6588" y="6602"/>
            <a:chExt cx="1200" cy="1045"/>
          </a:xfrm>
        </p:grpSpPr>
        <p:sp>
          <p:nvSpPr>
            <p:cNvPr id="13"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4" name="组合 6146"/>
            <p:cNvGrpSpPr/>
            <p:nvPr/>
          </p:nvGrpSpPr>
          <p:grpSpPr>
            <a:xfrm>
              <a:off x="6588" y="6602"/>
              <a:ext cx="1200" cy="1045"/>
              <a:chOff x="0" y="0"/>
              <a:chExt cx="1549" cy="1351"/>
            </a:xfrm>
          </p:grpSpPr>
          <p:sp>
            <p:nvSpPr>
              <p:cNvPr id="15"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6"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7"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par>
                                <p:cTn id="8" presetID="5"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heckerboard(across)">
                                      <p:cBhvr>
                                        <p:cTn id="10" dur="500"/>
                                        <p:tgtEl>
                                          <p:spTgt spid="2"/>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p:bldP spid="4" grpId="1" bldLvl="0"/>
      <p:bldP spid="4" grpId="2" bldLvl="0"/>
      <p:bldP spid="4" grpId="3" bldLvl="0"/>
      <p:bldP spid="4" grpId="4" bldLvl="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a:xfrm>
            <a:off x="5200438" y="6492875"/>
            <a:ext cx="2743200" cy="365125"/>
          </a:xfrm>
        </p:spPr>
        <p:txBody>
          <a:bodyPr/>
          <a:p>
            <a:pPr fontAlgn="auto"/>
            <a:r>
              <a:rPr lang="zh-CN" altLang="en-US" strike="noStrike" noProof="1" smtClean="0">
                <a:latin typeface="黑体" panose="02010609060101010101" charset="-122"/>
                <a:ea typeface="黑体" panose="02010609060101010101" charset="-122"/>
                <a:cs typeface="+mn-cs"/>
              </a:rPr>
              <a:t>第</a:t>
            </a:r>
            <a:fld id="{7D9BB5D0-35E4-459D-AEF3-FE4D7C45CC19}" type="slidenum">
              <a:rPr lang="zh-CN" altLang="en-US" strike="noStrike" noProof="1" smtClean="0">
                <a:latin typeface="黑体" panose="02010609060101010101" charset="-122"/>
                <a:ea typeface="黑体" panose="02010609060101010101" charset="-122"/>
                <a:cs typeface="+mn-cs"/>
              </a:rPr>
            </a:fld>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95233" name="标题 2"/>
          <p:cNvSpPr>
            <a:spLocks noGrp="1"/>
          </p:cNvSpPr>
          <p:nvPr>
            <p:custDataLst>
              <p:tags r:id="rId1"/>
            </p:custDataLst>
          </p:nvPr>
        </p:nvSpPr>
        <p:spPr>
          <a:xfrm>
            <a:off x="9209405" y="90170"/>
            <a:ext cx="2736850" cy="622935"/>
          </a:xfrm>
          <a:prstGeom prst="rect">
            <a:avLst/>
          </a:prstGeom>
          <a:noFill/>
          <a:ln w="9525">
            <a:noFill/>
          </a:ln>
        </p:spPr>
        <p:txBody>
          <a:bodyPr vert="horz" wrap="square"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pPr defTabSz="685800"/>
            <a:r>
              <a:rPr lang="en-US" altLang="zh-CN" dirty="0">
                <a:latin typeface="Arial" panose="020B0604020202090204" pitchFamily="34" charset="0"/>
                <a:sym typeface="宋体" panose="02010600030101010101" pitchFamily="2" charset="-122"/>
              </a:rPr>
              <a:t>2.2 </a:t>
            </a:r>
            <a:r>
              <a:rPr dirty="0">
                <a:latin typeface="Arial" panose="020B0604020202090204" pitchFamily="34" charset="0"/>
                <a:sym typeface="宋体" panose="02010600030101010101" pitchFamily="2" charset="-122"/>
              </a:rPr>
              <a:t>功能</a:t>
            </a:r>
            <a:r>
              <a:rPr lang="zh-CN" altLang="zh-CN" dirty="0">
                <a:latin typeface="Arial" panose="020B0604020202090204" pitchFamily="34" charset="0"/>
                <a:sym typeface="宋体" panose="02010600030101010101" pitchFamily="2" charset="-122"/>
              </a:rPr>
              <a:t>架构</a:t>
            </a:r>
            <a:endParaRPr lang="en-US" altLang="zh-CN" dirty="0">
              <a:latin typeface="Arial" panose="020B0604020202090204" charset="-122"/>
              <a:sym typeface="宋体" panose="02010600030101010101" pitchFamily="2" charset="-122"/>
            </a:endParaRPr>
          </a:p>
        </p:txBody>
      </p:sp>
      <p:sp>
        <p:nvSpPr>
          <p:cNvPr id="441" name="矩形 32"/>
          <p:cNvSpPr/>
          <p:nvPr>
            <p:custDataLst>
              <p:tags r:id="rId2"/>
            </p:custDataLst>
          </p:nvPr>
        </p:nvSpPr>
        <p:spPr>
          <a:xfrm>
            <a:off x="11234420" y="5334635"/>
            <a:ext cx="749935" cy="285750"/>
          </a:xfrm>
          <a:prstGeom prst="roundRect">
            <a:avLst>
              <a:gd name="adj" fmla="val 16667"/>
            </a:avLst>
          </a:prstGeom>
          <a:solidFill>
            <a:schemeClr val="bg2">
              <a:lumMod val="85000"/>
            </a:schemeClr>
          </a:solidFill>
          <a:ln w="9525" cap="flat" cmpd="sng">
            <a:solidFill>
              <a:schemeClr val="tx1"/>
            </a:solidFill>
            <a:prstDash val="solid"/>
            <a:round/>
            <a:headEnd type="none" w="med" len="med"/>
            <a:tailEnd type="none" w="med" len="med"/>
          </a:ln>
        </p:spPr>
        <p:txBody>
          <a:bodyPr wrap="square" lIns="0" tIns="0" rIns="0" bIns="0" anchor="ctr">
            <a:noAutofit/>
          </a:bodyPr>
          <a:p>
            <a:pPr lvl="0" algn="ctr" eaLnBrk="0" hangingPunct="0">
              <a:buClrTx/>
              <a:buSzTx/>
              <a:buFontTx/>
            </a:pP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废止</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442" name="直接箭头连接符 441"/>
          <p:cNvCxnSpPr/>
          <p:nvPr>
            <p:custDataLst>
              <p:tags r:id="rId3"/>
            </p:custDataLst>
          </p:nvPr>
        </p:nvCxnSpPr>
        <p:spPr>
          <a:xfrm>
            <a:off x="11033760" y="5795010"/>
            <a:ext cx="504825" cy="0"/>
          </a:xfrm>
          <a:prstGeom prst="straightConnector1">
            <a:avLst/>
          </a:prstGeom>
          <a:solidFill>
            <a:schemeClr val="bg1"/>
          </a:solidFill>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443" name="矩形 32"/>
          <p:cNvSpPr/>
          <p:nvPr>
            <p:custDataLst>
              <p:tags r:id="rId4"/>
            </p:custDataLst>
          </p:nvPr>
        </p:nvSpPr>
        <p:spPr>
          <a:xfrm>
            <a:off x="11234420" y="4534535"/>
            <a:ext cx="749935" cy="285750"/>
          </a:xfrm>
          <a:prstGeom prst="roundRect">
            <a:avLst>
              <a:gd name="adj" fmla="val 16667"/>
            </a:avLst>
          </a:prstGeom>
          <a:solidFill>
            <a:srgbClr val="92D050"/>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新建</a:t>
            </a:r>
            <a:endParaRPr lang="zh-CN" altLang="en-US" sz="1200" dirty="0">
              <a:latin typeface="微软雅黑" panose="020B0503020204020204" pitchFamily="34" charset="-122"/>
              <a:ea typeface="微软雅黑" panose="020B0503020204020204" pitchFamily="34" charset="-122"/>
            </a:endParaRPr>
          </a:p>
        </p:txBody>
      </p:sp>
      <p:sp>
        <p:nvSpPr>
          <p:cNvPr id="444" name="矩形 32"/>
          <p:cNvSpPr/>
          <p:nvPr>
            <p:custDataLst>
              <p:tags r:id="rId5"/>
            </p:custDataLst>
          </p:nvPr>
        </p:nvSpPr>
        <p:spPr>
          <a:xfrm>
            <a:off x="11234420" y="4951095"/>
            <a:ext cx="749935" cy="285750"/>
          </a:xfrm>
          <a:prstGeom prst="roundRect">
            <a:avLst>
              <a:gd name="adj" fmla="val 16667"/>
            </a:avLst>
          </a:prstGeom>
          <a:solidFill>
            <a:srgbClr val="FFCA3B"/>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已有</a:t>
            </a:r>
            <a:endParaRPr lang="zh-CN" altLang="en-US" sz="1200" dirty="0">
              <a:latin typeface="微软雅黑" panose="020B0503020204020204" pitchFamily="34" charset="-122"/>
              <a:ea typeface="微软雅黑" panose="020B0503020204020204" pitchFamily="34" charset="-122"/>
            </a:endParaRPr>
          </a:p>
        </p:txBody>
      </p:sp>
      <p:sp>
        <p:nvSpPr>
          <p:cNvPr id="445" name="矩形 32"/>
          <p:cNvSpPr/>
          <p:nvPr>
            <p:custDataLst>
              <p:tags r:id="rId6"/>
            </p:custDataLst>
          </p:nvPr>
        </p:nvSpPr>
        <p:spPr>
          <a:xfrm>
            <a:off x="11233785" y="3574415"/>
            <a:ext cx="750570" cy="426720"/>
          </a:xfrm>
          <a:prstGeom prst="roundRect">
            <a:avLst>
              <a:gd name="adj" fmla="val 16667"/>
            </a:avLst>
          </a:prstGeom>
          <a:solidFill>
            <a:srgbClr val="FFFFFF"/>
          </a:solidFill>
          <a:ln w="12700" cap="flat" cmpd="sng">
            <a:solidFill>
              <a:schemeClr val="tx1"/>
            </a:solidFill>
            <a:prstDash val="solid"/>
            <a:round/>
            <a:headEnd type="none" w="med" len="med"/>
            <a:tailEnd type="none" w="med" len="med"/>
          </a:ln>
        </p:spPr>
        <p:txBody>
          <a:bodyPr wrap="square" lIns="0" tIns="0" rIns="0" bIns="0" anchor="ctr"/>
          <a:p>
            <a:pPr algn="ctr" eaLnBrk="0" hangingPunct="0"/>
            <a:r>
              <a:rPr lang="zh-CN" altLang="en-US" sz="1200" dirty="0">
                <a:latin typeface="微软雅黑" panose="020B0503020204020204" pitchFamily="34" charset="-122"/>
                <a:ea typeface="微软雅黑" panose="020B0503020204020204" pitchFamily="34" charset="-122"/>
              </a:rPr>
              <a:t>外联系统</a:t>
            </a:r>
            <a:endParaRPr lang="zh-CN" altLang="en-US" sz="1200" dirty="0">
              <a:latin typeface="微软雅黑" panose="020B0503020204020204" pitchFamily="34" charset="-122"/>
              <a:ea typeface="微软雅黑" panose="020B0503020204020204" pitchFamily="34" charset="-122"/>
            </a:endParaRPr>
          </a:p>
          <a:p>
            <a:pPr algn="ctr" eaLnBrk="0" hangingPunct="0"/>
            <a:r>
              <a:rPr lang="zh-CN" altLang="en-US" sz="1200" dirty="0">
                <a:latin typeface="微软雅黑" panose="020B0503020204020204" pitchFamily="34" charset="-122"/>
                <a:ea typeface="微软雅黑" panose="020B0503020204020204" pitchFamily="34" charset="-122"/>
              </a:rPr>
              <a:t>或接口</a:t>
            </a:r>
            <a:endParaRPr lang="zh-CN" altLang="en-US" sz="1200" dirty="0">
              <a:latin typeface="微软雅黑" panose="020B0503020204020204" pitchFamily="34" charset="-122"/>
              <a:ea typeface="微软雅黑" panose="020B0503020204020204" pitchFamily="34" charset="-122"/>
            </a:endParaRPr>
          </a:p>
        </p:txBody>
      </p:sp>
      <p:sp>
        <p:nvSpPr>
          <p:cNvPr id="446" name="矩形 32"/>
          <p:cNvSpPr/>
          <p:nvPr>
            <p:custDataLst>
              <p:tags r:id="rId7"/>
            </p:custDataLst>
          </p:nvPr>
        </p:nvSpPr>
        <p:spPr>
          <a:xfrm>
            <a:off x="11234420" y="4142105"/>
            <a:ext cx="749935" cy="285750"/>
          </a:xfrm>
          <a:prstGeom prst="roundRect">
            <a:avLst>
              <a:gd name="adj" fmla="val 16667"/>
            </a:avLst>
          </a:prstGeom>
          <a:solidFill>
            <a:srgbClr val="FFFF00"/>
          </a:solidFill>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rPr>
              <a:t>优化</a:t>
            </a: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升级</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47" name="Text Box 133"/>
          <p:cNvSpPr txBox="1"/>
          <p:nvPr>
            <p:custDataLst>
              <p:tags r:id="rId8"/>
            </p:custDataLst>
          </p:nvPr>
        </p:nvSpPr>
        <p:spPr>
          <a:xfrm>
            <a:off x="11654155" y="5676900"/>
            <a:ext cx="429260" cy="235585"/>
          </a:xfrm>
          <a:prstGeom prst="rect">
            <a:avLst/>
          </a:prstGeom>
          <a:noFill/>
          <a:ln w="9525">
            <a:noFill/>
          </a:ln>
        </p:spPr>
        <p:txBody>
          <a:bodyPr wrap="square" lIns="36195" tIns="36195" anchor="t">
            <a:spAutoFit/>
          </a:bodyPr>
          <a:p>
            <a:pPr eaLnBrk="0" hangingPunct="0"/>
            <a:r>
              <a:rPr lang="zh-CN" altLang="en-US" sz="1000" b="1" dirty="0">
                <a:latin typeface="微软雅黑" panose="020B0503020204020204" pitchFamily="34" charset="-122"/>
                <a:ea typeface="微软雅黑" panose="020B0503020204020204" pitchFamily="34" charset="-122"/>
                <a:sym typeface="Arial" panose="020B0604020202090204" charset="-122"/>
              </a:rPr>
              <a:t>边界</a:t>
            </a:r>
            <a:endParaRPr lang="zh-CN" altLang="en-US" sz="1000" b="1" dirty="0">
              <a:latin typeface="微软雅黑" panose="020B0503020204020204" pitchFamily="34" charset="-122"/>
              <a:ea typeface="微软雅黑" panose="020B0503020204020204" pitchFamily="34" charset="-122"/>
              <a:sym typeface="Arial" panose="020B0604020202090204" charset="-122"/>
            </a:endParaRPr>
          </a:p>
        </p:txBody>
      </p:sp>
      <p:sp>
        <p:nvSpPr>
          <p:cNvPr id="12" name="圆角矩形 12418"/>
          <p:cNvSpPr/>
          <p:nvPr/>
        </p:nvSpPr>
        <p:spPr>
          <a:xfrm>
            <a:off x="10138410" y="1087120"/>
            <a:ext cx="953770" cy="4843145"/>
          </a:xfrm>
          <a:prstGeom prst="rect">
            <a:avLst/>
          </a:prstGeom>
          <a:solidFill>
            <a:schemeClr val="bg1"/>
          </a:solidFill>
          <a:ln w="12700" cap="flat" cmpd="sng">
            <a:solidFill>
              <a:srgbClr val="41719C"/>
            </a:solidFill>
            <a:prstDash val="dash"/>
            <a:round/>
            <a:headEnd type="none" w="med" len="med"/>
            <a:tailEnd type="none" w="med" len="med"/>
          </a:ln>
        </p:spPr>
        <p:txBody>
          <a:bodyPr wrap="none" lIns="90170" tIns="46990" rIns="90170" bIns="46990" anchor="t"/>
          <a:lstStyle/>
          <a:p>
            <a:pPr algn="ctr" eaLnBrk="0" hangingPunct="0"/>
            <a:r>
              <a:rPr lang="zh-CN" altLang="en-US" sz="1200" b="1" dirty="0">
                <a:latin typeface="微软雅黑" panose="020B0503020204020204" pitchFamily="34" charset="-122"/>
                <a:ea typeface="微软雅黑" panose="020B0503020204020204" pitchFamily="34" charset="-122"/>
              </a:rPr>
              <a:t>关联系统</a:t>
            </a:r>
            <a:endParaRPr lang="zh-CN" altLang="en-US" sz="1200" b="1" dirty="0">
              <a:latin typeface="微软雅黑" panose="020B0503020204020204" pitchFamily="34" charset="-122"/>
              <a:ea typeface="微软雅黑" panose="020B0503020204020204" pitchFamily="34" charset="-122"/>
            </a:endParaRPr>
          </a:p>
        </p:txBody>
      </p:sp>
      <p:sp>
        <p:nvSpPr>
          <p:cNvPr id="14" name="矩形 32"/>
          <p:cNvSpPr/>
          <p:nvPr/>
        </p:nvSpPr>
        <p:spPr>
          <a:xfrm>
            <a:off x="10233660" y="2538095"/>
            <a:ext cx="800100" cy="355600"/>
          </a:xfrm>
          <a:prstGeom prst="rect">
            <a:avLst/>
          </a:prstGeom>
          <a:solidFill>
            <a:srgbClr val="FFFFFF"/>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lstStyle/>
          <a:p>
            <a:pPr lvl="0" algn="ctr" eaLnBrk="0" hangingPunct="0"/>
            <a:r>
              <a:rPr lang="zh-CN" altLang="en-US" sz="1200" dirty="0">
                <a:latin typeface="微软雅黑" panose="020B0503020204020204" pitchFamily="34" charset="-122"/>
                <a:ea typeface="微软雅黑" panose="020B0503020204020204" pitchFamily="34" charset="-122"/>
                <a:sym typeface="+mn-ea"/>
              </a:rPr>
              <a:t>调度</a:t>
            </a:r>
            <a:r>
              <a:rPr lang="zh-CN" altLang="en-US" sz="1200" dirty="0">
                <a:latin typeface="微软雅黑" panose="020B0503020204020204" pitchFamily="34" charset="-122"/>
                <a:ea typeface="微软雅黑" panose="020B0503020204020204" pitchFamily="34" charset="-122"/>
                <a:sym typeface="+mn-ea"/>
              </a:rPr>
              <a:t>平台</a:t>
            </a:r>
            <a:endParaRPr lang="zh-CN" altLang="en-US" sz="1200" dirty="0">
              <a:latin typeface="微软雅黑" panose="020B0503020204020204" pitchFamily="34" charset="-122"/>
              <a:ea typeface="微软雅黑" panose="020B0503020204020204" pitchFamily="34" charset="-122"/>
              <a:sym typeface="+mn-ea"/>
            </a:endParaRPr>
          </a:p>
        </p:txBody>
      </p:sp>
      <p:cxnSp>
        <p:nvCxnSpPr>
          <p:cNvPr id="21" name="直接箭头连接符 20"/>
          <p:cNvCxnSpPr/>
          <p:nvPr/>
        </p:nvCxnSpPr>
        <p:spPr>
          <a:xfrm flipV="1">
            <a:off x="9879965" y="1882140"/>
            <a:ext cx="198755" cy="2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9930765" y="3651250"/>
            <a:ext cx="193040" cy="127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9917430" y="5525135"/>
            <a:ext cx="208280" cy="6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2"/>
          <p:cNvSpPr/>
          <p:nvPr/>
        </p:nvSpPr>
        <p:spPr>
          <a:xfrm>
            <a:off x="10233660" y="4427855"/>
            <a:ext cx="800100" cy="356870"/>
          </a:xfrm>
          <a:prstGeom prst="rect">
            <a:avLst/>
          </a:prstGeom>
          <a:solidFill>
            <a:srgbClr val="FFFFFF"/>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lstStyle/>
          <a:p>
            <a:pPr lvl="0" algn="ctr" eaLnBrk="0" hangingPunct="0"/>
            <a:r>
              <a:rPr lang="zh-CN" altLang="en-US" sz="1200" dirty="0">
                <a:latin typeface="微软雅黑" panose="020B0503020204020204" pitchFamily="34" charset="-122"/>
                <a:ea typeface="微软雅黑" panose="020B0503020204020204" pitchFamily="34" charset="-122"/>
                <a:sym typeface="+mn-ea"/>
              </a:rPr>
              <a:t>权限</a:t>
            </a:r>
            <a:r>
              <a:rPr lang="zh-CN" altLang="en-US" sz="1200" dirty="0">
                <a:latin typeface="微软雅黑" panose="020B0503020204020204" pitchFamily="34" charset="-122"/>
                <a:ea typeface="微软雅黑" panose="020B0503020204020204" pitchFamily="34" charset="-122"/>
                <a:sym typeface="+mn-ea"/>
              </a:rPr>
              <a:t>系统</a:t>
            </a:r>
            <a:endParaRPr lang="zh-CN" altLang="en-US" sz="1200" dirty="0">
              <a:latin typeface="微软雅黑" panose="020B0503020204020204" pitchFamily="34" charset="-122"/>
              <a:ea typeface="微软雅黑" panose="020B0503020204020204" pitchFamily="34" charset="-122"/>
              <a:sym typeface="+mn-ea"/>
            </a:endParaRPr>
          </a:p>
        </p:txBody>
      </p:sp>
      <p:sp>
        <p:nvSpPr>
          <p:cNvPr id="133" name="矩形 32"/>
          <p:cNvSpPr/>
          <p:nvPr/>
        </p:nvSpPr>
        <p:spPr>
          <a:xfrm>
            <a:off x="793115" y="3074035"/>
            <a:ext cx="9123680" cy="1074420"/>
          </a:xfrm>
          <a:prstGeom prst="rect">
            <a:avLst/>
          </a:prstGeom>
          <a:noFill/>
          <a:ln w="25400" cap="flat" cmpd="sng">
            <a:solidFill>
              <a:srgbClr val="31CDA8"/>
            </a:solidFill>
            <a:prstDash val="solid"/>
            <a:round/>
            <a:headEnd type="none" w="med" len="med"/>
            <a:tailEnd type="none" w="med" len="med"/>
          </a:ln>
        </p:spPr>
        <p:txBody>
          <a:bodyPr wrap="square" lIns="0" tIns="0" rIns="0" bIns="0" anchor="ctr"/>
          <a:lstStyle/>
          <a:p>
            <a:pPr algn="ctr" eaLnBrk="0" hangingPunct="0"/>
            <a:endParaRPr lang="en-US" altLang="zh-CN" sz="1400" dirty="0">
              <a:latin typeface="微软雅黑" panose="020B0503020204020204" pitchFamily="34" charset="-122"/>
              <a:ea typeface="微软雅黑" panose="020B0503020204020204" pitchFamily="34" charset="-122"/>
            </a:endParaRPr>
          </a:p>
        </p:txBody>
      </p:sp>
      <p:sp>
        <p:nvSpPr>
          <p:cNvPr id="134" name="矩形 32"/>
          <p:cNvSpPr/>
          <p:nvPr/>
        </p:nvSpPr>
        <p:spPr>
          <a:xfrm>
            <a:off x="754380" y="1087755"/>
            <a:ext cx="9123680" cy="1073785"/>
          </a:xfrm>
          <a:prstGeom prst="rect">
            <a:avLst/>
          </a:prstGeom>
          <a:noFill/>
          <a:ln w="19050" cap="flat" cmpd="sng">
            <a:solidFill>
              <a:schemeClr val="accent1"/>
            </a:solidFill>
            <a:prstDash val="solid"/>
            <a:round/>
            <a:headEnd type="none" w="med" len="med"/>
            <a:tailEnd type="none" w="med" len="med"/>
          </a:ln>
          <a:scene3d>
            <a:camera prst="perspectiveFront"/>
            <a:lightRig rig="threePt" dir="t"/>
          </a:scene3d>
          <a:extLst>
            <a:ext uri="{909E8E84-426E-40DD-AFC4-6F175D3DCCD1}">
              <a14:hiddenFill xmlns:a14="http://schemas.microsoft.com/office/drawing/2010/main">
                <a:solidFill>
                  <a:schemeClr val="bg1"/>
                </a:solidFill>
              </a14:hiddenFill>
            </a:ext>
          </a:extLst>
        </p:spPr>
        <p:txBody>
          <a:bodyPr wrap="square" lIns="0" tIns="0" rIns="0" bIns="0" anchor="ctr"/>
          <a:lstStyle/>
          <a:p>
            <a:pPr lvl="0" indent="0" algn="ctr" eaLnBrk="0" fontAlgn="base" hangingPunct="0"/>
            <a:endParaRPr lang="en-US" altLang="zh-CN" sz="1400" strike="noStrike" noProof="1">
              <a:solidFill>
                <a:schemeClr val="tx1"/>
              </a:solidFill>
              <a:latin typeface="微软雅黑" panose="020B0503020204020204" pitchFamily="34" charset="-122"/>
              <a:ea typeface="微软雅黑" panose="020B0503020204020204" pitchFamily="34" charset="-122"/>
            </a:endParaRPr>
          </a:p>
        </p:txBody>
      </p:sp>
      <p:sp>
        <p:nvSpPr>
          <p:cNvPr id="135" name="矩形 32"/>
          <p:cNvSpPr/>
          <p:nvPr/>
        </p:nvSpPr>
        <p:spPr>
          <a:xfrm>
            <a:off x="795020" y="5175250"/>
            <a:ext cx="9135745" cy="726440"/>
          </a:xfrm>
          <a:prstGeom prst="rect">
            <a:avLst/>
          </a:prstGeom>
          <a:noFill/>
          <a:ln w="25400" cap="flat" cmpd="sng">
            <a:solidFill>
              <a:srgbClr val="FFCA3B"/>
            </a:solidFill>
            <a:prstDash val="solid"/>
            <a:round/>
            <a:headEnd type="none" w="med" len="med"/>
            <a:tailEnd type="none" w="med" len="med"/>
          </a:ln>
          <a:scene3d>
            <a:camera prst="orthographicFront"/>
            <a:lightRig rig="threePt" dir="t"/>
          </a:scene3d>
          <a:sp3d extrusionH="31750" prstMaterial="matte"/>
          <a:extLst>
            <a:ext uri="{909E8E84-426E-40DD-AFC4-6F175D3DCCD1}">
              <a14:hiddenFill xmlns:a14="http://schemas.microsoft.com/office/drawing/2010/main">
                <a:solidFill>
                  <a:schemeClr val="bg1"/>
                </a:solidFill>
              </a14:hiddenFill>
            </a:ext>
          </a:extLst>
        </p:spPr>
        <p:txBody>
          <a:bodyPr wrap="square" lIns="0" tIns="0" rIns="0" bIns="0" anchor="ctr"/>
          <a:lstStyle/>
          <a:p>
            <a:pPr lvl="0" indent="0" algn="ctr" eaLnBrk="0" fontAlgn="base" hangingPunct="0"/>
            <a:endParaRPr lang="en-US" altLang="zh-CN" sz="1400" strike="noStrike" noProof="1">
              <a:solidFill>
                <a:schemeClr val="tx1"/>
              </a:solidFill>
              <a:latin typeface="微软雅黑" panose="020B0503020204020204" pitchFamily="34" charset="-122"/>
              <a:ea typeface="微软雅黑" panose="020B0503020204020204" pitchFamily="34" charset="-122"/>
            </a:endParaRPr>
          </a:p>
        </p:txBody>
      </p:sp>
      <p:sp>
        <p:nvSpPr>
          <p:cNvPr id="136" name="矩形 135"/>
          <p:cNvSpPr/>
          <p:nvPr/>
        </p:nvSpPr>
        <p:spPr>
          <a:xfrm>
            <a:off x="379730" y="1087755"/>
            <a:ext cx="375285" cy="1073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sz="1600" strike="noStrike" noProof="1">
                <a:latin typeface="微软雅黑" panose="020B0503020204020204" pitchFamily="34" charset="-122"/>
                <a:ea typeface="微软雅黑" panose="020B0503020204020204" pitchFamily="34" charset="-122"/>
              </a:rPr>
              <a:t>展现层</a:t>
            </a:r>
            <a:endParaRPr lang="zh-CN" sz="1600" strike="noStrike" noProof="1">
              <a:latin typeface="微软雅黑" panose="020B0503020204020204" pitchFamily="34" charset="-122"/>
              <a:ea typeface="微软雅黑" panose="020B0503020204020204" pitchFamily="34" charset="-122"/>
            </a:endParaRPr>
          </a:p>
        </p:txBody>
      </p:sp>
      <p:sp>
        <p:nvSpPr>
          <p:cNvPr id="138" name="矩形 137"/>
          <p:cNvSpPr/>
          <p:nvPr/>
        </p:nvSpPr>
        <p:spPr>
          <a:xfrm>
            <a:off x="433705" y="3057525"/>
            <a:ext cx="360680" cy="1106170"/>
          </a:xfrm>
          <a:prstGeom prst="rect">
            <a:avLst/>
          </a:prstGeom>
          <a:solidFill>
            <a:srgbClr val="31C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sz="1600" strike="noStrike" noProof="1">
                <a:latin typeface="微软雅黑" panose="020B0503020204020204" pitchFamily="34" charset="-122"/>
                <a:ea typeface="微软雅黑" panose="020B0503020204020204" pitchFamily="34" charset="-122"/>
              </a:rPr>
              <a:t>应用层</a:t>
            </a:r>
            <a:endParaRPr lang="zh-CN" sz="1600" strike="noStrike" noProof="1">
              <a:latin typeface="微软雅黑" panose="020B0503020204020204" pitchFamily="34" charset="-122"/>
              <a:ea typeface="微软雅黑" panose="020B0503020204020204" pitchFamily="34" charset="-122"/>
            </a:endParaRPr>
          </a:p>
        </p:txBody>
      </p:sp>
      <p:sp>
        <p:nvSpPr>
          <p:cNvPr id="140" name="矩形 139"/>
          <p:cNvSpPr/>
          <p:nvPr/>
        </p:nvSpPr>
        <p:spPr>
          <a:xfrm>
            <a:off x="433705" y="5175250"/>
            <a:ext cx="360680" cy="721360"/>
          </a:xfrm>
          <a:prstGeom prst="rect">
            <a:avLst/>
          </a:prstGeom>
          <a:solidFill>
            <a:srgbClr val="FFCA3B"/>
          </a:solidFill>
          <a:ln>
            <a:solidFill>
              <a:srgbClr val="FFC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sz="1600" strike="noStrike" noProof="1">
                <a:latin typeface="微软雅黑" panose="020B0503020204020204" pitchFamily="34" charset="-122"/>
                <a:ea typeface="微软雅黑" panose="020B0503020204020204" pitchFamily="34" charset="-122"/>
              </a:rPr>
              <a:t>数据层</a:t>
            </a:r>
            <a:endParaRPr lang="zh-CN" sz="1600" strike="noStrike" noProof="1">
              <a:latin typeface="微软雅黑" panose="020B0503020204020204" pitchFamily="34" charset="-122"/>
              <a:ea typeface="微软雅黑" panose="020B0503020204020204" pitchFamily="34" charset="-122"/>
            </a:endParaRPr>
          </a:p>
        </p:txBody>
      </p:sp>
      <p:sp>
        <p:nvSpPr>
          <p:cNvPr id="293" name="圆角矩形 292"/>
          <p:cNvSpPr/>
          <p:nvPr/>
        </p:nvSpPr>
        <p:spPr>
          <a:xfrm>
            <a:off x="2910205" y="312928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作业</a:t>
            </a:r>
            <a:r>
              <a:rPr lang="zh-CN" altLang="en-US" sz="1200" dirty="0">
                <a:latin typeface="微软雅黑" panose="020B0503020204020204" pitchFamily="34" charset="-122"/>
                <a:ea typeface="微软雅黑" panose="020B0503020204020204" pitchFamily="34" charset="-122"/>
                <a:sym typeface="+mn-ea"/>
              </a:rPr>
              <a:t>配置</a:t>
            </a:r>
            <a:endParaRPr lang="zh-CN" altLang="en-US" sz="1200" dirty="0">
              <a:latin typeface="微软雅黑" panose="020B0503020204020204" pitchFamily="34" charset="-122"/>
              <a:ea typeface="微软雅黑" panose="020B0503020204020204" pitchFamily="34" charset="-122"/>
              <a:sym typeface="+mn-ea"/>
            </a:endParaRPr>
          </a:p>
        </p:txBody>
      </p:sp>
      <p:sp>
        <p:nvSpPr>
          <p:cNvPr id="6" name="流程图: 磁盘 5"/>
          <p:cNvSpPr/>
          <p:nvPr>
            <p:custDataLst>
              <p:tags r:id="rId9"/>
            </p:custDataLst>
          </p:nvPr>
        </p:nvSpPr>
        <p:spPr>
          <a:xfrm>
            <a:off x="4648200" y="5317490"/>
            <a:ext cx="1908175" cy="43942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000" dirty="0">
                <a:latin typeface="微软雅黑" panose="020B0503020204020204" pitchFamily="34" charset="-122"/>
                <a:ea typeface="微软雅黑" panose="020B0503020204020204" pitchFamily="34" charset="-122"/>
                <a:sym typeface="+mn-ea"/>
              </a:rPr>
              <a:t>作业执行</a:t>
            </a:r>
            <a:r>
              <a:rPr lang="zh-CN" altLang="en-US" sz="1000" dirty="0">
                <a:latin typeface="微软雅黑" panose="020B0503020204020204" pitchFamily="34" charset="-122"/>
                <a:ea typeface="微软雅黑" panose="020B0503020204020204" pitchFamily="34" charset="-122"/>
                <a:sym typeface="+mn-ea"/>
              </a:rPr>
              <a:t>表</a:t>
            </a:r>
            <a:endParaRPr lang="zh-CN" altLang="en-US" sz="1000" dirty="0">
              <a:latin typeface="微软雅黑" panose="020B0503020204020204" pitchFamily="34" charset="-122"/>
              <a:ea typeface="微软雅黑" panose="020B0503020204020204" pitchFamily="34" charset="-122"/>
              <a:sym typeface="+mn-ea"/>
            </a:endParaRPr>
          </a:p>
        </p:txBody>
      </p:sp>
      <p:sp>
        <p:nvSpPr>
          <p:cNvPr id="7" name="流程图: 磁盘 6"/>
          <p:cNvSpPr/>
          <p:nvPr>
            <p:custDataLst>
              <p:tags r:id="rId10"/>
            </p:custDataLst>
          </p:nvPr>
        </p:nvSpPr>
        <p:spPr>
          <a:xfrm>
            <a:off x="7165975" y="5300980"/>
            <a:ext cx="1908175" cy="43942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000" dirty="0">
                <a:latin typeface="微软雅黑" panose="020B0503020204020204" pitchFamily="34" charset="-122"/>
                <a:ea typeface="微软雅黑" panose="020B0503020204020204" pitchFamily="34" charset="-122"/>
                <a:sym typeface="+mn-ea"/>
              </a:rPr>
              <a:t>脚本</a:t>
            </a:r>
            <a:r>
              <a:rPr lang="zh-CN" altLang="en-US" sz="1000" dirty="0">
                <a:latin typeface="微软雅黑" panose="020B0503020204020204" pitchFamily="34" charset="-122"/>
                <a:ea typeface="微软雅黑" panose="020B0503020204020204" pitchFamily="34" charset="-122"/>
                <a:sym typeface="+mn-ea"/>
              </a:rPr>
              <a:t>任务执行</a:t>
            </a:r>
            <a:r>
              <a:rPr lang="zh-CN" altLang="en-US" sz="1000" dirty="0">
                <a:latin typeface="微软雅黑" panose="020B0503020204020204" pitchFamily="34" charset="-122"/>
                <a:ea typeface="微软雅黑" panose="020B0503020204020204" pitchFamily="34" charset="-122"/>
                <a:sym typeface="+mn-ea"/>
              </a:rPr>
              <a:t>表</a:t>
            </a:r>
            <a:endParaRPr lang="zh-CN" altLang="en-US" sz="1000" dirty="0">
              <a:latin typeface="微软雅黑" panose="020B0503020204020204" pitchFamily="34" charset="-122"/>
              <a:ea typeface="微软雅黑" panose="020B0503020204020204" pitchFamily="34" charset="-122"/>
              <a:sym typeface="+mn-ea"/>
            </a:endParaRPr>
          </a:p>
        </p:txBody>
      </p:sp>
      <p:sp>
        <p:nvSpPr>
          <p:cNvPr id="9" name="圆角矩形 8"/>
          <p:cNvSpPr/>
          <p:nvPr>
            <p:custDataLst>
              <p:tags r:id="rId11"/>
            </p:custDataLst>
          </p:nvPr>
        </p:nvSpPr>
        <p:spPr>
          <a:xfrm>
            <a:off x="2910205" y="365252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压缩</a:t>
            </a:r>
            <a:r>
              <a:rPr lang="zh-CN" altLang="en-US" sz="1200" dirty="0">
                <a:latin typeface="微软雅黑" panose="020B0503020204020204" pitchFamily="34" charset="-122"/>
                <a:ea typeface="微软雅黑" panose="020B0503020204020204" pitchFamily="34" charset="-122"/>
                <a:sym typeface="+mn-ea"/>
              </a:rPr>
              <a:t>加密</a:t>
            </a:r>
            <a:endParaRPr lang="zh-CN" altLang="en-US" sz="1200" dirty="0">
              <a:latin typeface="微软雅黑" panose="020B0503020204020204" pitchFamily="34" charset="-122"/>
              <a:ea typeface="微软雅黑" panose="020B0503020204020204" pitchFamily="34" charset="-122"/>
              <a:sym typeface="+mn-ea"/>
            </a:endParaRPr>
          </a:p>
        </p:txBody>
      </p:sp>
      <p:sp>
        <p:nvSpPr>
          <p:cNvPr id="10" name="圆角矩形 9"/>
          <p:cNvSpPr/>
          <p:nvPr>
            <p:custDataLst>
              <p:tags r:id="rId12"/>
            </p:custDataLst>
          </p:nvPr>
        </p:nvSpPr>
        <p:spPr>
          <a:xfrm>
            <a:off x="4805680" y="365252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文件卸载</a:t>
            </a:r>
            <a:endParaRPr lang="zh-CN" altLang="en-US" sz="1200" dirty="0">
              <a:latin typeface="微软雅黑" panose="020B0503020204020204" pitchFamily="34" charset="-122"/>
              <a:ea typeface="微软雅黑" panose="020B0503020204020204" pitchFamily="34" charset="-122"/>
              <a:sym typeface="+mn-ea"/>
            </a:endParaRPr>
          </a:p>
        </p:txBody>
      </p:sp>
      <p:sp>
        <p:nvSpPr>
          <p:cNvPr id="11" name="圆角矩形 10"/>
          <p:cNvSpPr/>
          <p:nvPr>
            <p:custDataLst>
              <p:tags r:id="rId13"/>
            </p:custDataLst>
          </p:nvPr>
        </p:nvSpPr>
        <p:spPr>
          <a:xfrm>
            <a:off x="4805680" y="312928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人大金仓</a:t>
            </a:r>
            <a:r>
              <a:rPr lang="zh-CN" altLang="en-US" sz="1200" dirty="0">
                <a:latin typeface="微软雅黑" panose="020B0503020204020204" pitchFamily="34" charset="-122"/>
                <a:ea typeface="微软雅黑" panose="020B0503020204020204" pitchFamily="34" charset="-122"/>
                <a:sym typeface="+mn-ea"/>
              </a:rPr>
              <a:t>卸载</a:t>
            </a:r>
            <a:endParaRPr lang="zh-CN" altLang="en-US" sz="1200" dirty="0">
              <a:latin typeface="微软雅黑" panose="020B0503020204020204" pitchFamily="34" charset="-122"/>
              <a:ea typeface="微软雅黑" panose="020B0503020204020204" pitchFamily="34" charset="-122"/>
              <a:sym typeface="+mn-ea"/>
            </a:endParaRPr>
          </a:p>
        </p:txBody>
      </p:sp>
      <p:sp>
        <p:nvSpPr>
          <p:cNvPr id="16" name="圆角矩形 15"/>
          <p:cNvSpPr/>
          <p:nvPr>
            <p:custDataLst>
              <p:tags r:id="rId14"/>
            </p:custDataLst>
          </p:nvPr>
        </p:nvSpPr>
        <p:spPr>
          <a:xfrm>
            <a:off x="6670040" y="312928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人大金仓</a:t>
            </a:r>
            <a:r>
              <a:rPr lang="zh-CN" altLang="en-US" sz="1200" dirty="0">
                <a:latin typeface="微软雅黑" panose="020B0503020204020204" pitchFamily="34" charset="-122"/>
                <a:ea typeface="微软雅黑" panose="020B0503020204020204" pitchFamily="34" charset="-122"/>
                <a:sym typeface="+mn-ea"/>
              </a:rPr>
              <a:t>加载</a:t>
            </a:r>
            <a:endParaRPr lang="zh-CN" altLang="en-US" sz="1200" dirty="0">
              <a:latin typeface="微软雅黑" panose="020B0503020204020204" pitchFamily="34" charset="-122"/>
              <a:ea typeface="微软雅黑" panose="020B0503020204020204" pitchFamily="34" charset="-122"/>
              <a:sym typeface="+mn-ea"/>
            </a:endParaRPr>
          </a:p>
        </p:txBody>
      </p:sp>
      <p:sp>
        <p:nvSpPr>
          <p:cNvPr id="18" name="圆角矩形 17"/>
          <p:cNvSpPr/>
          <p:nvPr>
            <p:custDataLst>
              <p:tags r:id="rId15"/>
            </p:custDataLst>
          </p:nvPr>
        </p:nvSpPr>
        <p:spPr>
          <a:xfrm>
            <a:off x="6670040" y="3652520"/>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文件</a:t>
            </a:r>
            <a:r>
              <a:rPr lang="zh-CN" altLang="en-US" sz="1200" dirty="0">
                <a:latin typeface="微软雅黑" panose="020B0503020204020204" pitchFamily="34" charset="-122"/>
                <a:ea typeface="微软雅黑" panose="020B0503020204020204" pitchFamily="34" charset="-122"/>
                <a:sym typeface="+mn-ea"/>
              </a:rPr>
              <a:t>加载</a:t>
            </a:r>
            <a:endParaRPr lang="zh-CN" altLang="en-US" sz="1200" dirty="0">
              <a:latin typeface="微软雅黑" panose="020B0503020204020204" pitchFamily="34" charset="-122"/>
              <a:ea typeface="微软雅黑" panose="020B0503020204020204" pitchFamily="34" charset="-122"/>
              <a:sym typeface="+mn-ea"/>
            </a:endParaRPr>
          </a:p>
        </p:txBody>
      </p:sp>
      <p:sp>
        <p:nvSpPr>
          <p:cNvPr id="24" name="圆角矩形 23"/>
          <p:cNvSpPr/>
          <p:nvPr>
            <p:custDataLst>
              <p:tags r:id="rId16"/>
            </p:custDataLst>
          </p:nvPr>
        </p:nvSpPr>
        <p:spPr>
          <a:xfrm>
            <a:off x="3183890" y="1331595"/>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作业</a:t>
            </a:r>
            <a:r>
              <a:rPr lang="zh-CN" altLang="en-US" sz="1200" dirty="0">
                <a:latin typeface="微软雅黑" panose="020B0503020204020204" pitchFamily="34" charset="-122"/>
                <a:ea typeface="微软雅黑" panose="020B0503020204020204" pitchFamily="34" charset="-122"/>
                <a:sym typeface="+mn-ea"/>
              </a:rPr>
              <a:t>配置</a:t>
            </a:r>
            <a:endParaRPr lang="zh-CN" altLang="en-US" sz="1200" dirty="0">
              <a:latin typeface="微软雅黑" panose="020B0503020204020204" pitchFamily="34" charset="-122"/>
              <a:ea typeface="微软雅黑" panose="020B0503020204020204" pitchFamily="34" charset="-122"/>
              <a:sym typeface="+mn-ea"/>
            </a:endParaRPr>
          </a:p>
        </p:txBody>
      </p:sp>
      <p:sp>
        <p:nvSpPr>
          <p:cNvPr id="25" name="圆角矩形 24"/>
          <p:cNvSpPr/>
          <p:nvPr>
            <p:custDataLst>
              <p:tags r:id="rId17"/>
            </p:custDataLst>
          </p:nvPr>
        </p:nvSpPr>
        <p:spPr>
          <a:xfrm>
            <a:off x="4852670" y="1331595"/>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作业</a:t>
            </a:r>
            <a:r>
              <a:rPr lang="zh-CN" altLang="en-US" sz="1200" dirty="0">
                <a:latin typeface="微软雅黑" panose="020B0503020204020204" pitchFamily="34" charset="-122"/>
                <a:ea typeface="微软雅黑" panose="020B0503020204020204" pitchFamily="34" charset="-122"/>
                <a:sym typeface="+mn-ea"/>
              </a:rPr>
              <a:t>监控</a:t>
            </a:r>
            <a:endParaRPr lang="zh-CN" altLang="en-US" sz="1200" dirty="0">
              <a:latin typeface="微软雅黑" panose="020B0503020204020204" pitchFamily="34" charset="-122"/>
              <a:ea typeface="微软雅黑" panose="020B0503020204020204" pitchFamily="34" charset="-122"/>
              <a:sym typeface="+mn-ea"/>
            </a:endParaRPr>
          </a:p>
        </p:txBody>
      </p:sp>
      <p:sp>
        <p:nvSpPr>
          <p:cNvPr id="2" name="圆角矩形 1"/>
          <p:cNvSpPr/>
          <p:nvPr>
            <p:custDataLst>
              <p:tags r:id="rId18"/>
            </p:custDataLst>
          </p:nvPr>
        </p:nvSpPr>
        <p:spPr>
          <a:xfrm>
            <a:off x="6805295" y="1331595"/>
            <a:ext cx="1021080" cy="374015"/>
          </a:xfrm>
          <a:prstGeom prst="roundRect">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200" dirty="0">
                <a:latin typeface="微软雅黑" panose="020B0503020204020204" pitchFamily="34" charset="-122"/>
                <a:ea typeface="微软雅黑" panose="020B0503020204020204" pitchFamily="34" charset="-122"/>
                <a:sym typeface="+mn-ea"/>
              </a:rPr>
              <a:t>脚本</a:t>
            </a:r>
            <a:r>
              <a:rPr lang="zh-CN" altLang="en-US" sz="1200" dirty="0">
                <a:latin typeface="微软雅黑" panose="020B0503020204020204" pitchFamily="34" charset="-122"/>
                <a:ea typeface="微软雅黑" panose="020B0503020204020204" pitchFamily="34" charset="-122"/>
                <a:sym typeface="+mn-ea"/>
              </a:rPr>
              <a:t>任务</a:t>
            </a:r>
            <a:endParaRPr lang="zh-CN" altLang="en-US" sz="1200" dirty="0">
              <a:latin typeface="微软雅黑" panose="020B0503020204020204" pitchFamily="34" charset="-122"/>
              <a:ea typeface="微软雅黑" panose="020B0503020204020204" pitchFamily="34" charset="-122"/>
              <a:sym typeface="+mn-ea"/>
            </a:endParaRPr>
          </a:p>
        </p:txBody>
      </p:sp>
      <p:sp>
        <p:nvSpPr>
          <p:cNvPr id="3" name="流程图: 磁盘 2"/>
          <p:cNvSpPr/>
          <p:nvPr>
            <p:custDataLst>
              <p:tags r:id="rId19"/>
            </p:custDataLst>
          </p:nvPr>
        </p:nvSpPr>
        <p:spPr>
          <a:xfrm>
            <a:off x="2130425" y="5328920"/>
            <a:ext cx="1908175" cy="439420"/>
          </a:xfrm>
          <a:prstGeom prst="flowChartMagneticDisk">
            <a:avLst/>
          </a:prstGeom>
          <a:solidFill>
            <a:srgbClr val="92D050"/>
          </a:solidFill>
          <a:ln w="12700" cap="flat" cmpd="sng">
            <a:solidFill>
              <a:schemeClr val="tx1"/>
            </a:solidFill>
            <a:prstDash val="solid"/>
            <a:round/>
            <a:headEnd type="none" w="med" len="med"/>
            <a:tailEnd type="none" w="med" len="med"/>
          </a:ln>
        </p:spPr>
        <p:txBody>
          <a:bodyPr vert="horz" wrap="square" lIns="0" tIns="0" rIns="0" bIns="0" numCol="1" spcCol="0" rtlCol="0" fromWordArt="0" anchor="ctr" anchorCtr="0" forceAA="0" compatLnSpc="0">
            <a:noAutofit/>
          </a:bodyPr>
          <a:p>
            <a:pPr lvl="0" algn="ctr" eaLnBrk="0" hangingPunct="0"/>
            <a:r>
              <a:rPr lang="zh-CN" altLang="en-US" sz="1000" dirty="0">
                <a:latin typeface="微软雅黑" panose="020B0503020204020204" pitchFamily="34" charset="-122"/>
                <a:ea typeface="微软雅黑" panose="020B0503020204020204" pitchFamily="34" charset="-122"/>
                <a:sym typeface="+mn-ea"/>
              </a:rPr>
              <a:t>作业配置</a:t>
            </a:r>
            <a:r>
              <a:rPr lang="zh-CN" altLang="en-US" sz="1000" dirty="0">
                <a:latin typeface="微软雅黑" panose="020B0503020204020204" pitchFamily="34" charset="-122"/>
                <a:ea typeface="微软雅黑" panose="020B0503020204020204" pitchFamily="34" charset="-122"/>
                <a:sym typeface="+mn-ea"/>
              </a:rPr>
              <a:t>表</a:t>
            </a:r>
            <a:endParaRPr lang="zh-CN" altLang="en-US" sz="1000"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3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0343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3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0344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4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5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5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4"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5"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功能架构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数据架构</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基础架构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10</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6" name="组合 6146"/>
            <p:cNvGrpSpPr/>
            <p:nvPr/>
          </p:nvGrpSpPr>
          <p:grpSpPr>
            <a:xfrm>
              <a:off x="6588" y="6602"/>
              <a:ext cx="1200" cy="1045"/>
              <a:chOff x="0" y="0"/>
              <a:chExt cx="1549" cy="1351"/>
            </a:xfrm>
          </p:grpSpPr>
          <p:sp>
            <p:nvSpPr>
              <p:cNvPr id="9"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0"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1"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2"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3" name="组合 12"/>
          <p:cNvGrpSpPr/>
          <p:nvPr/>
        </p:nvGrpSpPr>
        <p:grpSpPr>
          <a:xfrm>
            <a:off x="4268470" y="3402330"/>
            <a:ext cx="762000" cy="663575"/>
            <a:chOff x="6588" y="6602"/>
            <a:chExt cx="1200" cy="1045"/>
          </a:xfrm>
        </p:grpSpPr>
        <p:sp>
          <p:nvSpPr>
            <p:cNvPr id="1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5" name="组合 6146"/>
            <p:cNvGrpSpPr/>
            <p:nvPr/>
          </p:nvGrpSpPr>
          <p:grpSpPr>
            <a:xfrm>
              <a:off x="6588" y="6602"/>
              <a:ext cx="1200" cy="1045"/>
              <a:chOff x="0" y="0"/>
              <a:chExt cx="1549" cy="1351"/>
            </a:xfrm>
          </p:grpSpPr>
          <p:sp>
            <p:nvSpPr>
              <p:cNvPr id="1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7"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8"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P spid="5" grpId="1" bldLvl="0"/>
      <p:bldP spid="5" grpId="2" bldLvl="0"/>
      <p:bldP spid="5" grpId="3" bldLvl="0"/>
      <p:bldP spid="5" grpId="4" bldLvl="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2.2</a:t>
            </a:r>
            <a:r>
              <a:rPr lang="zh-CN" altLang="en-US" dirty="0">
                <a:latin typeface="Arial" panose="020B0604020202090204" pitchFamily="34" charset="0"/>
                <a:sym typeface="宋体" panose="02010600030101010101" pitchFamily="2" charset="-122"/>
              </a:rPr>
              <a:t>数据架构</a:t>
            </a:r>
            <a:endParaRPr lang="en-US" altLang="zh-CN" dirty="0">
              <a:latin typeface="Arial" panose="020B0604020202090204" charset="-122"/>
              <a:sym typeface="宋体" panose="02010600030101010101" pitchFamily="2" charset="-122"/>
            </a:endParaRPr>
          </a:p>
        </p:txBody>
      </p:sp>
      <p:sp>
        <p:nvSpPr>
          <p:cNvPr id="104450" name="Text Box 16"/>
          <p:cNvSpPr/>
          <p:nvPr/>
        </p:nvSpPr>
        <p:spPr>
          <a:xfrm>
            <a:off x="561340" y="1024255"/>
            <a:ext cx="2433320" cy="33718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数据模型</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104538" name="文本框 2"/>
          <p:cNvSpPr txBox="1"/>
          <p:nvPr/>
        </p:nvSpPr>
        <p:spPr>
          <a:xfrm>
            <a:off x="438785" y="5885180"/>
            <a:ext cx="4346575" cy="337185"/>
          </a:xfrm>
          <a:prstGeom prst="rect">
            <a:avLst/>
          </a:prstGeom>
          <a:noFill/>
          <a:ln w="9525">
            <a:noFill/>
          </a:ln>
        </p:spPr>
        <p:txBody>
          <a:bodyPr wrap="square" anchor="t">
            <a:spAutoFit/>
          </a:bodyPr>
          <a:p>
            <a:r>
              <a:rPr lang="zh-CN" altLang="en-US" sz="1600">
                <a:latin typeface="华文楷体" panose="02010600040101010101" charset="-122"/>
                <a:ea typeface="华文楷体" panose="02010600040101010101" charset="-122"/>
              </a:rPr>
              <a:t>注：</a:t>
            </a:r>
            <a:r>
              <a:rPr lang="en-US" altLang="zh-CN" sz="1600">
                <a:highlight>
                  <a:srgbClr val="FFFF00"/>
                </a:highlight>
                <a:latin typeface="华文楷体" panose="02010600040101010101" charset="-122"/>
                <a:ea typeface="华文楷体" panose="02010600040101010101" charset="-122"/>
              </a:rPr>
              <a:t> 2.</a:t>
            </a:r>
            <a:r>
              <a:rPr lang="zh-CN" altLang="en-US" sz="1600">
                <a:highlight>
                  <a:srgbClr val="FFFF00"/>
                </a:highlight>
                <a:latin typeface="华文楷体" panose="02010600040101010101" charset="-122"/>
                <a:ea typeface="华文楷体" panose="02010600040101010101" charset="-122"/>
              </a:rPr>
              <a:t>完成数据模型设计后请向</a:t>
            </a:r>
            <a:r>
              <a:rPr lang="en-US" altLang="zh-CN" sz="1600">
                <a:highlight>
                  <a:srgbClr val="FFFF00"/>
                </a:highlight>
                <a:latin typeface="华文楷体" panose="02010600040101010101" charset="-122"/>
                <a:ea typeface="华文楷体" panose="02010600040101010101" charset="-122"/>
              </a:rPr>
              <a:t>TMO</a:t>
            </a:r>
            <a:r>
              <a:rPr lang="zh-CN" altLang="en-US" sz="1600">
                <a:highlight>
                  <a:srgbClr val="FFFF00"/>
                </a:highlight>
                <a:latin typeface="华文楷体" panose="02010600040101010101" charset="-122"/>
                <a:ea typeface="华文楷体" panose="02010600040101010101" charset="-122"/>
              </a:rPr>
              <a:t>提请审核</a:t>
            </a:r>
            <a:endParaRPr lang="zh-CN" altLang="en-US" sz="1600">
              <a:highlight>
                <a:srgbClr val="FFFF00"/>
              </a:highlight>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11</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10" name="矩形 64600"/>
          <p:cNvSpPr/>
          <p:nvPr>
            <p:custDataLst>
              <p:tags r:id="rId1"/>
            </p:custDataLst>
          </p:nvPr>
        </p:nvSpPr>
        <p:spPr>
          <a:xfrm>
            <a:off x="2011045" y="3246755"/>
            <a:ext cx="3284855" cy="2272665"/>
          </a:xfrm>
          <a:prstGeom prst="rect">
            <a:avLst/>
          </a:prstGeom>
          <a:noFill/>
          <a:ln w="28575" cap="flat" cmpd="sng">
            <a:solidFill>
              <a:srgbClr val="339966"/>
            </a:solidFill>
            <a:prstDash val="dash"/>
            <a:bevel/>
            <a:headEnd type="none" w="med" len="med"/>
            <a:tailEnd type="none" w="med" len="med"/>
          </a:ln>
        </p:spPr>
        <p:txBody>
          <a:bodyPr anchor="t"/>
          <a:p>
            <a:endParaRPr lang="zh-CN" altLang="en-US">
              <a:latin typeface="微软雅黑" panose="020B0503020204020204" pitchFamily="34" charset="-122"/>
              <a:ea typeface="微软雅黑" panose="020B0503020204020204" pitchFamily="34" charset="-122"/>
            </a:endParaRPr>
          </a:p>
        </p:txBody>
      </p:sp>
      <p:sp>
        <p:nvSpPr>
          <p:cNvPr id="11" name="文本框 64601"/>
          <p:cNvSpPr txBox="1"/>
          <p:nvPr>
            <p:custDataLst>
              <p:tags r:id="rId2"/>
            </p:custDataLst>
          </p:nvPr>
        </p:nvSpPr>
        <p:spPr>
          <a:xfrm>
            <a:off x="2512040" y="3256532"/>
            <a:ext cx="2299921" cy="245110"/>
          </a:xfrm>
          <a:prstGeom prst="rect">
            <a:avLst/>
          </a:prstGeom>
          <a:noFill/>
          <a:ln w="9525">
            <a:noFill/>
          </a:ln>
        </p:spPr>
        <p:txBody>
          <a:bodyPr wrap="square" anchor="t">
            <a:spAutoFit/>
          </a:bodyPr>
          <a:p>
            <a:pPr marL="0" lvl="0" indent="0" 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配置信息</a:t>
            </a:r>
            <a:endParaRPr lang="zh-CN" altLang="en-US" sz="1000" b="1" dirty="0">
              <a:latin typeface="微软雅黑" panose="020B0503020204020204" pitchFamily="34" charset="-122"/>
              <a:ea typeface="微软雅黑" panose="020B0503020204020204" pitchFamily="34" charset="-122"/>
            </a:endParaRPr>
          </a:p>
        </p:txBody>
      </p:sp>
      <p:sp>
        <p:nvSpPr>
          <p:cNvPr id="16" name="流程图: 过程 64602"/>
          <p:cNvSpPr/>
          <p:nvPr>
            <p:custDataLst>
              <p:tags r:id="rId3"/>
            </p:custDataLst>
          </p:nvPr>
        </p:nvSpPr>
        <p:spPr>
          <a:xfrm>
            <a:off x="3188335" y="3573780"/>
            <a:ext cx="948055" cy="38544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作业</a:t>
            </a:r>
            <a:r>
              <a:rPr lang="zh-CN" altLang="en-US" sz="1000" dirty="0">
                <a:latin typeface="微软雅黑" panose="020B0503020204020204" pitchFamily="34" charset="-122"/>
                <a:ea typeface="微软雅黑" panose="020B0503020204020204" pitchFamily="34" charset="-122"/>
                <a:sym typeface="+mn-ea"/>
              </a:rPr>
              <a:t>配置表</a:t>
            </a:r>
            <a:endParaRPr lang="zh-CN" altLang="en-US" sz="1000" dirty="0">
              <a:latin typeface="微软雅黑" panose="020B0503020204020204" pitchFamily="34" charset="-122"/>
              <a:ea typeface="微软雅黑" panose="020B0503020204020204" pitchFamily="34" charset="-122"/>
            </a:endParaRPr>
          </a:p>
        </p:txBody>
      </p:sp>
      <p:sp>
        <p:nvSpPr>
          <p:cNvPr id="17" name="流程图: 过程 64603"/>
          <p:cNvSpPr/>
          <p:nvPr>
            <p:custDataLst>
              <p:tags r:id="rId4"/>
            </p:custDataLst>
          </p:nvPr>
        </p:nvSpPr>
        <p:spPr>
          <a:xfrm>
            <a:off x="3188335" y="4031615"/>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内容</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时间</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状态</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graphicFrame>
        <p:nvGraphicFramePr>
          <p:cNvPr id="22" name="表格 21"/>
          <p:cNvGraphicFramePr/>
          <p:nvPr/>
        </p:nvGraphicFramePr>
        <p:xfrm>
          <a:off x="956945" y="1482090"/>
          <a:ext cx="9865360" cy="1601470"/>
        </p:xfrm>
        <a:graphic>
          <a:graphicData uri="http://schemas.openxmlformats.org/drawingml/2006/table">
            <a:tbl>
              <a:tblPr/>
              <a:tblGrid>
                <a:gridCol w="681355"/>
                <a:gridCol w="1456690"/>
                <a:gridCol w="2145030"/>
                <a:gridCol w="2374900"/>
                <a:gridCol w="1369695"/>
                <a:gridCol w="1837690"/>
              </a:tblGrid>
              <a:tr h="274320">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序号</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业务对象名称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业务对象描述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实体名称</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实体描述信息</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c>
                  <a:txBody>
                    <a:bodyPr wrap="square"/>
                    <a:p>
                      <a:pPr marL="0" lvl="0" indent="0" algn="ctr">
                        <a:buNone/>
                      </a:pPr>
                      <a:r>
                        <a:rPr lang="zh-CN" altLang="en-US" sz="1200" b="1">
                          <a:solidFill>
                            <a:srgbClr val="FFFFFF"/>
                          </a:solidFill>
                          <a:latin typeface="微软雅黑" panose="020B0503020204020204" pitchFamily="34" charset="-122"/>
                          <a:ea typeface="微软雅黑" panose="020B0503020204020204" pitchFamily="34" charset="-122"/>
                        </a:rPr>
                        <a:t>本项目是否需要变更</a:t>
                      </a:r>
                      <a:endParaRPr lang="zh-CN" altLang="en-US" sz="1200" b="1">
                        <a:solidFill>
                          <a:srgbClr val="FFFFFF"/>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4F81BD">
                        <a:alpha val="100000"/>
                      </a:srgbClr>
                    </a:solidFill>
                  </a:tcPr>
                </a:tc>
              </a:tr>
              <a:tr h="504190">
                <a:tc>
                  <a:txBody>
                    <a:bodyPr/>
                    <a:p>
                      <a:pPr marL="0" lvl="0" indent="0" algn="ctr">
                        <a:buNone/>
                      </a:pPr>
                      <a:r>
                        <a:rPr lang="en-US" altLang="zh-CN" sz="1200">
                          <a:solidFill>
                            <a:srgbClr val="000000"/>
                          </a:solidFill>
                          <a:latin typeface="微软雅黑" panose="020B0503020204020204" pitchFamily="34" charset="-122"/>
                          <a:ea typeface="微软雅黑" panose="020B0503020204020204" pitchFamily="34" charset="-122"/>
                        </a:rPr>
                        <a:t>1</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数据</a:t>
                      </a:r>
                      <a:r>
                        <a:rPr lang="zh-CN" altLang="en-US" sz="1200">
                          <a:solidFill>
                            <a:srgbClr val="000000"/>
                          </a:solidFill>
                          <a:latin typeface="微软雅黑" panose="020B0503020204020204" pitchFamily="34" charset="-122"/>
                          <a:ea typeface="微软雅黑" panose="020B0503020204020204" pitchFamily="34" charset="-122"/>
                        </a:rPr>
                        <a:t>同步</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作业配置表，记录配置</a:t>
                      </a:r>
                      <a:r>
                        <a:rPr lang="zh-CN" altLang="en-US" sz="1200">
                          <a:solidFill>
                            <a:srgbClr val="000000"/>
                          </a:solidFill>
                          <a:latin typeface="微软雅黑" panose="020B0503020204020204" pitchFamily="34" charset="-122"/>
                          <a:ea typeface="微软雅黑" panose="020B0503020204020204" pitchFamily="34" charset="-122"/>
                        </a:rPr>
                        <a:t>信息</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l">
                        <a:buNone/>
                      </a:pPr>
                      <a:r>
                        <a:rPr lang="zh-CN" altLang="en-US" sz="1200">
                          <a:solidFill>
                            <a:srgbClr val="000000"/>
                          </a:solidFill>
                          <a:latin typeface="微软雅黑" panose="020B0503020204020204" pitchFamily="34" charset="-122"/>
                          <a:ea typeface="微软雅黑" panose="020B0503020204020204" pitchFamily="34" charset="-122"/>
                        </a:rPr>
                        <a:t>作业配置</a:t>
                      </a:r>
                      <a:r>
                        <a:rPr lang="zh-CN" altLang="en-US" sz="1200">
                          <a:solidFill>
                            <a:srgbClr val="000000"/>
                          </a:solidFill>
                          <a:latin typeface="微软雅黑" panose="020B0503020204020204" pitchFamily="34" charset="-122"/>
                          <a:ea typeface="微软雅黑" panose="020B0503020204020204" pitchFamily="34" charset="-122"/>
                        </a:rPr>
                        <a:t>表</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记录作业配置</a:t>
                      </a:r>
                      <a:r>
                        <a:rPr lang="zh-CN" altLang="en-US" sz="1200">
                          <a:solidFill>
                            <a:srgbClr val="000000"/>
                          </a:solidFill>
                          <a:latin typeface="微软雅黑" panose="020B0503020204020204" pitchFamily="34" charset="-122"/>
                          <a:ea typeface="微软雅黑" panose="020B0503020204020204" pitchFamily="34" charset="-122"/>
                          <a:sym typeface="+mn-ea"/>
                        </a:rPr>
                        <a:t>信息</a:t>
                      </a:r>
                      <a:endParaRPr lang="zh-CN" altLang="en-US" sz="1200">
                        <a:solidFill>
                          <a:srgbClr val="000000"/>
                        </a:solidFill>
                        <a:latin typeface="微软雅黑" panose="020B0503020204020204" pitchFamily="34" charset="-122"/>
                        <a:ea typeface="微软雅黑" panose="020B0503020204020204" pitchFamily="34" charset="-122"/>
                        <a:sym typeface="+mn-ea"/>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新增</a:t>
                      </a:r>
                      <a:r>
                        <a:rPr lang="zh-CN" altLang="en-US" sz="1200">
                          <a:solidFill>
                            <a:srgbClr val="000000"/>
                          </a:solidFill>
                          <a:latin typeface="微软雅黑" panose="020B0503020204020204" pitchFamily="34" charset="-122"/>
                          <a:ea typeface="微软雅黑" panose="020B0503020204020204" pitchFamily="34" charset="-122"/>
                        </a:rPr>
                        <a:t>实体</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r>
              <a:tr h="504190">
                <a:tc>
                  <a:txBody>
                    <a:bodyPr wrap="square"/>
                    <a:p>
                      <a:pPr marL="0" lvl="0" indent="0" algn="ctr">
                        <a:buNone/>
                      </a:pPr>
                      <a:r>
                        <a:rPr lang="en-US" altLang="zh-CN" sz="1200">
                          <a:solidFill>
                            <a:srgbClr val="000000"/>
                          </a:solidFill>
                          <a:latin typeface="微软雅黑" panose="020B0503020204020204" pitchFamily="34" charset="-122"/>
                          <a:ea typeface="微软雅黑" panose="020B0503020204020204" pitchFamily="34" charset="-122"/>
                        </a:rPr>
                        <a:t>2</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数据</a:t>
                      </a:r>
                      <a:r>
                        <a:rPr lang="zh-CN" altLang="en-US" sz="1200">
                          <a:solidFill>
                            <a:srgbClr val="000000"/>
                          </a:solidFill>
                          <a:latin typeface="微软雅黑" panose="020B0503020204020204" pitchFamily="34" charset="-122"/>
                          <a:ea typeface="微软雅黑" panose="020B0503020204020204" pitchFamily="34" charset="-122"/>
                        </a:rPr>
                        <a:t>同步</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rPr>
                        <a:t>记录卸载</a:t>
                      </a:r>
                      <a:r>
                        <a:rPr lang="en-US" altLang="zh-CN" sz="1200">
                          <a:solidFill>
                            <a:srgbClr val="000000"/>
                          </a:solidFill>
                          <a:latin typeface="微软雅黑" panose="020B0503020204020204" pitchFamily="34" charset="-122"/>
                          <a:ea typeface="微软雅黑" panose="020B0503020204020204" pitchFamily="34" charset="-122"/>
                        </a:rPr>
                        <a:t>/</a:t>
                      </a:r>
                      <a:r>
                        <a:rPr lang="zh-CN" altLang="en-US" sz="1200">
                          <a:solidFill>
                            <a:srgbClr val="000000"/>
                          </a:solidFill>
                          <a:latin typeface="微软雅黑" panose="020B0503020204020204" pitchFamily="34" charset="-122"/>
                          <a:ea typeface="微软雅黑" panose="020B0503020204020204" pitchFamily="34" charset="-122"/>
                        </a:rPr>
                        <a:t>加载任务执行过程及脚本执行行为，支撑任务追踪</a:t>
                      </a:r>
                      <a:r>
                        <a:rPr lang="zh-CN" altLang="en-US" sz="1200">
                          <a:solidFill>
                            <a:srgbClr val="000000"/>
                          </a:solidFill>
                          <a:latin typeface="微软雅黑" panose="020B0503020204020204" pitchFamily="34" charset="-122"/>
                          <a:ea typeface="微软雅黑" panose="020B0503020204020204" pitchFamily="34" charset="-122"/>
                        </a:rPr>
                        <a:t>和问题排查</a:t>
                      </a:r>
                      <a:r>
                        <a:rPr lang="en-US" altLang="zh-CN" sz="1200">
                          <a:solidFill>
                            <a:srgbClr val="000000"/>
                          </a:solidFill>
                          <a:latin typeface="微软雅黑" panose="020B0503020204020204" pitchFamily="34" charset="-122"/>
                          <a:ea typeface="微软雅黑" panose="020B0503020204020204" pitchFamily="34" charset="-122"/>
                        </a:rPr>
                        <a:t>	</a:t>
                      </a:r>
                      <a:endParaRPr lang="en-US" altLang="zh-CN"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l">
                        <a:buNone/>
                      </a:pPr>
                      <a:r>
                        <a:rPr lang="zh-CN" altLang="en-US" sz="1200" dirty="0">
                          <a:latin typeface="微软雅黑" panose="020B0503020204020204" pitchFamily="34" charset="-122"/>
                          <a:ea typeface="微软雅黑" panose="020B0503020204020204" pitchFamily="34" charset="-122"/>
                          <a:sym typeface="+mn-ea"/>
                        </a:rPr>
                        <a:t>作业执行表、脚本任务执行表</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记录卸载</a:t>
                      </a:r>
                      <a:r>
                        <a:rPr lang="en-US" altLang="zh-CN" sz="1200">
                          <a:solidFill>
                            <a:srgbClr val="000000"/>
                          </a:solidFill>
                          <a:latin typeface="微软雅黑" panose="020B0503020204020204" pitchFamily="34" charset="-122"/>
                          <a:ea typeface="微软雅黑" panose="020B0503020204020204" pitchFamily="34" charset="-122"/>
                          <a:sym typeface="+mn-ea"/>
                        </a:rPr>
                        <a:t>/</a:t>
                      </a:r>
                      <a:r>
                        <a:rPr lang="zh-CN" altLang="en-US" sz="1200">
                          <a:solidFill>
                            <a:srgbClr val="000000"/>
                          </a:solidFill>
                          <a:latin typeface="微软雅黑" panose="020B0503020204020204" pitchFamily="34" charset="-122"/>
                          <a:ea typeface="微软雅黑" panose="020B0503020204020204" pitchFamily="34" charset="-122"/>
                          <a:sym typeface="+mn-ea"/>
                        </a:rPr>
                        <a:t>加载任务执行</a:t>
                      </a:r>
                      <a:r>
                        <a:rPr lang="zh-CN" altLang="en-US" sz="1200">
                          <a:solidFill>
                            <a:srgbClr val="000000"/>
                          </a:solidFill>
                          <a:latin typeface="微软雅黑" panose="020B0503020204020204" pitchFamily="34" charset="-122"/>
                          <a:ea typeface="微软雅黑" panose="020B0503020204020204" pitchFamily="34" charset="-122"/>
                          <a:sym typeface="+mn-ea"/>
                        </a:rPr>
                        <a:t>过程、</a:t>
                      </a:r>
                      <a:r>
                        <a:rPr lang="zh-CN" altLang="en-US" sz="1200">
                          <a:solidFill>
                            <a:srgbClr val="000000"/>
                          </a:solidFill>
                          <a:latin typeface="微软雅黑" panose="020B0503020204020204" pitchFamily="34" charset="-122"/>
                          <a:ea typeface="微软雅黑" panose="020B0503020204020204" pitchFamily="34" charset="-122"/>
                          <a:sym typeface="+mn-ea"/>
                        </a:rPr>
                        <a:t>以及异常处理的全过程信息</a:t>
                      </a:r>
                      <a:r>
                        <a:rPr lang="en-US" altLang="zh-CN" sz="1200">
                          <a:solidFill>
                            <a:srgbClr val="000000"/>
                          </a:solidFill>
                          <a:latin typeface="微软雅黑" panose="020B0503020204020204" pitchFamily="34" charset="-122"/>
                          <a:ea typeface="微软雅黑" panose="020B0503020204020204" pitchFamily="34" charset="-122"/>
                          <a:sym typeface="+mn-ea"/>
                        </a:rPr>
                        <a:t>	</a:t>
                      </a:r>
                      <a:endParaRPr lang="en-US" altLang="zh-CN" sz="1200">
                        <a:solidFill>
                          <a:srgbClr val="000000"/>
                        </a:solidFill>
                        <a:latin typeface="微软雅黑" panose="020B0503020204020204" pitchFamily="34" charset="-122"/>
                        <a:ea typeface="微软雅黑" panose="020B0503020204020204" pitchFamily="34" charset="-122"/>
                        <a:sym typeface="+mn-ea"/>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c>
                  <a:txBody>
                    <a:bodyPr wrap="square"/>
                    <a:p>
                      <a:pPr marL="0" lvl="0" indent="0" algn="ctr">
                        <a:buNone/>
                      </a:pPr>
                      <a:r>
                        <a:rPr lang="zh-CN" altLang="en-US" sz="1200">
                          <a:solidFill>
                            <a:srgbClr val="000000"/>
                          </a:solidFill>
                          <a:latin typeface="微软雅黑" panose="020B0503020204020204" pitchFamily="34" charset="-122"/>
                          <a:ea typeface="微软雅黑" panose="020B0503020204020204" pitchFamily="34" charset="-122"/>
                          <a:sym typeface="+mn-ea"/>
                        </a:rPr>
                        <a:t>新增</a:t>
                      </a:r>
                      <a:r>
                        <a:rPr lang="zh-CN" altLang="en-US" sz="1200">
                          <a:solidFill>
                            <a:srgbClr val="000000"/>
                          </a:solidFill>
                          <a:latin typeface="微软雅黑" panose="020B0503020204020204" pitchFamily="34" charset="-122"/>
                          <a:ea typeface="微软雅黑" panose="020B0503020204020204" pitchFamily="34" charset="-122"/>
                        </a:rPr>
                        <a:t>实体</a:t>
                      </a:r>
                      <a:endParaRPr lang="zh-CN" altLang="en-US" sz="1200">
                        <a:solidFill>
                          <a:srgbClr val="000000"/>
                        </a:solidFill>
                        <a:latin typeface="微软雅黑" panose="020B0503020204020204" pitchFamily="34" charset="-122"/>
                        <a:ea typeface="微软雅黑" panose="020B0503020204020204" pitchFamily="34" charset="-122"/>
                      </a:endParaRPr>
                    </a:p>
                  </a:txBody>
                  <a:tcPr vert="horz"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D0D8E8">
                        <a:alpha val="100000"/>
                      </a:srgbClr>
                    </a:solidFill>
                  </a:tcPr>
                </a:tc>
              </a:tr>
            </a:tbl>
          </a:graphicData>
        </a:graphic>
      </p:graphicFrame>
      <p:sp>
        <p:nvSpPr>
          <p:cNvPr id="19" name="矩形 64600"/>
          <p:cNvSpPr/>
          <p:nvPr>
            <p:custDataLst>
              <p:tags r:id="rId5"/>
            </p:custDataLst>
          </p:nvPr>
        </p:nvSpPr>
        <p:spPr>
          <a:xfrm>
            <a:off x="6261735" y="3256280"/>
            <a:ext cx="3284855" cy="2272665"/>
          </a:xfrm>
          <a:prstGeom prst="rect">
            <a:avLst/>
          </a:prstGeom>
          <a:noFill/>
          <a:ln w="28575" cap="flat" cmpd="sng">
            <a:solidFill>
              <a:srgbClr val="339966"/>
            </a:solidFill>
            <a:prstDash val="dash"/>
            <a:bevel/>
            <a:headEnd type="none" w="med" len="med"/>
            <a:tailEnd type="none" w="med" len="med"/>
          </a:ln>
        </p:spPr>
        <p:txBody>
          <a:bodyPr anchor="t"/>
          <a:p>
            <a:endParaRPr lang="zh-CN" altLang="en-US">
              <a:latin typeface="微软雅黑" panose="020B0503020204020204" pitchFamily="34" charset="-122"/>
              <a:ea typeface="微软雅黑" panose="020B0503020204020204" pitchFamily="34" charset="-122"/>
            </a:endParaRPr>
          </a:p>
        </p:txBody>
      </p:sp>
      <p:sp>
        <p:nvSpPr>
          <p:cNvPr id="20" name="文本框 64601"/>
          <p:cNvSpPr txBox="1"/>
          <p:nvPr>
            <p:custDataLst>
              <p:tags r:id="rId6"/>
            </p:custDataLst>
          </p:nvPr>
        </p:nvSpPr>
        <p:spPr>
          <a:xfrm>
            <a:off x="6762730" y="3266057"/>
            <a:ext cx="2299921" cy="245110"/>
          </a:xfrm>
          <a:prstGeom prst="rect">
            <a:avLst/>
          </a:prstGeom>
          <a:noFill/>
          <a:ln w="9525">
            <a:noFill/>
          </a:ln>
        </p:spPr>
        <p:txBody>
          <a:bodyPr wrap="square" anchor="t">
            <a:spAutoFit/>
          </a:bodyPr>
          <a:p>
            <a:pPr marL="0" lvl="0" indent="0" algn="ctr">
              <a:buNone/>
            </a:pPr>
            <a:r>
              <a:rPr lang="zh-CN" altLang="en-US" sz="1000">
                <a:solidFill>
                  <a:srgbClr val="000000"/>
                </a:solidFill>
                <a:latin typeface="微软雅黑" panose="020B0503020204020204" pitchFamily="34" charset="-122"/>
                <a:ea typeface="微软雅黑" panose="020B0503020204020204" pitchFamily="34" charset="-122"/>
                <a:sym typeface="+mn-ea"/>
              </a:rPr>
              <a:t>记录信息</a:t>
            </a:r>
            <a:endParaRPr lang="zh-CN" altLang="en-US" sz="1000" b="1" dirty="0">
              <a:latin typeface="微软雅黑" panose="020B0503020204020204" pitchFamily="34" charset="-122"/>
              <a:ea typeface="微软雅黑" panose="020B0503020204020204" pitchFamily="34" charset="-122"/>
            </a:endParaRPr>
          </a:p>
        </p:txBody>
      </p:sp>
      <p:sp>
        <p:nvSpPr>
          <p:cNvPr id="21" name="流程图: 过程 64602"/>
          <p:cNvSpPr/>
          <p:nvPr>
            <p:custDataLst>
              <p:tags r:id="rId7"/>
            </p:custDataLst>
          </p:nvPr>
        </p:nvSpPr>
        <p:spPr>
          <a:xfrm>
            <a:off x="6762750" y="3590290"/>
            <a:ext cx="948055" cy="39687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作业执行表</a:t>
            </a:r>
            <a:endParaRPr lang="zh-CN" altLang="en-US" sz="1000" dirty="0">
              <a:latin typeface="微软雅黑" panose="020B0503020204020204" pitchFamily="34" charset="-122"/>
              <a:ea typeface="微软雅黑" panose="020B0503020204020204" pitchFamily="34" charset="-122"/>
            </a:endParaRPr>
          </a:p>
        </p:txBody>
      </p:sp>
      <p:sp>
        <p:nvSpPr>
          <p:cNvPr id="23" name="流程图: 过程 64603"/>
          <p:cNvSpPr/>
          <p:nvPr>
            <p:custDataLst>
              <p:tags r:id="rId8"/>
            </p:custDataLst>
          </p:nvPr>
        </p:nvSpPr>
        <p:spPr>
          <a:xfrm>
            <a:off x="6762750" y="4034155"/>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sym typeface="+mn-ea"/>
              </a:rPr>
              <a:t>任务实例</a:t>
            </a:r>
            <a:r>
              <a:rPr lang="en-US" altLang="zh-CN" sz="1000" dirty="0">
                <a:latin typeface="微软雅黑" panose="020B0503020204020204" pitchFamily="34" charset="-122"/>
                <a:ea typeface="微软雅黑" panose="020B0503020204020204" pitchFamily="34" charset="-122"/>
                <a:sym typeface="+mn-ea"/>
              </a:rPr>
              <a:t>ID</a:t>
            </a:r>
            <a:endParaRPr lang="en-US" altLang="zh-CN" sz="1000" dirty="0">
              <a:latin typeface="微软雅黑" panose="020B0503020204020204" pitchFamily="34" charset="-122"/>
              <a:ea typeface="微软雅黑" panose="020B0503020204020204" pitchFamily="34" charset="-122"/>
              <a:sym typeface="+mn-ea"/>
            </a:endParaRPr>
          </a:p>
          <a:p>
            <a:pPr algn="ctr"/>
            <a:r>
              <a:rPr lang="zh-CN" altLang="en-US" sz="1000" dirty="0">
                <a:latin typeface="微软雅黑" panose="020B0503020204020204" pitchFamily="34" charset="-122"/>
                <a:ea typeface="微软雅黑" panose="020B0503020204020204" pitchFamily="34" charset="-122"/>
              </a:rPr>
              <a:t>作业</a:t>
            </a:r>
            <a:r>
              <a:rPr lang="zh-CN" altLang="en-US" sz="1000" dirty="0">
                <a:latin typeface="微软雅黑" panose="020B0503020204020204" pitchFamily="34" charset="-122"/>
                <a:ea typeface="微软雅黑" panose="020B0503020204020204" pitchFamily="34" charset="-122"/>
              </a:rPr>
              <a:t>编码</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批次号</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任务配置</a:t>
            </a:r>
            <a:r>
              <a:rPr lang="zh-CN" altLang="en-US" sz="1000" dirty="0">
                <a:latin typeface="微软雅黑" panose="020B0503020204020204" pitchFamily="34" charset="-122"/>
                <a:ea typeface="微软雅黑" panose="020B0503020204020204" pitchFamily="34" charset="-122"/>
              </a:rPr>
              <a:t>快照</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
        <p:nvSpPr>
          <p:cNvPr id="24" name="流程图: 过程 64602"/>
          <p:cNvSpPr/>
          <p:nvPr>
            <p:custDataLst>
              <p:tags r:id="rId9"/>
            </p:custDataLst>
          </p:nvPr>
        </p:nvSpPr>
        <p:spPr>
          <a:xfrm>
            <a:off x="8049895" y="3608705"/>
            <a:ext cx="948055" cy="385445"/>
          </a:xfrm>
          <a:prstGeom prst="flowChartProcess">
            <a:avLst/>
          </a:prstGeom>
          <a:solidFill>
            <a:schemeClr val="accent1"/>
          </a:solid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sym typeface="+mn-ea"/>
              </a:rPr>
              <a:t>脚本任务执行表</a:t>
            </a:r>
            <a:endParaRPr lang="zh-CN" altLang="en-US" sz="1000" dirty="0">
              <a:latin typeface="微软雅黑" panose="020B0503020204020204" pitchFamily="34" charset="-122"/>
              <a:ea typeface="微软雅黑" panose="020B0503020204020204" pitchFamily="34" charset="-122"/>
            </a:endParaRPr>
          </a:p>
        </p:txBody>
      </p:sp>
      <p:sp>
        <p:nvSpPr>
          <p:cNvPr id="25" name="流程图: 过程 64603"/>
          <p:cNvSpPr/>
          <p:nvPr>
            <p:custDataLst>
              <p:tags r:id="rId10"/>
            </p:custDataLst>
          </p:nvPr>
        </p:nvSpPr>
        <p:spPr>
          <a:xfrm>
            <a:off x="8049895" y="4041140"/>
            <a:ext cx="948055" cy="1257300"/>
          </a:xfrm>
          <a:prstGeom prst="flowChartProcess">
            <a:avLst/>
          </a:prstGeom>
          <a:noFill/>
          <a:ln w="9525" cap="flat" cmpd="sng">
            <a:solidFill>
              <a:schemeClr val="tx1"/>
            </a:solidFill>
            <a:prstDash val="solid"/>
            <a:bevel/>
            <a:headEnd type="none" w="med" len="med"/>
            <a:tailEnd type="none" w="med" len="med"/>
          </a:ln>
        </p:spPr>
        <p:txBody>
          <a:bodyPr wrap="none" anchor="ctr"/>
          <a:p>
            <a:pPr algn="ctr"/>
            <a:r>
              <a:rPr lang="zh-CN" altLang="en-US" sz="1000" dirty="0">
                <a:latin typeface="微软雅黑" panose="020B0503020204020204" pitchFamily="34" charset="-122"/>
                <a:ea typeface="微软雅黑" panose="020B0503020204020204" pitchFamily="34" charset="-122"/>
              </a:rPr>
              <a:t>主键</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类型</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脚本</a:t>
            </a:r>
            <a:r>
              <a:rPr lang="zh-CN" altLang="en-US" sz="1000" dirty="0">
                <a:latin typeface="微软雅黑" panose="020B0503020204020204" pitchFamily="34" charset="-122"/>
                <a:ea typeface="微软雅黑" panose="020B0503020204020204" pitchFamily="34" charset="-122"/>
              </a:rPr>
              <a:t>内容</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时间</a:t>
            </a:r>
            <a:endParaRPr lang="zh-CN" altLang="en-US" sz="1000" dirty="0">
              <a:latin typeface="微软雅黑" panose="020B0503020204020204" pitchFamily="34" charset="-122"/>
              <a:ea typeface="微软雅黑" panose="020B0503020204020204" pitchFamily="34" charset="-122"/>
            </a:endParaRPr>
          </a:p>
          <a:p>
            <a:pPr algn="ctr"/>
            <a:r>
              <a:rPr lang="zh-CN" altLang="en-US" sz="1000" dirty="0">
                <a:latin typeface="微软雅黑" panose="020B0503020204020204" pitchFamily="34" charset="-122"/>
                <a:ea typeface="微软雅黑" panose="020B0503020204020204" pitchFamily="34" charset="-122"/>
              </a:rPr>
              <a:t>状态</a:t>
            </a:r>
            <a:br>
              <a:rPr lang="zh-CN" altLang="en-US" sz="1000" dirty="0">
                <a:latin typeface="微软雅黑" panose="020B0503020204020204" pitchFamily="34" charset="-122"/>
                <a:ea typeface="微软雅黑" panose="020B0503020204020204" pitchFamily="34" charset="-122"/>
              </a:rPr>
            </a:br>
            <a:r>
              <a:rPr lang="en-US" altLang="zh-CN" sz="1000" dirty="0">
                <a:latin typeface="微软雅黑" panose="020B0503020204020204" pitchFamily="34" charset="-122"/>
                <a:ea typeface="微软雅黑" panose="020B0503020204020204" pitchFamily="34" charset="-122"/>
                <a:sym typeface="+mn-ea"/>
              </a:rPr>
              <a:t>.....</a:t>
            </a:r>
            <a:endParaRPr lang="en-US" altLang="zh-CN" sz="1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90204" pitchFamily="34" charset="0"/>
                <a:sym typeface="宋体" panose="02010600030101010101" pitchFamily="2" charset="-122"/>
              </a:rPr>
              <a:t>2.2</a:t>
            </a:r>
            <a:r>
              <a:rPr>
                <a:latin typeface="Arial" panose="020B0604020202090204" pitchFamily="34" charset="0"/>
                <a:sym typeface="宋体" panose="02010600030101010101" pitchFamily="2" charset="-122"/>
              </a:rPr>
              <a:t>数据架构</a:t>
            </a:r>
            <a:r>
              <a:rPr lang="en-US" altLang="zh-CN">
                <a:latin typeface="Arial" panose="020B0604020202090204" pitchFamily="34" charset="0"/>
                <a:sym typeface="宋体" panose="02010600030101010101" pitchFamily="2" charset="-122"/>
              </a:rPr>
              <a:t>-</a:t>
            </a:r>
            <a:r>
              <a:rPr>
                <a:latin typeface="Arial" panose="020B0604020202090204" pitchFamily="34" charset="0"/>
                <a:sym typeface="宋体" panose="02010600030101010101" pitchFamily="2" charset="-122"/>
              </a:rPr>
              <a:t>数据流向</a:t>
            </a:r>
            <a:endParaRPr>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cxnSp>
        <p:nvCxnSpPr>
          <p:cNvPr id="16" name="直接连接符 15"/>
          <p:cNvCxnSpPr/>
          <p:nvPr>
            <p:custDataLst>
              <p:tags r:id="rId1"/>
            </p:custDataLst>
          </p:nvPr>
        </p:nvCxnSpPr>
        <p:spPr>
          <a:xfrm>
            <a:off x="7161530" y="1219835"/>
            <a:ext cx="1270" cy="4937760"/>
          </a:xfrm>
          <a:prstGeom prst="line">
            <a:avLst/>
          </a:prstGeom>
          <a:ln w="19050" cmpd="sng">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custDataLst>
              <p:tags r:id="rId2"/>
            </p:custDataLst>
          </p:nvPr>
        </p:nvCxnSpPr>
        <p:spPr>
          <a:xfrm>
            <a:off x="9992995" y="1249045"/>
            <a:ext cx="12700" cy="4920615"/>
          </a:xfrm>
          <a:prstGeom prst="line">
            <a:avLst/>
          </a:prstGeom>
          <a:ln w="19050" cmpd="sng">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custDataLst>
              <p:tags r:id="rId3"/>
            </p:custDataLst>
          </p:nvPr>
        </p:nvCxnSpPr>
        <p:spPr>
          <a:xfrm>
            <a:off x="3617595" y="1249045"/>
            <a:ext cx="0" cy="4769485"/>
          </a:xfrm>
          <a:prstGeom prst="line">
            <a:avLst/>
          </a:prstGeom>
          <a:ln w="19050" cmpd="sng">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 name="object 154"/>
          <p:cNvSpPr txBox="1"/>
          <p:nvPr>
            <p:custDataLst>
              <p:tags r:id="rId4"/>
            </p:custDataLst>
          </p:nvPr>
        </p:nvSpPr>
        <p:spPr>
          <a:xfrm>
            <a:off x="4742180" y="2553335"/>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6" name="矩形 5"/>
          <p:cNvSpPr/>
          <p:nvPr>
            <p:custDataLst>
              <p:tags r:id="rId5"/>
            </p:custDataLst>
          </p:nvPr>
        </p:nvSpPr>
        <p:spPr>
          <a:xfrm>
            <a:off x="4742180" y="2479675"/>
            <a:ext cx="1953260"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7" name="object 16"/>
          <p:cNvSpPr/>
          <p:nvPr>
            <p:custDataLst>
              <p:tags r:id="rId6"/>
            </p:custDataLst>
          </p:nvPr>
        </p:nvSpPr>
        <p:spPr>
          <a:xfrm>
            <a:off x="5223510" y="2602865"/>
            <a:ext cx="389890" cy="408305"/>
          </a:xfrm>
          <a:prstGeom prst="rect">
            <a:avLst/>
          </a:prstGeom>
          <a:blipFill>
            <a:blip r:embed="rId7"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8" name="object 285"/>
          <p:cNvSpPr txBox="1"/>
          <p:nvPr>
            <p:custDataLst>
              <p:tags r:id="rId8"/>
            </p:custDataLst>
          </p:nvPr>
        </p:nvSpPr>
        <p:spPr>
          <a:xfrm>
            <a:off x="5587365" y="2731135"/>
            <a:ext cx="1108710" cy="165735"/>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数据加载卸载</a:t>
            </a: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25" name="矩形 24"/>
          <p:cNvSpPr/>
          <p:nvPr>
            <p:custDataLst>
              <p:tags r:id="rId9"/>
            </p:custDataLst>
          </p:nvPr>
        </p:nvSpPr>
        <p:spPr>
          <a:xfrm>
            <a:off x="4944110" y="3463290"/>
            <a:ext cx="990600" cy="94869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27" name="object 154"/>
          <p:cNvSpPr txBox="1"/>
          <p:nvPr>
            <p:custDataLst>
              <p:tags r:id="rId10"/>
            </p:custDataLst>
          </p:nvPr>
        </p:nvSpPr>
        <p:spPr>
          <a:xfrm>
            <a:off x="5187315" y="3517265"/>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26" name="object 154"/>
          <p:cNvSpPr txBox="1"/>
          <p:nvPr>
            <p:custDataLst>
              <p:tags r:id="rId11"/>
            </p:custDataLst>
          </p:nvPr>
        </p:nvSpPr>
        <p:spPr>
          <a:xfrm>
            <a:off x="7766050" y="2568575"/>
            <a:ext cx="491490" cy="196215"/>
          </a:xfrm>
          <a:prstGeom prst="rect">
            <a:avLst/>
          </a:prstGeom>
        </p:spPr>
        <p:txBody>
          <a:bodyPr vert="horz" wrap="square" lIns="0" tIns="12065" rIns="0" bIns="0" rtlCol="0">
            <a:noAutofit/>
          </a:bodyPr>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应用</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28" name="矩形 27"/>
          <p:cNvSpPr/>
          <p:nvPr>
            <p:custDataLst>
              <p:tags r:id="rId12"/>
            </p:custDataLst>
          </p:nvPr>
        </p:nvSpPr>
        <p:spPr>
          <a:xfrm>
            <a:off x="7766050" y="2494915"/>
            <a:ext cx="2066925" cy="59817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latin typeface="微软雅黑" panose="020B0503020204020204" pitchFamily="34" charset="-122"/>
              <a:ea typeface="微软雅黑" panose="020B0503020204020204" pitchFamily="34" charset="-122"/>
            </a:endParaRPr>
          </a:p>
        </p:txBody>
      </p:sp>
      <p:sp>
        <p:nvSpPr>
          <p:cNvPr id="29" name="object 16"/>
          <p:cNvSpPr/>
          <p:nvPr>
            <p:custDataLst>
              <p:tags r:id="rId13"/>
            </p:custDataLst>
          </p:nvPr>
        </p:nvSpPr>
        <p:spPr>
          <a:xfrm>
            <a:off x="8247380" y="2618105"/>
            <a:ext cx="389890" cy="408305"/>
          </a:xfrm>
          <a:prstGeom prst="rect">
            <a:avLst/>
          </a:prstGeom>
          <a:blipFill>
            <a:blip r:embed="rId7" cstate="print"/>
            <a:stretch>
              <a:fillRect/>
            </a:stretch>
          </a:blipFill>
        </p:spPr>
        <p:txBody>
          <a:bodyPr wrap="square" lIns="0" tIns="0" rIns="0" bIns="0" rtlCol="0"/>
          <a:p>
            <a:endParaRPr sz="1000">
              <a:latin typeface="微软雅黑" panose="020B0503020204020204" pitchFamily="34" charset="-122"/>
              <a:ea typeface="微软雅黑" panose="020B0503020204020204" pitchFamily="34" charset="-122"/>
            </a:endParaRPr>
          </a:p>
        </p:txBody>
      </p:sp>
      <p:sp>
        <p:nvSpPr>
          <p:cNvPr id="30" name="object 285"/>
          <p:cNvSpPr txBox="1"/>
          <p:nvPr>
            <p:custDataLst>
              <p:tags r:id="rId14"/>
            </p:custDataLst>
          </p:nvPr>
        </p:nvSpPr>
        <p:spPr>
          <a:xfrm>
            <a:off x="8611235" y="2746375"/>
            <a:ext cx="1108710" cy="331470"/>
          </a:xfrm>
          <a:prstGeom prst="rect">
            <a:avLst/>
          </a:prstGeom>
        </p:spPr>
        <p:txBody>
          <a:bodyPr vert="horz" wrap="square" lIns="0" tIns="12065" rIns="0" bIns="0" rtlCol="0">
            <a:spAutoFit/>
          </a:bodyPr>
          <a:p>
            <a:pPr algn="ctr">
              <a:lnSpc>
                <a:spcPct val="100000"/>
              </a:lnSpc>
              <a:spcBef>
                <a:spcPts val="95"/>
              </a:spcBef>
            </a:pPr>
            <a:r>
              <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数据加载卸载工具</a:t>
            </a: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a:p>
            <a:pPr algn="ctr">
              <a:lnSpc>
                <a:spcPct val="100000"/>
              </a:lnSpc>
              <a:spcBef>
                <a:spcPts val="95"/>
              </a:spcBef>
            </a:pPr>
            <a:endParaRPr 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85" name="矩形 84"/>
          <p:cNvSpPr/>
          <p:nvPr>
            <p:custDataLst>
              <p:tags r:id="rId15"/>
            </p:custDataLst>
          </p:nvPr>
        </p:nvSpPr>
        <p:spPr>
          <a:xfrm>
            <a:off x="8070850" y="3415665"/>
            <a:ext cx="842645" cy="774065"/>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86" name="object 154"/>
          <p:cNvSpPr txBox="1"/>
          <p:nvPr>
            <p:custDataLst>
              <p:tags r:id="rId16"/>
            </p:custDataLst>
          </p:nvPr>
        </p:nvSpPr>
        <p:spPr>
          <a:xfrm>
            <a:off x="8312150" y="3415665"/>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89" name="文本框 88"/>
          <p:cNvSpPr txBox="1"/>
          <p:nvPr/>
        </p:nvSpPr>
        <p:spPr>
          <a:xfrm>
            <a:off x="4886325" y="923290"/>
            <a:ext cx="10090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来源</a:t>
            </a:r>
            <a:r>
              <a:rPr lang="zh-CN" altLang="en-US" sz="1200" dirty="0">
                <a:solidFill>
                  <a:schemeClr val="bg1"/>
                </a:solidFill>
                <a:latin typeface="微软雅黑" panose="020B0503020204020204" pitchFamily="34" charset="-122"/>
                <a:ea typeface="微软雅黑" panose="020B0503020204020204" pitchFamily="34" charset="-122"/>
                <a:sym typeface="+mn-ea"/>
              </a:rPr>
              <a:t>端</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sp>
        <p:nvSpPr>
          <p:cNvPr id="90" name="文本框 89"/>
          <p:cNvSpPr txBox="1"/>
          <p:nvPr/>
        </p:nvSpPr>
        <p:spPr>
          <a:xfrm>
            <a:off x="7766050" y="932815"/>
            <a:ext cx="1694815" cy="275590"/>
          </a:xfrm>
          <a:prstGeom prst="rect">
            <a:avLst/>
          </a:prstGeom>
          <a:solidFill>
            <a:srgbClr val="5B6AA9"/>
          </a:solidFill>
        </p:spPr>
        <p:txBody>
          <a:bodyPr wrap="square" rtlCol="0" anchor="t">
            <a:spAutoFit/>
          </a:bodyPr>
          <a:p>
            <a:pPr algn="ctr" eaLnBrk="0" hangingPunct="0"/>
            <a:r>
              <a:rPr lang="zh-CN" altLang="en-US" sz="1200" dirty="0">
                <a:solidFill>
                  <a:schemeClr val="bg1"/>
                </a:solidFill>
                <a:latin typeface="微软雅黑" panose="020B0503020204020204" pitchFamily="34" charset="-122"/>
                <a:ea typeface="微软雅黑" panose="020B0503020204020204" pitchFamily="34" charset="-122"/>
                <a:sym typeface="+mn-ea"/>
              </a:rPr>
              <a:t>目标</a:t>
            </a:r>
            <a:r>
              <a:rPr lang="zh-CN" altLang="en-US" sz="1200" dirty="0">
                <a:solidFill>
                  <a:schemeClr val="bg1"/>
                </a:solidFill>
                <a:latin typeface="微软雅黑" panose="020B0503020204020204" pitchFamily="34" charset="-122"/>
                <a:ea typeface="微软雅黑" panose="020B0503020204020204" pitchFamily="34" charset="-122"/>
                <a:sym typeface="+mn-ea"/>
              </a:rPr>
              <a:t>端</a:t>
            </a:r>
            <a:endParaRPr lang="zh-CN" altLang="en-US" sz="1200" dirty="0">
              <a:solidFill>
                <a:schemeClr val="bg1"/>
              </a:solidFill>
              <a:latin typeface="微软雅黑" panose="020B0503020204020204" pitchFamily="34" charset="-122"/>
              <a:ea typeface="微软雅黑" panose="020B0503020204020204" pitchFamily="34" charset="-122"/>
              <a:sym typeface="+mn-ea"/>
            </a:endParaRPr>
          </a:p>
        </p:txBody>
      </p:sp>
      <p:pic>
        <p:nvPicPr>
          <p:cNvPr id="13" name="图片 12"/>
          <p:cNvPicPr>
            <a:picLocks noChangeAspect="1"/>
          </p:cNvPicPr>
          <p:nvPr>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8311853" y="3614420"/>
            <a:ext cx="360244" cy="360045"/>
          </a:xfrm>
          <a:prstGeom prst="rect">
            <a:avLst/>
          </a:prstGeom>
        </p:spPr>
      </p:pic>
      <p:sp>
        <p:nvSpPr>
          <p:cNvPr id="40" name="object 285"/>
          <p:cNvSpPr txBox="1"/>
          <p:nvPr>
            <p:custDataLst>
              <p:tags r:id="rId19"/>
            </p:custDataLst>
          </p:nvPr>
        </p:nvSpPr>
        <p:spPr>
          <a:xfrm>
            <a:off x="8222921" y="3970020"/>
            <a:ext cx="534966" cy="175260"/>
          </a:xfrm>
          <a:prstGeom prst="rect">
            <a:avLst/>
          </a:prstGeom>
        </p:spPr>
        <p:txBody>
          <a:bodyPr vert="horz" wrap="square" lIns="0" tIns="12065" rIns="0" bIns="0" rtlCol="0">
            <a:spAutoFit/>
          </a:bodyPr>
          <a:p>
            <a:pPr algn="ctr">
              <a:lnSpc>
                <a:spcPct val="100000"/>
              </a:lnSpc>
              <a:spcBef>
                <a:spcPts val="95"/>
              </a:spcBef>
            </a:pPr>
            <a:r>
              <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Nfs</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pic>
        <p:nvPicPr>
          <p:cNvPr id="42" name="图片 41"/>
          <p:cNvPicPr>
            <a:picLocks noChangeAspect="1"/>
          </p:cNvPicPr>
          <p:nvPr>
            <p:custDataLst>
              <p:tags r:id="rId20"/>
            </p:custDataLst>
          </p:nvPr>
        </p:nvPicPr>
        <p:blipFill>
          <a:blip r:embed="rId18" cstate="print">
            <a:extLst>
              <a:ext uri="{28A0092B-C50C-407E-A947-70E740481C1C}">
                <a14:useLocalDpi xmlns:a14="http://schemas.microsoft.com/office/drawing/2010/main" val="0"/>
              </a:ext>
            </a:extLst>
          </a:blip>
          <a:stretch>
            <a:fillRect/>
          </a:stretch>
        </p:blipFill>
        <p:spPr>
          <a:xfrm>
            <a:off x="5232738" y="3716655"/>
            <a:ext cx="360244" cy="360045"/>
          </a:xfrm>
          <a:prstGeom prst="rect">
            <a:avLst/>
          </a:prstGeom>
        </p:spPr>
      </p:pic>
      <p:sp>
        <p:nvSpPr>
          <p:cNvPr id="43" name="object 285"/>
          <p:cNvSpPr txBox="1"/>
          <p:nvPr>
            <p:custDataLst>
              <p:tags r:id="rId21"/>
            </p:custDataLst>
          </p:nvPr>
        </p:nvSpPr>
        <p:spPr>
          <a:xfrm>
            <a:off x="5189526" y="4137025"/>
            <a:ext cx="534966" cy="175260"/>
          </a:xfrm>
          <a:prstGeom prst="rect">
            <a:avLst/>
          </a:prstGeom>
        </p:spPr>
        <p:txBody>
          <a:bodyPr vert="horz" wrap="square" lIns="0" tIns="12065" rIns="0" bIns="0" rtlCol="0">
            <a:spAutoFit/>
          </a:bodyPr>
          <a:p>
            <a:pPr algn="ctr">
              <a:lnSpc>
                <a:spcPct val="100000"/>
              </a:lnSpc>
              <a:spcBef>
                <a:spcPts val="95"/>
              </a:spcBef>
            </a:pPr>
            <a:r>
              <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rPr>
              <a:t>Nas</a:t>
            </a:r>
            <a:endParaRPr lang="en-US" altLang="zh-CN"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sym typeface="+mn-ea"/>
            </a:endParaRPr>
          </a:p>
        </p:txBody>
      </p:sp>
      <p:sp>
        <p:nvSpPr>
          <p:cNvPr id="46" name="矩形 45"/>
          <p:cNvSpPr/>
          <p:nvPr>
            <p:custDataLst>
              <p:tags r:id="rId22"/>
            </p:custDataLst>
          </p:nvPr>
        </p:nvSpPr>
        <p:spPr>
          <a:xfrm>
            <a:off x="4725670" y="1616075"/>
            <a:ext cx="1452245" cy="6032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52" name="object 154"/>
          <p:cNvSpPr txBox="1"/>
          <p:nvPr>
            <p:custDataLst>
              <p:tags r:id="rId23"/>
            </p:custDataLst>
          </p:nvPr>
        </p:nvSpPr>
        <p:spPr>
          <a:xfrm>
            <a:off x="5068570" y="1616710"/>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53" name="图片 52"/>
          <p:cNvPicPr>
            <a:picLocks noChangeAspect="1"/>
          </p:cNvPicPr>
          <p:nvPr>
            <p:custDataLst>
              <p:tags r:id="rId24"/>
            </p:custDataLst>
          </p:nvPr>
        </p:nvPicPr>
        <p:blipFill>
          <a:blip r:embed="rId25"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672455" y="1784350"/>
            <a:ext cx="350520" cy="350520"/>
          </a:xfrm>
          <a:prstGeom prst="rect">
            <a:avLst/>
          </a:prstGeom>
          <a:solidFill>
            <a:srgbClr val="1262AB"/>
          </a:solidFill>
        </p:spPr>
      </p:pic>
      <p:sp>
        <p:nvSpPr>
          <p:cNvPr id="66" name="文本框 30"/>
          <p:cNvSpPr txBox="1"/>
          <p:nvPr>
            <p:custDataLst>
              <p:tags r:id="rId26"/>
            </p:custDataLst>
          </p:nvPr>
        </p:nvSpPr>
        <p:spPr>
          <a:xfrm>
            <a:off x="4891405" y="1791970"/>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sp>
        <p:nvSpPr>
          <p:cNvPr id="82" name="矩形 81"/>
          <p:cNvSpPr/>
          <p:nvPr>
            <p:custDataLst>
              <p:tags r:id="rId27"/>
            </p:custDataLst>
          </p:nvPr>
        </p:nvSpPr>
        <p:spPr>
          <a:xfrm>
            <a:off x="7766050" y="1690370"/>
            <a:ext cx="1452245" cy="603250"/>
          </a:xfrm>
          <a:prstGeom prst="rect">
            <a:avLst/>
          </a:prstGeom>
          <a:noFill/>
          <a:ln w="12700" cmpd="sng">
            <a:solidFill>
              <a:srgbClr val="0086D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panose="020B0503020204020204" pitchFamily="34" charset="-122"/>
              <a:ea typeface="微软雅黑" panose="020B0503020204020204" pitchFamily="34" charset="-122"/>
            </a:endParaRPr>
          </a:p>
        </p:txBody>
      </p:sp>
      <p:sp>
        <p:nvSpPr>
          <p:cNvPr id="83" name="object 154"/>
          <p:cNvSpPr txBox="1"/>
          <p:nvPr>
            <p:custDataLst>
              <p:tags r:id="rId28"/>
            </p:custDataLst>
          </p:nvPr>
        </p:nvSpPr>
        <p:spPr>
          <a:xfrm>
            <a:off x="8108950" y="1691005"/>
            <a:ext cx="648335" cy="175260"/>
          </a:xfrm>
          <a:prstGeom prst="rect">
            <a:avLst/>
          </a:prstGeom>
        </p:spPr>
        <p:txBody>
          <a:bodyPr vert="horz" wrap="square" lIns="0" tIns="12065" rIns="0" bIns="0" rtlCol="0">
            <a:spAutoFit/>
          </a:bodyPr>
          <a:lstStyle/>
          <a:p>
            <a:pPr marL="12700">
              <a:lnSpc>
                <a:spcPct val="100000"/>
              </a:lnSpc>
              <a:spcBef>
                <a:spcPts val="95"/>
              </a:spcBef>
            </a:pPr>
            <a:r>
              <a:rPr lang="zh-CN" altLang="en-US" sz="1000" b="1" spc="-5" dirty="0">
                <a:latin typeface="微软雅黑" panose="020B0503020204020204" pitchFamily="34" charset="-122"/>
                <a:ea typeface="微软雅黑" panose="020B0503020204020204" pitchFamily="34" charset="-122"/>
                <a:cs typeface="仿宋" panose="02010609060101010101" pitchFamily="1" charset="-122"/>
              </a:rPr>
              <a:t>数据</a:t>
            </a:r>
            <a:r>
              <a:rPr sz="1000" b="1" spc="-10" dirty="0">
                <a:latin typeface="微软雅黑" panose="020B0503020204020204" pitchFamily="34" charset="-122"/>
                <a:ea typeface="微软雅黑" panose="020B0503020204020204" pitchFamily="34" charset="-122"/>
                <a:cs typeface="仿宋" panose="02010609060101010101" pitchFamily="1" charset="-122"/>
              </a:rPr>
              <a:t>区</a:t>
            </a:r>
            <a:endParaRPr sz="1000" b="1" dirty="0">
              <a:solidFill>
                <a:srgbClr val="FF0000"/>
              </a:solidFill>
              <a:latin typeface="微软雅黑" panose="020B0503020204020204" pitchFamily="34" charset="-122"/>
              <a:ea typeface="微软雅黑" panose="020B0503020204020204" pitchFamily="34" charset="-122"/>
              <a:cs typeface="仿宋" panose="02010609060101010101" pitchFamily="1" charset="-122"/>
            </a:endParaRPr>
          </a:p>
        </p:txBody>
      </p:sp>
      <p:pic>
        <p:nvPicPr>
          <p:cNvPr id="84" name="图片 83"/>
          <p:cNvPicPr>
            <a:picLocks noChangeAspect="1"/>
          </p:cNvPicPr>
          <p:nvPr>
            <p:custDataLst>
              <p:tags r:id="rId29"/>
            </p:custDataLst>
          </p:nvPr>
        </p:nvPicPr>
        <p:blipFill>
          <a:blip r:embed="rId25"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8712835" y="1858645"/>
            <a:ext cx="350520" cy="350520"/>
          </a:xfrm>
          <a:prstGeom prst="rect">
            <a:avLst/>
          </a:prstGeom>
          <a:solidFill>
            <a:srgbClr val="1262AB"/>
          </a:solidFill>
        </p:spPr>
      </p:pic>
      <p:sp>
        <p:nvSpPr>
          <p:cNvPr id="92" name="文本框 30"/>
          <p:cNvSpPr txBox="1"/>
          <p:nvPr>
            <p:custDataLst>
              <p:tags r:id="rId30"/>
            </p:custDataLst>
          </p:nvPr>
        </p:nvSpPr>
        <p:spPr>
          <a:xfrm>
            <a:off x="7931785" y="1866265"/>
            <a:ext cx="706120" cy="427990"/>
          </a:xfrm>
          <a:prstGeom prst="rect">
            <a:avLst/>
          </a:prstGeom>
          <a:noFill/>
        </p:spPr>
        <p:txBody>
          <a:bodyPr wrap="square" lIns="18000" tIns="60955" rIns="18000" bIns="60955"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fontAlgn="auto">
              <a:spcBef>
                <a:spcPts val="95"/>
              </a:spcBef>
              <a:spcAft>
                <a:spcPts val="0"/>
              </a:spcAft>
              <a:buClrTx/>
              <a:buSzTx/>
              <a:buFontTx/>
              <a:buNone/>
              <a:defRPr/>
            </a:pPr>
            <a:r>
              <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rPr>
              <a:t>人大金仓数据库</a:t>
            </a:r>
            <a:endParaRPr lang="zh-CN" altLang="en-US" sz="1000" b="1" dirty="0">
              <a:solidFill>
                <a:srgbClr val="006FC0"/>
              </a:solidFill>
              <a:latin typeface="微软雅黑" panose="020B0503020204020204" pitchFamily="34" charset="-122"/>
              <a:ea typeface="微软雅黑" panose="020B0503020204020204" pitchFamily="34" charset="-122"/>
              <a:cs typeface="仿宋" panose="02010609060101010101" pitchFamily="1" charset="-122"/>
            </a:endParaRPr>
          </a:p>
        </p:txBody>
      </p:sp>
      <p:cxnSp>
        <p:nvCxnSpPr>
          <p:cNvPr id="93" name="直接箭头连接符 92"/>
          <p:cNvCxnSpPr/>
          <p:nvPr/>
        </p:nvCxnSpPr>
        <p:spPr>
          <a:xfrm>
            <a:off x="6847205" y="2834005"/>
            <a:ext cx="6972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6764020" y="2494915"/>
            <a:ext cx="842010" cy="275590"/>
          </a:xfrm>
          <a:prstGeom prst="rect">
            <a:avLst/>
          </a:prstGeom>
          <a:noFill/>
        </p:spPr>
        <p:txBody>
          <a:bodyPr wrap="square" rtlCol="0">
            <a:spAutoFit/>
          </a:bodyPr>
          <a:p>
            <a:r>
              <a:rPr lang="zh-CN" altLang="en-US" sz="1200"/>
              <a:t>数据交换</a:t>
            </a:r>
            <a:endParaRPr lang="zh-CN" altLang="en-US" sz="1200"/>
          </a:p>
        </p:txBody>
      </p:sp>
      <p:cxnSp>
        <p:nvCxnSpPr>
          <p:cNvPr id="23" name="直接箭头连接符 22"/>
          <p:cNvCxnSpPr/>
          <p:nvPr/>
        </p:nvCxnSpPr>
        <p:spPr>
          <a:xfrm flipV="1">
            <a:off x="8389620" y="2263140"/>
            <a:ext cx="3810" cy="256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5417185" y="2195830"/>
            <a:ext cx="0" cy="325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V="1">
            <a:off x="5417185" y="3046730"/>
            <a:ext cx="0" cy="3352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8433435" y="3068320"/>
            <a:ext cx="0" cy="3346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Arial" panose="020B0604020202090204" pitchFamily="34" charset="0"/>
                <a:sym typeface="宋体" panose="02010600030101010101" pitchFamily="2" charset="-122"/>
              </a:rPr>
              <a:t> 2.2</a:t>
            </a:r>
            <a:r>
              <a:rPr>
                <a:latin typeface="Arial" panose="020B0604020202090204" pitchFamily="34" charset="0"/>
                <a:sym typeface="宋体" panose="02010600030101010101" pitchFamily="2" charset="-122"/>
              </a:rPr>
              <a:t>数据架构</a:t>
            </a:r>
            <a:r>
              <a:rPr lang="en-US" altLang="zh-CN">
                <a:latin typeface="Arial" panose="020B0604020202090204" pitchFamily="34" charset="0"/>
                <a:sym typeface="宋体" panose="02010600030101010101" pitchFamily="2" charset="-122"/>
              </a:rPr>
              <a:t>-</a:t>
            </a:r>
            <a:r>
              <a:rPr>
                <a:latin typeface="Arial" panose="020B0604020202090204" pitchFamily="34" charset="0"/>
                <a:sym typeface="宋体" panose="02010600030101010101" pitchFamily="2" charset="-122"/>
              </a:rPr>
              <a:t>数据流向</a:t>
            </a:r>
            <a:endParaRPr lang="zh-CN" altLang="en-US"/>
          </a:p>
        </p:txBody>
      </p:sp>
      <p:sp>
        <p:nvSpPr>
          <p:cNvPr id="3" name="文本占位符 2"/>
          <p:cNvSpPr>
            <a:spLocks noGrp="1"/>
          </p:cNvSpPr>
          <p:nvPr>
            <p:ph type="body" idx="1"/>
          </p:nvPr>
        </p:nvSpPr>
        <p:spPr>
          <a:xfrm>
            <a:off x="611505" y="1864995"/>
            <a:ext cx="10968990" cy="3314065"/>
          </a:xfrm>
        </p:spPr>
        <p:txBody>
          <a:bodyPr>
            <a:normAutofit/>
          </a:bodyPr>
          <a:p>
            <a:pPr marL="0" indent="0">
              <a:buNone/>
            </a:pPr>
            <a:r>
              <a:rPr lang="zh-CN" altLang="en-US"/>
              <a:t>工具的自身数据有管控中心操作产生的配置信息和调度中心调度时产生</a:t>
            </a:r>
            <a:r>
              <a:rPr lang="zh-CN" altLang="en-US"/>
              <a:t>的执行记录</a:t>
            </a:r>
            <a:r>
              <a:rPr lang="zh-CN" altLang="en-US"/>
              <a:t>日志。</a:t>
            </a:r>
            <a:endParaRPr lang="zh-CN" altLang="en-US"/>
          </a:p>
          <a:p>
            <a:pPr marL="0" indent="0">
              <a:buNone/>
            </a:pPr>
            <a:r>
              <a:rPr lang="zh-CN" altLang="en-US"/>
              <a:t>工具处理业务数据时，</a:t>
            </a:r>
            <a:r>
              <a:rPr lang="zh-CN" altLang="en-US"/>
              <a:t>数据流向以执行节点为核心枢纽。在卸载链路中，数据从业务数据库（</a:t>
            </a:r>
            <a:r>
              <a:rPr lang="en-US" altLang="zh-CN"/>
              <a:t>Kingbase</a:t>
            </a:r>
            <a:r>
              <a:rPr lang="zh-CN" altLang="en-US"/>
              <a:t>）或文件服务器流出，经由执行节点数据处理</a:t>
            </a:r>
            <a:r>
              <a:rPr lang="zh-CN" altLang="en-US"/>
              <a:t>后，最终汇聚为标准化的数据包存储至交换目录。交换成功进入加载链路后，执行节点从接收目录读取数据包，经过数据</a:t>
            </a:r>
            <a:r>
              <a:rPr lang="zh-CN" altLang="en-US"/>
              <a:t>处理与完整性校验后，将结构化数据还原至目标数据库，将非结构化文件分发至指定文件系统路径。</a:t>
            </a:r>
            <a:endParaRPr lang="zh-CN" altLang="en-US"/>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13</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3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0343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3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3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0344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4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0345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0345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3" name="Line 33"/>
          <p:cNvSpPr/>
          <p:nvPr/>
        </p:nvSpPr>
        <p:spPr>
          <a:xfrm flipH="1">
            <a:off x="7769225" y="1990090"/>
            <a:ext cx="4763" cy="2187575"/>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4" name="Line 34"/>
          <p:cNvSpPr/>
          <p:nvPr/>
        </p:nvSpPr>
        <p:spPr>
          <a:xfrm>
            <a:off x="6911975" y="2929890"/>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5" name="Text Box 35"/>
          <p:cNvSpPr txBox="1"/>
          <p:nvPr/>
        </p:nvSpPr>
        <p:spPr>
          <a:xfrm>
            <a:off x="7907338" y="1925003"/>
            <a:ext cx="2527300" cy="2553335"/>
          </a:xfrm>
          <a:prstGeom prst="rect">
            <a:avLst/>
          </a:prstGeom>
          <a:noFill/>
          <a:ln w="9525">
            <a:noFill/>
          </a:ln>
        </p:spPr>
        <p:txBody>
          <a:bodyPr wrap="square" anchor="t">
            <a:spAutoFit/>
          </a:bodyPr>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总体架构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en-US" sz="2000" dirty="0">
                <a:latin typeface="微软雅黑" panose="020B0503020204020204" pitchFamily="34" charset="-122"/>
                <a:ea typeface="微软雅黑" panose="020B0503020204020204" pitchFamily="34" charset="-122"/>
              </a:rPr>
              <a:t>功能架构</a:t>
            </a: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lgn="l">
              <a:buClrTx/>
              <a:buSzTx/>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数据架构</a:t>
            </a:r>
            <a:endParaRPr lang="zh-CN"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en-US" sz="2000" dirty="0">
                <a:solidFill>
                  <a:srgbClr val="FF0000"/>
                </a:solidFill>
                <a:latin typeface="微软雅黑" panose="020B0503020204020204" pitchFamily="34" charset="-122"/>
                <a:ea typeface="微软雅黑" panose="020B0503020204020204" pitchFamily="34" charset="-122"/>
              </a:rPr>
              <a:t>基础架构</a:t>
            </a:r>
            <a:endParaRPr lang="zh-CN" altLang="en-US"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14</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6" name="组合 6146"/>
            <p:cNvGrpSpPr/>
            <p:nvPr/>
          </p:nvGrpSpPr>
          <p:grpSpPr>
            <a:xfrm>
              <a:off x="6588" y="6602"/>
              <a:ext cx="1200" cy="1045"/>
              <a:chOff x="0" y="0"/>
              <a:chExt cx="1549" cy="1351"/>
            </a:xfrm>
          </p:grpSpPr>
          <p:sp>
            <p:nvSpPr>
              <p:cNvPr id="9"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0"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1"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2"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3" name="组合 12"/>
          <p:cNvGrpSpPr/>
          <p:nvPr/>
        </p:nvGrpSpPr>
        <p:grpSpPr>
          <a:xfrm>
            <a:off x="4268470" y="3402330"/>
            <a:ext cx="762000" cy="663575"/>
            <a:chOff x="6588" y="6602"/>
            <a:chExt cx="1200" cy="1045"/>
          </a:xfrm>
        </p:grpSpPr>
        <p:sp>
          <p:nvSpPr>
            <p:cNvPr id="1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5" name="组合 6146"/>
            <p:cNvGrpSpPr/>
            <p:nvPr/>
          </p:nvGrpSpPr>
          <p:grpSpPr>
            <a:xfrm>
              <a:off x="6588" y="6602"/>
              <a:ext cx="1200" cy="1045"/>
              <a:chOff x="0" y="0"/>
              <a:chExt cx="1549" cy="1351"/>
            </a:xfrm>
          </p:grpSpPr>
          <p:sp>
            <p:nvSpPr>
              <p:cNvPr id="16"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7"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8"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P spid="5" grpId="1" bldLvl="0"/>
      <p:bldP spid="5" grpId="2" bldLvl="0"/>
      <p:bldP spid="5" grpId="3" bldLvl="0"/>
      <p:bldP spid="5" grpId="4" bldLvl="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标题 2"/>
          <p:cNvSpPr>
            <a:spLocks noGrp="1"/>
          </p:cNvSpPr>
          <p:nvPr>
            <p:ph type="title" idx="4294967295"/>
          </p:nvPr>
        </p:nvSpPr>
        <p:spPr/>
        <p:txBody>
          <a:bodyPr wrap="square" lIns="91440" tIns="45720" rIns="91440" bIns="45720" anchor="ctr"/>
          <a:p>
            <a:r>
              <a:rPr lang="en-US" altLang="zh-CN">
                <a:latin typeface="Arial" panose="020B0604020202090204" charset="-122"/>
                <a:sym typeface="宋体" panose="02010600030101010101" pitchFamily="2" charset="-122"/>
              </a:rPr>
              <a:t>2.3</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lang="zh-CN" altLang="en-US" dirty="0">
                <a:latin typeface="Arial" panose="020B0604020202090204" charset="-122"/>
                <a:sym typeface="宋体" panose="02010600030101010101" pitchFamily="2" charset="-122"/>
              </a:rPr>
              <a:t>开发架构</a:t>
            </a:r>
            <a:endParaRPr lang="en-US" altLang="zh-CN" dirty="0">
              <a:latin typeface="Arial" panose="020B0604020202090204" charset="-122"/>
              <a:sym typeface="宋体" panose="02010600030101010101" pitchFamily="2" charset="-122"/>
            </a:endParaRPr>
          </a:p>
        </p:txBody>
      </p:sp>
      <p:sp>
        <p:nvSpPr>
          <p:cNvPr id="144414" name="文本框 2"/>
          <p:cNvSpPr txBox="1"/>
          <p:nvPr/>
        </p:nvSpPr>
        <p:spPr>
          <a:xfrm>
            <a:off x="563563" y="6253163"/>
            <a:ext cx="3390900" cy="275590"/>
          </a:xfrm>
          <a:prstGeom prst="rect">
            <a:avLst/>
          </a:prstGeom>
          <a:noFill/>
          <a:ln w="9525">
            <a:noFill/>
          </a:ln>
        </p:spPr>
        <p:txBody>
          <a:bodyPr wrap="square" anchor="t">
            <a:spAutoFit/>
          </a:bodyPr>
          <a:p>
            <a:r>
              <a:rPr lang="zh-CN" altLang="en-US" sz="1200">
                <a:latin typeface="华文楷体" panose="02010600040101010101" charset="-122"/>
                <a:ea typeface="华文楷体" panose="02010600040101010101" charset="-122"/>
              </a:rPr>
              <a:t>注：请保证本页材料可编辑</a:t>
            </a:r>
            <a:endParaRPr lang="zh-CN" altLang="en-US" sz="1200">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15</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2" name="TextBox 3"/>
          <p:cNvSpPr/>
          <p:nvPr/>
        </p:nvSpPr>
        <p:spPr>
          <a:xfrm>
            <a:off x="6384925" y="872490"/>
            <a:ext cx="5203190" cy="511810"/>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buChar char="Ø"/>
            </a:pP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兼容性：</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提供标准通用接口和</a:t>
            </a:r>
            <a:r>
              <a:rPr lang="en-US" altLang="zh-CN" sz="1600" dirty="0">
                <a:latin typeface="微软雅黑" panose="020B0503020204020204" pitchFamily="34" charset="-122"/>
                <a:ea typeface="微软雅黑" panose="020B0503020204020204" pitchFamily="34" charset="-122"/>
                <a:cs typeface="+mn-ea"/>
                <a:sym typeface="仿宋" panose="02010609060101010101" pitchFamily="1" charset="-122"/>
              </a:rPr>
              <a:t>JSON</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报文交互方式；</a:t>
            </a:r>
            <a:endParaRPr lang="zh-CN" altLang="en-US" sz="1600" dirty="0">
              <a:latin typeface="Times New Roman" panose="02020703060505090304" pitchFamily="2" charset="-20"/>
              <a:ea typeface="微软雅黑" panose="020B0503020204020204" pitchFamily="34" charset="-122"/>
              <a:sym typeface="仿宋" panose="02010609060101010101" pitchFamily="1" charset="-122"/>
            </a:endParaRPr>
          </a:p>
        </p:txBody>
      </p:sp>
      <p:sp>
        <p:nvSpPr>
          <p:cNvPr id="3" name="TextBox 3"/>
          <p:cNvSpPr/>
          <p:nvPr/>
        </p:nvSpPr>
        <p:spPr>
          <a:xfrm>
            <a:off x="6409055" y="1623060"/>
            <a:ext cx="5179060" cy="744855"/>
          </a:xfrm>
          <a:prstGeom prst="rect">
            <a:avLst/>
          </a:prstGeom>
          <a:noFill/>
          <a:ln w="19050" cap="flat" cmpd="sng">
            <a:solidFill>
              <a:srgbClr val="0890D4"/>
            </a:solidFill>
            <a:prstDash val="lgDash"/>
            <a:miter/>
            <a:headEnd type="none" w="med" len="med"/>
            <a:tailEnd type="none" w="med" len="med"/>
          </a:ln>
        </p:spPr>
        <p:txBody>
          <a:bodyPr wrap="square" anchor="t">
            <a:noAutofit/>
          </a:bodyPr>
          <a:p>
            <a:pPr lvl="0" algn="l" eaLnBrk="0" hangingPunct="0">
              <a:lnSpc>
                <a:spcPct val="120000"/>
              </a:lnSpc>
              <a:buClrTx/>
              <a:buSzTx/>
              <a:buFont typeface="Wingdings" panose="05000000000000000000" pitchFamily="2" charset="2"/>
              <a:buChar char="Ø"/>
            </a:pP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可维护性：开发语言使用JAVA，开发框架使用</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中证开发平台</a:t>
            </a: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，提升系统可维护性；</a:t>
            </a:r>
            <a:endParaRPr lang="zh-CN" altLang="en-US" sz="1600" dirty="0">
              <a:latin typeface="Times New Roman" panose="02020703060505090304" pitchFamily="2" charset="-20"/>
              <a:ea typeface="微软雅黑" panose="020B0503020204020204" pitchFamily="34" charset="-122"/>
              <a:sym typeface="仿宋" panose="02010609060101010101" pitchFamily="1" charset="-122"/>
            </a:endParaRPr>
          </a:p>
        </p:txBody>
      </p:sp>
      <p:sp>
        <p:nvSpPr>
          <p:cNvPr id="5" name="TextBox 3"/>
          <p:cNvSpPr/>
          <p:nvPr/>
        </p:nvSpPr>
        <p:spPr>
          <a:xfrm>
            <a:off x="6434455" y="2615565"/>
            <a:ext cx="5153660" cy="753745"/>
          </a:xfrm>
          <a:prstGeom prst="rect">
            <a:avLst/>
          </a:prstGeom>
          <a:noFill/>
          <a:ln w="19050" cap="flat" cmpd="sng">
            <a:solidFill>
              <a:srgbClr val="0890D4"/>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buChar char="Ø"/>
            </a:pPr>
            <a:r>
              <a:rPr lang="zh-CN" altLang="en-US" sz="1600" dirty="0">
                <a:latin typeface="Times New Roman" panose="02020703060505090304" pitchFamily="2" charset="-20"/>
                <a:ea typeface="微软雅黑" panose="020B0503020204020204" pitchFamily="34" charset="-122"/>
                <a:sym typeface="仿宋" panose="02010609060101010101" pitchFamily="1" charset="-122"/>
              </a:rPr>
              <a:t>可移植性：</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底层组件可替换，对接外系统使用</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中证开发平台</a:t>
            </a:r>
            <a:r>
              <a:rPr lang="zh-CN" altLang="en-US" sz="1600" dirty="0">
                <a:latin typeface="微软雅黑" panose="020B0503020204020204" pitchFamily="34" charset="-122"/>
                <a:ea typeface="微软雅黑" panose="020B0503020204020204" pitchFamily="34" charset="-122"/>
                <a:cs typeface="+mn-ea"/>
                <a:sym typeface="仿宋" panose="02010609060101010101" pitchFamily="1" charset="-122"/>
              </a:rPr>
              <a:t>适配组件，提升可移植性；</a:t>
            </a:r>
            <a:endParaRPr lang="zh-CN" altLang="en-US" sz="1600" strike="noStrike" noProof="1" dirty="0">
              <a:solidFill>
                <a:schemeClr val="tx1"/>
              </a:solidFill>
              <a:latin typeface="微软雅黑" panose="020B0503020204020204" pitchFamily="34" charset="-122"/>
              <a:ea typeface="微软雅黑" panose="020B0503020204020204" pitchFamily="34" charset="-122"/>
              <a:cs typeface="+mn-ea"/>
              <a:sym typeface="仿宋" panose="02010609060101010101" pitchFamily="1" charset="-122"/>
            </a:endParaRPr>
          </a:p>
          <a:p>
            <a:pPr eaLnBrk="0" hangingPunct="0">
              <a:lnSpc>
                <a:spcPct val="120000"/>
              </a:lnSpc>
              <a:buFont typeface="Wingdings" panose="05000000000000000000" pitchFamily="2" charset="2"/>
              <a:buChar char="Ø"/>
            </a:pPr>
            <a:endParaRPr lang="zh-CN" altLang="en-US" sz="1600" dirty="0">
              <a:latin typeface="Times New Roman" panose="02020703060505090304" pitchFamily="2" charset="-20"/>
              <a:ea typeface="微软雅黑" panose="020B0503020204020204" pitchFamily="34" charset="-122"/>
              <a:sym typeface="仿宋" panose="02010609060101010101" pitchFamily="1" charset="-122"/>
            </a:endParaRPr>
          </a:p>
          <a:p>
            <a:pPr eaLnBrk="0" hangingPunct="0">
              <a:lnSpc>
                <a:spcPct val="120000"/>
              </a:lnSpc>
              <a:buFont typeface="Wingdings" panose="05000000000000000000" pitchFamily="2" charset="2"/>
            </a:pPr>
            <a:endParaRPr lang="zh-CN" altLang="en-US" sz="1400" dirty="0">
              <a:latin typeface="微软雅黑" panose="020B0503020204020204" pitchFamily="34" charset="-122"/>
              <a:ea typeface="微软雅黑" panose="020B0503020204020204" pitchFamily="34" charset="-122"/>
              <a:sym typeface="Arial" panose="020B0604020202090204" charset="-122"/>
            </a:endParaRPr>
          </a:p>
        </p:txBody>
      </p:sp>
      <p:sp>
        <p:nvSpPr>
          <p:cNvPr id="6" name="Rectangle 7"/>
          <p:cNvSpPr/>
          <p:nvPr/>
        </p:nvSpPr>
        <p:spPr>
          <a:xfrm>
            <a:off x="1378585" y="853440"/>
            <a:ext cx="4424045" cy="5400040"/>
          </a:xfrm>
          <a:prstGeom prst="rect">
            <a:avLst/>
          </a:prstGeom>
          <a:solidFill>
            <a:srgbClr val="33CCCC"/>
          </a:solidFill>
          <a:ln w="9525">
            <a:noFill/>
          </a:ln>
        </p:spPr>
        <p:txBody>
          <a:bodyPr vert="eaVert" wrap="square" lIns="90170" tIns="46990" rIns="90170" bIns="46990" anchor="b" anchorCtr="0"/>
          <a:p>
            <a:pPr algn="ctr" eaLnBrk="0" hangingPunct="0"/>
            <a:r>
              <a:rPr lang="zh-CN" altLang="en-US" dirty="0">
                <a:latin typeface="微软雅黑" panose="020B0503020204020204" pitchFamily="34" charset="-122"/>
                <a:ea typeface="微软雅黑" panose="020B0503020204020204" pitchFamily="34" charset="-122"/>
                <a:cs typeface="+mn-ea"/>
                <a:sym typeface="Arial" panose="020B0604020202090204" charset="-122"/>
              </a:rPr>
              <a:t>外部委数据信息共享</a:t>
            </a:r>
            <a:endParaRPr lang="zh-CN" altLang="en-US"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59408"/>
          <p:cNvSpPr/>
          <p:nvPr/>
        </p:nvSpPr>
        <p:spPr>
          <a:xfrm>
            <a:off x="1928495" y="4631055"/>
            <a:ext cx="3669030" cy="1565275"/>
          </a:xfrm>
          <a:prstGeom prst="rect">
            <a:avLst/>
          </a:prstGeom>
          <a:solidFill>
            <a:srgbClr val="99CC00"/>
          </a:solidFill>
          <a:ln w="9525">
            <a:noFill/>
          </a:ln>
        </p:spPr>
        <p:txBody>
          <a:bodyPr vert="eaVert" wrap="none" anchor="b" anchorCtr="0"/>
          <a:p>
            <a:pPr algn="ctr"/>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59408"/>
          <p:cNvSpPr/>
          <p:nvPr/>
        </p:nvSpPr>
        <p:spPr>
          <a:xfrm>
            <a:off x="1928495" y="2663825"/>
            <a:ext cx="3669030" cy="1914525"/>
          </a:xfrm>
          <a:prstGeom prst="rect">
            <a:avLst/>
          </a:prstGeom>
          <a:solidFill>
            <a:srgbClr val="99CC00"/>
          </a:solidFill>
          <a:ln w="9525">
            <a:noFill/>
          </a:ln>
        </p:spPr>
        <p:txBody>
          <a:bodyPr vert="eaVert" wrap="none" anchor="b" anchorCtr="0"/>
          <a:p>
            <a:pPr algn="ctr"/>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Rectangle 8"/>
          <p:cNvSpPr/>
          <p:nvPr/>
        </p:nvSpPr>
        <p:spPr>
          <a:xfrm>
            <a:off x="2433320" y="3888105"/>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开发框架：</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Springboot</a:t>
            </a:r>
            <a:endParaRPr 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Rectangle 9"/>
          <p:cNvSpPr/>
          <p:nvPr/>
        </p:nvSpPr>
        <p:spPr>
          <a:xfrm>
            <a:off x="2433320" y="4215130"/>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开发工具：</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Eclipse IDE</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IntelliJ IDEA</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Rectangle 10"/>
          <p:cNvSpPr/>
          <p:nvPr/>
        </p:nvSpPr>
        <p:spPr>
          <a:xfrm>
            <a:off x="2433320" y="5165408"/>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数据库：</a:t>
            </a:r>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Kingbase</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Rectangle 12"/>
          <p:cNvSpPr/>
          <p:nvPr/>
        </p:nvSpPr>
        <p:spPr>
          <a:xfrm>
            <a:off x="2433320" y="3561080"/>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依赖管理：Maven</a:t>
            </a:r>
            <a:endPar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Rectangle 10"/>
          <p:cNvSpPr/>
          <p:nvPr/>
        </p:nvSpPr>
        <p:spPr>
          <a:xfrm>
            <a:off x="2433320" y="4810125"/>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中间件：</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tongweb</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Rectangle 10"/>
          <p:cNvSpPr/>
          <p:nvPr/>
        </p:nvSpPr>
        <p:spPr>
          <a:xfrm>
            <a:off x="2433320" y="5528945"/>
            <a:ext cx="2948305" cy="24447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操作系统：统信</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UOS</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Rectangle 10"/>
          <p:cNvSpPr/>
          <p:nvPr/>
        </p:nvSpPr>
        <p:spPr>
          <a:xfrm>
            <a:off x="2433320" y="5879148"/>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部署环境：</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证联网、会内网、</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互联网</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文本框 2"/>
          <p:cNvSpPr txBox="1"/>
          <p:nvPr/>
        </p:nvSpPr>
        <p:spPr>
          <a:xfrm>
            <a:off x="1928495" y="3067050"/>
            <a:ext cx="473075" cy="1208405"/>
          </a:xfrm>
          <a:prstGeom prst="rect">
            <a:avLst/>
          </a:prstGeom>
          <a:noFill/>
          <a:ln w="9525">
            <a:noFill/>
          </a:ln>
        </p:spPr>
        <p:txBody>
          <a:bodyPr wrap="square" anchor="t" anchorCtr="0">
            <a:no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基础应用</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文本框 3"/>
          <p:cNvSpPr txBox="1"/>
          <p:nvPr/>
        </p:nvSpPr>
        <p:spPr>
          <a:xfrm>
            <a:off x="1928495" y="4875530"/>
            <a:ext cx="473075" cy="1076325"/>
          </a:xfrm>
          <a:prstGeom prst="rect">
            <a:avLst/>
          </a:prstGeom>
          <a:noFill/>
          <a:ln w="9525">
            <a:noFill/>
          </a:ln>
        </p:spPr>
        <p:txBody>
          <a:bodyPr wrap="square" anchor="t" anchorCtr="0">
            <a:sp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基础平台</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Rectangle 12"/>
          <p:cNvSpPr/>
          <p:nvPr/>
        </p:nvSpPr>
        <p:spPr>
          <a:xfrm>
            <a:off x="2433320" y="2905125"/>
            <a:ext cx="2948305" cy="283210"/>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             开发语言：Java              </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Rectangle 12"/>
          <p:cNvSpPr/>
          <p:nvPr/>
        </p:nvSpPr>
        <p:spPr>
          <a:xfrm>
            <a:off x="2433320" y="3234055"/>
            <a:ext cx="2948305" cy="281305"/>
          </a:xfrm>
          <a:prstGeom prst="rect">
            <a:avLst/>
          </a:prstGeom>
          <a:solidFill>
            <a:srgbClr val="CCF7EE"/>
          </a:solidFill>
          <a:ln w="9525">
            <a:noFill/>
          </a:ln>
        </p:spPr>
        <p:txBody>
          <a:bodyPr wrap="none" lIns="90170" tIns="46990" rIns="90170" bIns="46990" anchor="ctr" anchorCtr="0"/>
          <a:p>
            <a:pPr algn="ctr" eaLnBrk="0" hangingPunct="0"/>
            <a:r>
              <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编译环境：JDK1.8</a:t>
            </a:r>
            <a:endParaRPr lang="zh-CN"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6" name="矩形 59408"/>
          <p:cNvSpPr/>
          <p:nvPr/>
        </p:nvSpPr>
        <p:spPr>
          <a:xfrm>
            <a:off x="1928495" y="929640"/>
            <a:ext cx="3669030" cy="1670050"/>
          </a:xfrm>
          <a:prstGeom prst="rect">
            <a:avLst/>
          </a:prstGeom>
          <a:solidFill>
            <a:srgbClr val="99CC00"/>
          </a:solidFill>
          <a:ln w="9525">
            <a:noFill/>
          </a:ln>
        </p:spPr>
        <p:txBody>
          <a:bodyPr vert="eaVert" wrap="none" anchor="b" anchorCtr="0"/>
          <a:p>
            <a:pPr algn="l"/>
            <a:endParaRPr lang="zh-CN" altLang="en-US" sz="16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7" name="Rectangle 8"/>
          <p:cNvSpPr/>
          <p:nvPr/>
        </p:nvSpPr>
        <p:spPr>
          <a:xfrm>
            <a:off x="2433320" y="1343025"/>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开发框架：</a:t>
            </a:r>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Vue</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8" name="Rectangle 9"/>
          <p:cNvSpPr/>
          <p:nvPr/>
        </p:nvSpPr>
        <p:spPr>
          <a:xfrm>
            <a:off x="2433320" y="1676400"/>
            <a:ext cx="2947988" cy="250825"/>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开发工具：</a:t>
            </a:r>
            <a:r>
              <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VSCode 、 Chrome49+ 、奇安信</a:t>
            </a:r>
            <a:endParaRPr lang="en-US" altLang="zh-CN"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09" name="Rectangle 12"/>
          <p:cNvSpPr/>
          <p:nvPr/>
        </p:nvSpPr>
        <p:spPr>
          <a:xfrm>
            <a:off x="2433320" y="1009650"/>
            <a:ext cx="2947988" cy="252413"/>
          </a:xfrm>
          <a:prstGeom prst="rect">
            <a:avLst/>
          </a:prstGeom>
          <a:solidFill>
            <a:srgbClr val="CCF7EE"/>
          </a:solidFill>
          <a:ln w="9525">
            <a:noFill/>
          </a:ln>
        </p:spPr>
        <p:txBody>
          <a:bodyPr wrap="none" lIns="90170" tIns="46990" rIns="90170" bIns="46990" anchor="ctr" anchorCtr="0"/>
          <a:p>
            <a:pPr algn="ctr" eaLnBrk="0" hangingPunct="0"/>
            <a:r>
              <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             开发语言：HTML + CSS + LESS + JavaScript + ES6  </a:t>
            </a:r>
            <a:endParaRPr lang="zh-CN" altLang="en-US"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0310" name="文本框 2"/>
          <p:cNvSpPr txBox="1"/>
          <p:nvPr/>
        </p:nvSpPr>
        <p:spPr>
          <a:xfrm>
            <a:off x="1928495" y="1278573"/>
            <a:ext cx="473075" cy="1076325"/>
          </a:xfrm>
          <a:prstGeom prst="rect">
            <a:avLst/>
          </a:prstGeom>
          <a:noFill/>
          <a:ln w="9525">
            <a:noFill/>
          </a:ln>
        </p:spPr>
        <p:txBody>
          <a:bodyPr wrap="square" anchor="t" anchorCtr="0">
            <a:spAutoFit/>
          </a:bodyPr>
          <a:p>
            <a:r>
              <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前端应用</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Rectangle 9"/>
          <p:cNvSpPr/>
          <p:nvPr/>
        </p:nvSpPr>
        <p:spPr>
          <a:xfrm>
            <a:off x="2433320" y="2006600"/>
            <a:ext cx="2947988" cy="250825"/>
          </a:xfrm>
          <a:prstGeom prst="rect">
            <a:avLst/>
          </a:prstGeom>
          <a:solidFill>
            <a:srgbClr val="CCF7EE"/>
          </a:solidFill>
          <a:ln w="9525">
            <a:noFill/>
          </a:ln>
        </p:spPr>
        <p:txBody>
          <a:bodyPr wrap="none" lIns="90170" tIns="46990" rIns="90170" bIns="46990" anchor="ctr" anchorCtr="0"/>
          <a:p>
            <a:pPr algn="ctr" eaLnBrk="0" hangingPunct="0"/>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主插件：view-design + echarts</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Rectangle 9"/>
          <p:cNvSpPr/>
          <p:nvPr/>
        </p:nvSpPr>
        <p:spPr>
          <a:xfrm>
            <a:off x="2433320" y="2311400"/>
            <a:ext cx="2947988" cy="250825"/>
          </a:xfrm>
          <a:prstGeom prst="rect">
            <a:avLst/>
          </a:prstGeom>
          <a:solidFill>
            <a:srgbClr val="CCF7EE"/>
          </a:solidFill>
          <a:ln w="9525">
            <a:noFill/>
          </a:ln>
        </p:spPr>
        <p:txBody>
          <a:bodyPr wrap="none" lIns="90170" tIns="46990" rIns="90170" bIns="46990" anchor="ctr" anchorCtr="0"/>
          <a:p>
            <a:pPr algn="ctr" eaLnBrk="0" hangingPunct="0"/>
            <a:r>
              <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环境依赖：Node.js</a:t>
            </a:r>
            <a:endParaRPr sz="12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5723" name="对象 36"/>
          <p:cNvGraphicFramePr/>
          <p:nvPr/>
        </p:nvGraphicFramePr>
        <p:xfrm>
          <a:off x="6198235" y="2325370"/>
          <a:ext cx="477838" cy="1236663"/>
        </p:xfrm>
        <a:graphic>
          <a:graphicData uri="http://schemas.openxmlformats.org/presentationml/2006/ole">
            <mc:AlternateContent xmlns:mc="http://schemas.openxmlformats.org/markup-compatibility/2006">
              <mc:Choice xmlns:v="urn:schemas-microsoft-com:vml" Requires="v">
                <p:oleObj spid="_x0000_s3080" name="" r:id="rId1" imgW="825500" imgH="1676400" progId="Visio.Drawing.11">
                  <p:embed/>
                </p:oleObj>
              </mc:Choice>
              <mc:Fallback>
                <p:oleObj name="" r:id="rId1" imgW="825500" imgH="1676400" progId="Visio.Drawing.11">
                  <p:embed/>
                  <p:pic>
                    <p:nvPicPr>
                      <p:cNvPr id="0" name="图片 3079"/>
                      <p:cNvPicPr/>
                      <p:nvPr/>
                    </p:nvPicPr>
                    <p:blipFill>
                      <a:blip r:embed="rId2"/>
                      <a:stretch>
                        <a:fillRect/>
                      </a:stretch>
                    </p:blipFill>
                    <p:spPr>
                      <a:xfrm>
                        <a:off x="6198235" y="2325370"/>
                        <a:ext cx="477838" cy="1236663"/>
                      </a:xfrm>
                      <a:prstGeom prst="rect">
                        <a:avLst/>
                      </a:prstGeom>
                      <a:noFill/>
                      <a:ln w="38100">
                        <a:noFill/>
                        <a:miter/>
                      </a:ln>
                    </p:spPr>
                  </p:pic>
                </p:oleObj>
              </mc:Fallback>
            </mc:AlternateContent>
          </a:graphicData>
        </a:graphic>
      </p:graphicFrame>
      <p:sp>
        <p:nvSpPr>
          <p:cNvPr id="115731" name="文本框 125"/>
          <p:cNvSpPr txBox="1"/>
          <p:nvPr/>
        </p:nvSpPr>
        <p:spPr>
          <a:xfrm>
            <a:off x="6055360" y="3322320"/>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前端服务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115760" name="对象 36"/>
          <p:cNvGraphicFramePr/>
          <p:nvPr/>
        </p:nvGraphicFramePr>
        <p:xfrm>
          <a:off x="6198235" y="3684905"/>
          <a:ext cx="476250" cy="1235075"/>
        </p:xfrm>
        <a:graphic>
          <a:graphicData uri="http://schemas.openxmlformats.org/presentationml/2006/ole">
            <mc:AlternateContent xmlns:mc="http://schemas.openxmlformats.org/markup-compatibility/2006">
              <mc:Choice xmlns:v="urn:schemas-microsoft-com:vml" Requires="v">
                <p:oleObj spid="_x0000_s3084" name="" r:id="rId3" imgW="825500" imgH="1676400" progId="Visio.Drawing.11">
                  <p:embed/>
                </p:oleObj>
              </mc:Choice>
              <mc:Fallback>
                <p:oleObj name="" r:id="rId3" imgW="825500" imgH="1676400" progId="Visio.Drawing.11">
                  <p:embed/>
                  <p:pic>
                    <p:nvPicPr>
                      <p:cNvPr id="0" name="图片 3083"/>
                      <p:cNvPicPr/>
                      <p:nvPr/>
                    </p:nvPicPr>
                    <p:blipFill>
                      <a:blip r:embed="rId2"/>
                      <a:stretch>
                        <a:fillRect/>
                      </a:stretch>
                    </p:blipFill>
                    <p:spPr>
                      <a:xfrm>
                        <a:off x="6198235" y="3684905"/>
                        <a:ext cx="476250" cy="1235075"/>
                      </a:xfrm>
                      <a:prstGeom prst="rect">
                        <a:avLst/>
                      </a:prstGeom>
                      <a:noFill/>
                      <a:ln w="38100">
                        <a:noFill/>
                        <a:miter/>
                      </a:ln>
                    </p:spPr>
                  </p:pic>
                </p:oleObj>
              </mc:Fallback>
            </mc:AlternateContent>
          </a:graphicData>
        </a:graphic>
      </p:graphicFrame>
      <p:sp>
        <p:nvSpPr>
          <p:cNvPr id="115773" name="矩形 33"/>
          <p:cNvSpPr/>
          <p:nvPr/>
        </p:nvSpPr>
        <p:spPr>
          <a:xfrm>
            <a:off x="5467985" y="2287905"/>
            <a:ext cx="1867535" cy="2841625"/>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115774" name="文本框 125"/>
          <p:cNvSpPr txBox="1"/>
          <p:nvPr/>
        </p:nvSpPr>
        <p:spPr>
          <a:xfrm>
            <a:off x="6018848" y="4667568"/>
            <a:ext cx="788987"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后端服务</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115797" name="灯片编号占位符 1"/>
          <p:cNvSpPr>
            <a:spLocks noGrp="1"/>
          </p:cNvSpPr>
          <p:nvPr/>
        </p:nvSpPr>
        <p:spPr>
          <a:xfrm>
            <a:off x="4813935" y="6492875"/>
            <a:ext cx="2057400" cy="365125"/>
          </a:xfrm>
          <a:prstGeom prst="rect">
            <a:avLst/>
          </a:prstGeom>
          <a:noFill/>
          <a:ln w="9525">
            <a:noFill/>
          </a:ln>
        </p:spPr>
        <p:txBody>
          <a:bodyPr anchor="ctr" anchorCtr="0"/>
          <a:p>
            <a:pPr algn="ctr"/>
            <a:endParaRPr lang="zh-CN" altLang="en-US" sz="1200" dirty="0">
              <a:latin typeface="Times New Roman" panose="02020703060505090304" pitchFamily="2" charset="-20"/>
              <a:ea typeface="华文细黑" panose="02010600040101010101" pitchFamily="2" charset="-122"/>
            </a:endParaRPr>
          </a:p>
        </p:txBody>
      </p:sp>
      <p:sp>
        <p:nvSpPr>
          <p:cNvPr id="146470" name="标题 18"/>
          <p:cNvSpPr>
            <a:spLocks noGrp="1"/>
          </p:cNvSpPr>
          <p:nvPr/>
        </p:nvSpPr>
        <p:spPr>
          <a:xfrm>
            <a:off x="5368925" y="90170"/>
            <a:ext cx="6577330" cy="622935"/>
          </a:xfrm>
          <a:prstGeom prst="rect">
            <a:avLst/>
          </a:prstGeom>
          <a:noFill/>
          <a:ln w="9525">
            <a:noFill/>
          </a:ln>
        </p:spPr>
        <p:txBody>
          <a:bodyPr vert="horz"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r>
              <a:rPr lang="en-US" altLang="zh-CN">
                <a:latin typeface="Arial" panose="020B0604020202090204" charset="-122"/>
                <a:sym typeface="宋体" panose="02010600030101010101" pitchFamily="2" charset="-122"/>
              </a:rPr>
              <a:t>2.4</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lang="zh-CN" altLang="zh-CN" dirty="0">
                <a:sym typeface="宋体" panose="02010600030101010101" pitchFamily="2" charset="-122"/>
              </a:rPr>
              <a:t>安全架构</a:t>
            </a:r>
            <a:endParaRPr lang="en-US" altLang="zh-CN">
              <a:latin typeface="Arial" panose="020B0604020202090204" charset="-122"/>
              <a:sym typeface="宋体" panose="02010600030101010101" pitchFamily="2" charset="-122"/>
            </a:endParaRPr>
          </a:p>
        </p:txBody>
      </p:sp>
      <p:sp>
        <p:nvSpPr>
          <p:cNvPr id="11" name="圆柱形 10"/>
          <p:cNvSpPr/>
          <p:nvPr/>
        </p:nvSpPr>
        <p:spPr>
          <a:xfrm>
            <a:off x="4384675" y="4385310"/>
            <a:ext cx="605790" cy="561340"/>
          </a:xfrm>
          <a:prstGeom prst="can">
            <a:avLst/>
          </a:prstGeom>
          <a:solidFill>
            <a:srgbClr val="E5E9D8"/>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sym typeface="+mn-ea"/>
              </a:rPr>
              <a:t>DB</a:t>
            </a:r>
            <a:endParaRPr lang="zh-CN" altLang="en-US"/>
          </a:p>
        </p:txBody>
      </p:sp>
      <p:cxnSp>
        <p:nvCxnSpPr>
          <p:cNvPr id="12" name="直接箭头连接符 81"/>
          <p:cNvCxnSpPr/>
          <p:nvPr/>
        </p:nvCxnSpPr>
        <p:spPr>
          <a:xfrm flipH="1" flipV="1">
            <a:off x="5026660" y="4667568"/>
            <a:ext cx="405130" cy="8890"/>
          </a:xfrm>
          <a:prstGeom prst="straightConnector1">
            <a:avLst/>
          </a:prstGeom>
          <a:ln w="28575" cap="flat" cmpd="sng">
            <a:solidFill>
              <a:schemeClr val="accent2"/>
            </a:solidFill>
            <a:prstDash val="solid"/>
            <a:round/>
            <a:headEnd type="none" w="med" len="med"/>
            <a:tailEnd type="triangle" w="med" len="med"/>
          </a:ln>
        </p:spPr>
      </p:cxnSp>
      <p:grpSp>
        <p:nvGrpSpPr>
          <p:cNvPr id="13" name="组合 81"/>
          <p:cNvGrpSpPr/>
          <p:nvPr/>
        </p:nvGrpSpPr>
        <p:grpSpPr>
          <a:xfrm>
            <a:off x="2437130" y="2005965"/>
            <a:ext cx="1597660" cy="1153160"/>
            <a:chOff x="12254" y="2617"/>
            <a:chExt cx="1251" cy="1824"/>
          </a:xfrm>
        </p:grpSpPr>
        <p:sp>
          <p:nvSpPr>
            <p:cNvPr id="14" name="矩形 136"/>
            <p:cNvSpPr/>
            <p:nvPr/>
          </p:nvSpPr>
          <p:spPr>
            <a:xfrm>
              <a:off x="12254" y="2617"/>
              <a:ext cx="1251" cy="1824"/>
            </a:xfrm>
            <a:prstGeom prst="rect">
              <a:avLst/>
            </a:prstGeom>
            <a:noFill/>
            <a:ln w="12700" cap="flat" cmpd="sng">
              <a:solidFill>
                <a:srgbClr val="D0CECE"/>
              </a:solidFill>
              <a:prstDash val="sysDash"/>
              <a:miter/>
              <a:headEnd type="none" w="med" len="med"/>
              <a:tailEnd type="none" w="med" len="med"/>
            </a:ln>
          </p:spPr>
          <p:txBody>
            <a:bodyPr anchor="ctr" anchorCtr="0"/>
            <a:p>
              <a:pPr algn="ctr"/>
              <a:endParaRPr lang="zh-CN" altLang="en-US" dirty="0">
                <a:latin typeface="微软雅黑" panose="020B0503020204020204" pitchFamily="34" charset="-122"/>
                <a:ea typeface="微软雅黑" panose="020B0503020204020204" pitchFamily="34" charset="-122"/>
              </a:endParaRPr>
            </a:p>
          </p:txBody>
        </p:sp>
        <p:sp>
          <p:nvSpPr>
            <p:cNvPr id="30" name="圆角矩形 137"/>
            <p:cNvSpPr/>
            <p:nvPr/>
          </p:nvSpPr>
          <p:spPr>
            <a:xfrm>
              <a:off x="12424" y="2717"/>
              <a:ext cx="919" cy="365"/>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身份认证</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1" name="圆角矩形 138"/>
            <p:cNvSpPr/>
            <p:nvPr/>
          </p:nvSpPr>
          <p:spPr>
            <a:xfrm>
              <a:off x="12424" y="3775"/>
              <a:ext cx="919" cy="398"/>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输入输出安全控制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2" name="圆角矩形 171"/>
            <p:cNvSpPr/>
            <p:nvPr/>
          </p:nvSpPr>
          <p:spPr>
            <a:xfrm>
              <a:off x="12424" y="3242"/>
              <a:ext cx="919" cy="362"/>
            </a:xfrm>
            <a:prstGeom prst="roundRect">
              <a:avLst>
                <a:gd name="adj" fmla="val 16667"/>
              </a:avLst>
            </a:prstGeom>
            <a:solidFill>
              <a:srgbClr val="DEEBF7"/>
            </a:solidFill>
            <a:ln w="9525">
              <a:noFill/>
            </a:ln>
          </p:spPr>
          <p:txBody>
            <a:bodyPr wrap="square" anchor="ctr" anchorCtr="0"/>
            <a:p>
              <a:pPr algn="ctr"/>
              <a:r>
                <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rPr>
                <a:t>访问控制</a:t>
              </a:r>
              <a:endParaRPr lang="zh-CN" altLang="en-US" sz="1000" dirty="0">
                <a:solidFill>
                  <a:srgbClr val="404040"/>
                </a:solidFill>
                <a:latin typeface="微软雅黑" panose="020B0503020204020204" pitchFamily="34" charset="-122"/>
                <a:ea typeface="微软雅黑" panose="020B0503020204020204" pitchFamily="34" charset="-122"/>
                <a:sym typeface="宋体" panose="02010600030101010101" pitchFamily="2" charset="-122"/>
              </a:endParaRPr>
            </a:p>
          </p:txBody>
        </p:sp>
      </p:grpSp>
      <p:pic>
        <p:nvPicPr>
          <p:cNvPr id="103" name="图片 102" descr="333437323739373b333530353137353bd4c6d7c0c3e6"/>
          <p:cNvPicPr>
            <a:picLocks noChangeAspect="1"/>
          </p:cNvPicPr>
          <p:nvPr>
            <p:custDataLst>
              <p:tags r:id="rId4"/>
            </p:custDataLst>
          </p:nvPr>
        </p:nvPicPr>
        <p:blipFill>
          <a:blip r:embed="rId5"/>
          <a:stretch>
            <a:fillRect/>
          </a:stretch>
        </p:blipFill>
        <p:spPr>
          <a:xfrm>
            <a:off x="6160135" y="1268730"/>
            <a:ext cx="494030" cy="441325"/>
          </a:xfrm>
          <a:prstGeom prst="rect">
            <a:avLst/>
          </a:prstGeom>
        </p:spPr>
      </p:pic>
      <p:sp>
        <p:nvSpPr>
          <p:cNvPr id="52" name="文本框 125"/>
          <p:cNvSpPr txBox="1"/>
          <p:nvPr/>
        </p:nvSpPr>
        <p:spPr>
          <a:xfrm>
            <a:off x="6023610" y="1710055"/>
            <a:ext cx="788988" cy="245110"/>
          </a:xfrm>
          <a:prstGeom prst="rect">
            <a:avLst/>
          </a:prstGeom>
          <a:solidFill>
            <a:srgbClr val="FFE699"/>
          </a:solidFill>
          <a:ln w="9525">
            <a:noFill/>
          </a:ln>
        </p:spPr>
        <p:txBody>
          <a:bodyPr wrap="square" anchor="t" anchorCtr="0">
            <a:spAutoFit/>
          </a:bodyPr>
          <a:p>
            <a:pPr algn="ct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桌面</a:t>
            </a:r>
            <a:r>
              <a:rPr lang="zh-CN" altLang="en-US" sz="1000" dirty="0">
                <a:latin typeface="微软雅黑" panose="020B0503020204020204" pitchFamily="34" charset="-122"/>
                <a:ea typeface="微软雅黑" panose="020B0503020204020204" pitchFamily="34" charset="-122"/>
                <a:sym typeface="宋体" panose="02010600030101010101" pitchFamily="2" charset="-122"/>
              </a:rPr>
              <a:t>云</a:t>
            </a:r>
            <a:endParaRPr lang="zh-CN" altLang="en-US" sz="1000" dirty="0">
              <a:latin typeface="微软雅黑" panose="020B0503020204020204" pitchFamily="34" charset="-122"/>
              <a:ea typeface="微软雅黑" panose="020B0503020204020204" pitchFamily="34" charset="-122"/>
              <a:sym typeface="宋体" panose="02010600030101010101" pitchFamily="2" charset="-122"/>
            </a:endParaRPr>
          </a:p>
        </p:txBody>
      </p:sp>
      <p:cxnSp>
        <p:nvCxnSpPr>
          <p:cNvPr id="53" name="直接箭头连接符 81"/>
          <p:cNvCxnSpPr/>
          <p:nvPr/>
        </p:nvCxnSpPr>
        <p:spPr>
          <a:xfrm>
            <a:off x="6356985" y="1995488"/>
            <a:ext cx="0" cy="340995"/>
          </a:xfrm>
          <a:prstGeom prst="straightConnector1">
            <a:avLst/>
          </a:prstGeom>
          <a:ln w="28575" cap="flat" cmpd="sng">
            <a:solidFill>
              <a:schemeClr val="accent2"/>
            </a:solidFill>
            <a:prstDash val="solid"/>
            <a:round/>
            <a:headEnd type="none" w="med" len="med"/>
            <a:tailEnd type="triangl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标题 1"/>
          <p:cNvSpPr>
            <a:spLocks noGrp="1"/>
          </p:cNvSpPr>
          <p:nvPr>
            <p:ph type="title" idx="4294967295"/>
          </p:nvPr>
        </p:nvSpPr>
        <p:spPr>
          <a:xfrm>
            <a:off x="3237548" y="66993"/>
            <a:ext cx="8713787" cy="577850"/>
          </a:xfrm>
        </p:spPr>
        <p:txBody>
          <a:bodyPr wrap="square" anchor="ctr" anchorCtr="0"/>
          <a:p>
            <a:r>
              <a:rPr lang="en-US" altLang="zh-CN">
                <a:latin typeface="Arial" panose="020B0604020202090204" charset="-122"/>
                <a:sym typeface="宋体" panose="02010600030101010101" pitchFamily="2" charset="-122"/>
              </a:rPr>
              <a:t>2.3</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altLang="zh-CN">
                <a:sym typeface="宋体" panose="02010600030101010101" pitchFamily="2" charset="-122"/>
              </a:rPr>
              <a:t>安全架构</a:t>
            </a:r>
            <a:endParaRPr lang="zh-CN" altLang="en-US" dirty="0">
              <a:latin typeface="Arial" panose="020B0604020202090204" charset="-122"/>
              <a:sym typeface="Arial" panose="020B0604020202090204" charset="-122"/>
            </a:endParaRPr>
          </a:p>
        </p:txBody>
      </p:sp>
      <p:graphicFrame>
        <p:nvGraphicFramePr>
          <p:cNvPr id="3" name="表格 2"/>
          <p:cNvGraphicFramePr/>
          <p:nvPr>
            <p:custDataLst>
              <p:tags r:id="rId1"/>
            </p:custDataLst>
          </p:nvPr>
        </p:nvGraphicFramePr>
        <p:xfrm>
          <a:off x="203200" y="703580"/>
          <a:ext cx="11732260" cy="6092825"/>
        </p:xfrm>
        <a:graphic>
          <a:graphicData uri="http://schemas.openxmlformats.org/drawingml/2006/table">
            <a:tbl>
              <a:tblPr firstRow="1" bandRow="1">
                <a:tableStyleId>{5C22544A-7EE6-4342-B048-85BDC9FD1C3A}</a:tableStyleId>
              </a:tblPr>
              <a:tblGrid>
                <a:gridCol w="897890"/>
                <a:gridCol w="1261110"/>
                <a:gridCol w="4892040"/>
                <a:gridCol w="4681220"/>
              </a:tblGrid>
              <a:tr h="320675">
                <a:tc gridSpan="2">
                  <a:txBody>
                    <a:bodyPr/>
                    <a:p>
                      <a:pPr algn="ctr">
                        <a:buNone/>
                      </a:pPr>
                      <a:r>
                        <a:rPr lang="zh-CN" sz="1400" b="1">
                          <a:solidFill>
                            <a:schemeClr val="bg1"/>
                          </a:solidFill>
                          <a:latin typeface="微软雅黑" panose="020B0503020204020204" pitchFamily="34" charset="-122"/>
                          <a:ea typeface="微软雅黑" panose="020B0503020204020204" pitchFamily="34" charset="-122"/>
                        </a:rPr>
                        <a:t>安全架构类别</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c hMerge="1">
                  <a:tcPr anchor="ctr" anchorCtr="0"/>
                </a:tc>
                <a:tc>
                  <a:txBody>
                    <a:bodyPr/>
                    <a:p>
                      <a:pPr algn="ctr">
                        <a:buNone/>
                      </a:pPr>
                      <a:r>
                        <a:rPr lang="zh-CN" altLang="zh-CN" sz="1400" b="1">
                          <a:solidFill>
                            <a:schemeClr val="bg1"/>
                          </a:solidFill>
                          <a:latin typeface="微软雅黑" panose="020B0503020204020204" pitchFamily="34" charset="-122"/>
                          <a:ea typeface="微软雅黑" panose="020B0503020204020204" pitchFamily="34" charset="-122"/>
                        </a:rPr>
                        <a:t>说明</a:t>
                      </a:r>
                      <a:endParaRPr lang="zh-CN" alt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备注</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r>
              <a:tr h="481330">
                <a:tc gridSpan="2">
                  <a:txBody>
                    <a:bodyPr/>
                    <a:p>
                      <a:pPr marL="0" lvl="0" indent="0" algn="ctr">
                        <a:lnSpc>
                          <a:spcPct val="100000"/>
                        </a:lnSpc>
                        <a:spcBef>
                          <a:spcPct val="0"/>
                        </a:spcBef>
                        <a:buFont typeface="Arial" panose="020B0604020202090204" charset="-36"/>
                        <a:buNone/>
                      </a:pPr>
                      <a:r>
                        <a:rPr lang="zh-CN" altLang="en-US" sz="1400"/>
                        <a:t>等级保护级别</a:t>
                      </a:r>
                      <a:endParaRPr lang="zh-CN" altLang="en-US" sz="1400"/>
                    </a:p>
                  </a:txBody>
                  <a:tcPr vert="horz" anchor="ctr"/>
                </a:tc>
                <a:tc hMerge="1">
                  <a:tcPr anchor="ctr" anchorCtr="0"/>
                </a:tc>
                <a:tc>
                  <a:txBody>
                    <a:bodyPr/>
                    <a:p>
                      <a:pPr marL="0" indent="81280" algn="l">
                        <a:buClrTx/>
                        <a:buSzTx/>
                        <a:buFont typeface="Arial" panose="020B0604020202090204" charset="-36"/>
                        <a:buNone/>
                      </a:pPr>
                      <a:r>
                        <a:rPr lang="zh-CN" altLang="en-US" sz="1400" b="0" u="none" dirty="0">
                          <a:highlight>
                            <a:srgbClr val="D2DDF5"/>
                          </a:highlight>
                        </a:rPr>
                        <a:t>等保三级</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920750">
                <a:tc gridSpan="2">
                  <a:txBody>
                    <a:bodyPr/>
                    <a:p>
                      <a:pPr marL="0" lvl="0" indent="0" algn="ctr">
                        <a:lnSpc>
                          <a:spcPct val="100000"/>
                        </a:lnSpc>
                        <a:spcBef>
                          <a:spcPct val="0"/>
                        </a:spcBef>
                        <a:buFont typeface="Arial" panose="020B0604020202090204" charset="-36"/>
                        <a:buNone/>
                      </a:pPr>
                      <a:r>
                        <a:rPr lang="zh-CN" altLang="en-US" sz="1400"/>
                        <a:t>身份鉴别安全</a:t>
                      </a:r>
                      <a:endParaRPr lang="zh-CN" altLang="en-US" sz="1400"/>
                    </a:p>
                  </a:txBody>
                  <a:tcPr vert="horz" anchor="ctr"/>
                </a:tc>
                <a:tc hMerge="1">
                  <a:tcPr anchor="ctr" anchorCtr="0"/>
                </a:tc>
                <a:tc>
                  <a:txBody>
                    <a:bodyPr/>
                    <a:p>
                      <a:pPr marL="0" lvl="0" indent="81280" algn="l">
                        <a:lnSpc>
                          <a:spcPct val="100000"/>
                        </a:lnSpc>
                        <a:buClrTx/>
                        <a:buSzTx/>
                        <a:buFont typeface="Arial" panose="020B0604020202090204" charset="-36"/>
                        <a:buNone/>
                      </a:pPr>
                      <a:r>
                        <a:rPr lang="zh-CN" altLang="en-US" sz="1400" dirty="0">
                          <a:highlight>
                            <a:srgbClr val="D2DDF5"/>
                          </a:highlight>
                          <a:sym typeface="+mn-ea"/>
                        </a:rPr>
                        <a:t>系统自身实现身份鉴别，接入权限</a:t>
                      </a:r>
                      <a:r>
                        <a:rPr lang="zh-CN" altLang="en-US" sz="1400" dirty="0">
                          <a:highlight>
                            <a:srgbClr val="D2DDF5"/>
                          </a:highlight>
                          <a:sym typeface="+mn-ea"/>
                        </a:rPr>
                        <a:t>系统</a:t>
                      </a:r>
                      <a:endParaRPr lang="zh-CN" altLang="en-US" sz="1400" dirty="0">
                        <a:highlight>
                          <a:srgbClr val="D2DDF5"/>
                        </a:highlight>
                        <a:sym typeface="+mn-ea"/>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53390">
                <a:tc gridSpan="2">
                  <a:txBody>
                    <a:bodyPr/>
                    <a:p>
                      <a:pPr marL="0" lvl="0" indent="0" algn="ctr">
                        <a:lnSpc>
                          <a:spcPct val="100000"/>
                        </a:lnSpc>
                        <a:spcBef>
                          <a:spcPct val="0"/>
                        </a:spcBef>
                        <a:buFont typeface="Arial" panose="020B0604020202090204" charset="-36"/>
                        <a:buNone/>
                      </a:pPr>
                      <a:r>
                        <a:rPr lang="zh-CN" altLang="en-US" sz="1400"/>
                        <a:t>访问控制</a:t>
                      </a:r>
                      <a:endParaRPr lang="zh-CN" altLang="en-US" sz="1400"/>
                    </a:p>
                  </a:txBody>
                  <a:tcPr vert="horz" anchor="ctr"/>
                </a:tc>
                <a:tc hMerge="1">
                  <a:tcPr anchor="ctr" anchorCtr="0"/>
                </a:tc>
                <a:tc>
                  <a:txBody>
                    <a:bodyPr/>
                    <a:p>
                      <a:pPr marL="0" indent="81280" algn="l">
                        <a:buClrTx/>
                        <a:buSzTx/>
                        <a:buFont typeface="Arial" panose="020B0604020202090204" charset="-36"/>
                        <a:buNone/>
                      </a:pPr>
                      <a:r>
                        <a:rPr lang="zh-CN" altLang="en-US" sz="1400" b="0" u="none" dirty="0">
                          <a:highlight>
                            <a:srgbClr val="D2DDF5"/>
                          </a:highlight>
                        </a:rPr>
                        <a:t>权限后台进行权限</a:t>
                      </a:r>
                      <a:r>
                        <a:rPr lang="zh-CN" altLang="en-US" sz="1400" b="0" u="none" dirty="0">
                          <a:highlight>
                            <a:srgbClr val="D2DDF5"/>
                          </a:highlight>
                        </a:rPr>
                        <a:t>控制</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88315">
                <a:tc gridSpan="2">
                  <a:txBody>
                    <a:bodyPr/>
                    <a:p>
                      <a:pPr marL="0" lvl="0" indent="0" algn="ctr">
                        <a:lnSpc>
                          <a:spcPct val="100000"/>
                        </a:lnSpc>
                        <a:spcBef>
                          <a:spcPct val="0"/>
                        </a:spcBef>
                        <a:buFont typeface="Arial" panose="020B0604020202090204" charset="-36"/>
                        <a:buNone/>
                      </a:pPr>
                      <a:r>
                        <a:rPr lang="zh-CN" altLang="en-US" sz="1400"/>
                        <a:t>安全审计</a:t>
                      </a:r>
                      <a:endParaRPr lang="zh-CN" altLang="en-US" sz="1400"/>
                    </a:p>
                  </a:txBody>
                  <a:tcPr vert="horz" anchor="ctr"/>
                </a:tc>
                <a:tc hMerge="1">
                  <a:tcPr anchor="ctr" anchorCtr="0"/>
                </a:tc>
                <a:tc>
                  <a:txBody>
                    <a:bodyPr/>
                    <a:p>
                      <a:pPr marL="0" indent="81280" algn="l">
                        <a:buClrTx/>
                        <a:buSzTx/>
                        <a:buFont typeface="Arial" panose="020B0604020202090204" charset="-36"/>
                        <a:buNone/>
                      </a:pP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按照公司统一日志规范记录用户行为和安全事件。</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32435">
                <a:tc gridSpan="2">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rPr>
                        <a:t>入侵防范</a:t>
                      </a:r>
                      <a:endParaRPr lang="zh-CN" altLang="en-US" sz="1400">
                        <a:latin typeface="微软雅黑" panose="020B0503020204020204" pitchFamily="34" charset="-122"/>
                        <a:ea typeface="微软雅黑" panose="020B0503020204020204" pitchFamily="34" charset="-122"/>
                      </a:endParaRPr>
                    </a:p>
                  </a:txBody>
                  <a:tcPr vert="horz" anchor="ctr"/>
                </a:tc>
                <a:tc hMerge="1">
                  <a:tcPr anchor="ctr" anchorCtr="0"/>
                </a:tc>
                <a:tc>
                  <a:txBody>
                    <a:bodyPr/>
                    <a:p>
                      <a:pPr marL="0" indent="81280" algn="l">
                        <a:buClrTx/>
                        <a:buSzTx/>
                        <a:buFont typeface="Arial" panose="020B0604020202090204" charset="-36"/>
                        <a:buNone/>
                      </a:pPr>
                      <a:r>
                        <a:rPr lang="zh-CN" altLang="en-US" sz="1400" b="0" u="none" dirty="0">
                          <a:highlight>
                            <a:srgbClr val="D2DDF5"/>
                          </a:highlight>
                        </a:rPr>
                        <a:t>系统对输入数据进行技术验证，对系统技术错误信息进行屏蔽后提供统一反馈或提示。</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latin typeface="微软雅黑" panose="020B0503020204020204" pitchFamily="34" charset="-122"/>
                        <a:ea typeface="微软雅黑" panose="020B0503020204020204" pitchFamily="34" charset="-122"/>
                      </a:endParaRPr>
                    </a:p>
                  </a:txBody>
                  <a:tcPr vert="horz" anchor="ctr"/>
                </a:tc>
              </a:tr>
              <a:tr h="635635">
                <a:tc rowSpan="5">
                  <a:txBody>
                    <a:bodyPr/>
                    <a:p>
                      <a:pPr marL="0" lvl="0" indent="0" algn="ctr">
                        <a:lnSpc>
                          <a:spcPct val="100000"/>
                        </a:lnSpc>
                        <a:spcBef>
                          <a:spcPct val="0"/>
                        </a:spcBef>
                        <a:buFont typeface="Arial" panose="020B0604020202090204" charset="-36"/>
                        <a:buNone/>
                      </a:pPr>
                      <a:r>
                        <a:rPr lang="zh-CN" altLang="en-US" sz="1400"/>
                        <a:t>重要数据保护</a:t>
                      </a:r>
                      <a:endParaRPr lang="zh-CN" altLang="en-US" sz="1400"/>
                    </a:p>
                  </a:txBody>
                  <a:tcPr vert="horz" anchor="ctr"/>
                </a:tc>
                <a:tc>
                  <a:txBody>
                    <a:bodyPr/>
                    <a:p>
                      <a:pPr marL="0" lvl="0" indent="0" algn="ctr">
                        <a:lnSpc>
                          <a:spcPct val="100000"/>
                        </a:lnSpc>
                        <a:spcBef>
                          <a:spcPct val="0"/>
                        </a:spcBef>
                        <a:buFont typeface="Arial" panose="020B0604020202090204" charset="-36"/>
                        <a:buNone/>
                      </a:pPr>
                      <a:r>
                        <a:rPr lang="zh-CN" altLang="en-US" sz="1400"/>
                        <a:t>重要数据</a:t>
                      </a:r>
                      <a:endParaRPr lang="zh-CN" altLang="en-US" sz="1400"/>
                    </a:p>
                  </a:txBody>
                  <a:tcPr vert="horz" anchor="ctr"/>
                </a:tc>
                <a:tc>
                  <a:txBody>
                    <a:bodyPr/>
                    <a:p>
                      <a:pPr marL="0" indent="81280" algn="l">
                        <a:buClrTx/>
                        <a:buSzTx/>
                        <a:buFont typeface="Arial" panose="020B0604020202090204" charset="-36"/>
                        <a:buNone/>
                      </a:pPr>
                      <a:r>
                        <a:rPr lang="zh-CN" altLang="en-US" sz="1400" b="0" u="none" dirty="0">
                          <a:highlight>
                            <a:srgbClr val="D2DDF5"/>
                          </a:highlight>
                        </a:rPr>
                        <a:t>业务系统卸载</a:t>
                      </a:r>
                      <a:r>
                        <a:rPr lang="zh-CN" altLang="en-US" sz="1400" b="0" u="none" dirty="0">
                          <a:highlight>
                            <a:srgbClr val="D2DDF5"/>
                          </a:highlight>
                        </a:rPr>
                        <a:t>数据</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87045">
                <a:tc vMerge="1">
                  <a:tcPr vert="horz" anchor="ctr"/>
                </a:tc>
                <a:tc>
                  <a:txBody>
                    <a:bodyPr/>
                    <a:p>
                      <a:pPr marL="0" lvl="0" indent="0" algn="ctr">
                        <a:lnSpc>
                          <a:spcPct val="100000"/>
                        </a:lnSpc>
                        <a:spcBef>
                          <a:spcPct val="0"/>
                        </a:spcBef>
                        <a:buFont typeface="Arial" panose="020B0604020202090204" charset="-36"/>
                        <a:buNone/>
                      </a:pPr>
                      <a:r>
                        <a:rPr lang="zh-CN" altLang="en-US" sz="1400"/>
                        <a:t>完整性</a:t>
                      </a:r>
                      <a:endParaRPr lang="zh-CN" altLang="en-US" sz="1400"/>
                    </a:p>
                  </a:txBody>
                  <a:tcPr vert="horz" anchor="ctr"/>
                </a:tc>
                <a:tc>
                  <a:txBody>
                    <a:bodyPr/>
                    <a:p>
                      <a:pPr marL="0" indent="81280" algn="l">
                        <a:buClrTx/>
                        <a:buSzTx/>
                        <a:buFont typeface="Arial" panose="020B0604020202090204" charset="-36"/>
                        <a:buNone/>
                      </a:pPr>
                      <a:r>
                        <a:rPr lang="zh-CN" altLang="en-US" sz="1400" dirty="0">
                          <a:highlight>
                            <a:srgbClr val="D2DDF5"/>
                          </a:highlight>
                          <a:sym typeface="+mn-ea"/>
                        </a:rPr>
                        <a:t>使用</a:t>
                      </a:r>
                      <a:r>
                        <a:rPr lang="en-US" altLang="zh-CN" sz="1400" dirty="0">
                          <a:highlight>
                            <a:srgbClr val="D2DDF5"/>
                          </a:highlight>
                          <a:sym typeface="+mn-ea"/>
                        </a:rPr>
                        <a:t>SM3</a:t>
                      </a:r>
                      <a:r>
                        <a:rPr lang="zh-CN" altLang="en-US" sz="1400" dirty="0">
                          <a:highlight>
                            <a:srgbClr val="D2DDF5"/>
                          </a:highlight>
                          <a:sym typeface="+mn-ea"/>
                        </a:rPr>
                        <a:t>进行完整性校验</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14655">
                <a:tc vMerge="1">
                  <a:tcPr anchor="ctr" anchorCtr="0"/>
                </a:tc>
                <a:tc>
                  <a:txBody>
                    <a:bodyPr/>
                    <a:p>
                      <a:pPr marL="0" lvl="0" indent="0" algn="ctr">
                        <a:lnSpc>
                          <a:spcPct val="100000"/>
                        </a:lnSpc>
                        <a:spcBef>
                          <a:spcPct val="0"/>
                        </a:spcBef>
                        <a:buFont typeface="Arial" panose="020B0604020202090204" charset="-36"/>
                        <a:buNone/>
                      </a:pPr>
                      <a:r>
                        <a:rPr lang="zh-CN" altLang="en-US" sz="1400"/>
                        <a:t>保密性</a:t>
                      </a:r>
                      <a:endParaRPr lang="zh-CN" altLang="en-US" sz="1400"/>
                    </a:p>
                  </a:txBody>
                  <a:tcPr vert="horz" anchor="ctr"/>
                </a:tc>
                <a:tc>
                  <a:txBody>
                    <a:bodyPr/>
                    <a:p>
                      <a:pPr marL="0" indent="81280" algn="l">
                        <a:buClrTx/>
                        <a:buSzTx/>
                        <a:buFont typeface="Arial" panose="020B0604020202090204" charset="-36"/>
                        <a:buNone/>
                      </a:pPr>
                      <a:r>
                        <a:rPr lang="zh-CN" altLang="en-US" sz="1400" b="0" u="none" dirty="0">
                          <a:highlight>
                            <a:srgbClr val="D2DDF5"/>
                          </a:highlight>
                        </a:rPr>
                        <a:t>使用</a:t>
                      </a:r>
                      <a:r>
                        <a:rPr lang="en-US" altLang="zh-CN" sz="1400" b="0" u="none" dirty="0">
                          <a:highlight>
                            <a:srgbClr val="D2DDF5"/>
                          </a:highlight>
                        </a:rPr>
                        <a:t>SM4</a:t>
                      </a:r>
                      <a:r>
                        <a:rPr lang="zh-CN" altLang="en-US" sz="1400" b="0" u="none" dirty="0">
                          <a:highlight>
                            <a:srgbClr val="D2DDF5"/>
                          </a:highlight>
                        </a:rPr>
                        <a:t>对</a:t>
                      </a:r>
                      <a:r>
                        <a:rPr lang="zh-CN" altLang="en-US" sz="1400" dirty="0">
                          <a:highlight>
                            <a:srgbClr val="D2DDF5"/>
                          </a:highlight>
                          <a:sym typeface="+mn-ea"/>
                        </a:rPr>
                        <a:t>数据</a:t>
                      </a:r>
                      <a:r>
                        <a:rPr lang="zh-CN" altLang="en-US" sz="1400" b="0" u="none" dirty="0">
                          <a:highlight>
                            <a:srgbClr val="D2DDF5"/>
                          </a:highlight>
                        </a:rPr>
                        <a:t>进行存储加密</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492125">
                <a:tc vMerge="1">
                  <a:tcPr marL="90170" marR="90170" marT="46990" marB="46990" anchor="ctr" anchorCtr="1"/>
                </a:tc>
                <a:tc>
                  <a:txBody>
                    <a:bodyPr/>
                    <a:p>
                      <a:pPr marL="0" lvl="0" indent="0" algn="ctr">
                        <a:lnSpc>
                          <a:spcPct val="100000"/>
                        </a:lnSpc>
                        <a:spcBef>
                          <a:spcPct val="0"/>
                        </a:spcBef>
                        <a:buFont typeface="Arial" panose="020B0604020202090204" charset="-36"/>
                        <a:buNone/>
                      </a:pPr>
                      <a:r>
                        <a:rPr lang="zh-CN" altLang="en-US" sz="1400"/>
                        <a:t>不可否认性</a:t>
                      </a:r>
                      <a:endParaRPr lang="zh-CN" altLang="en-US" sz="1400"/>
                    </a:p>
                  </a:txBody>
                  <a:tcPr vert="horz" anchor="ctr"/>
                </a:tc>
                <a:tc>
                  <a:txBody>
                    <a:bodyPr/>
                    <a:p>
                      <a:pPr marL="0" indent="0" algn="l">
                        <a:buNone/>
                      </a:pPr>
                      <a:r>
                        <a:rPr lang="en-US" altLang="zh-CN"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配置信息记录等详细</a:t>
                      </a:r>
                      <a:r>
                        <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rPr>
                        <a:t>信息</a:t>
                      </a:r>
                      <a:endParaRPr lang="zh-CN" altLang="en-US" sz="1400">
                        <a:solidFill>
                          <a:srgbClr val="000000"/>
                        </a:solidFill>
                        <a:highlight>
                          <a:srgbClr val="D2DDF5"/>
                        </a:highligh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r h="515620">
                <a:tc vMerge="1">
                  <a:tcPr marL="90170" marR="90170" marT="46990" marB="46990" anchor="ctr" anchorCtr="1"/>
                </a:tc>
                <a:tc>
                  <a:txBody>
                    <a:bodyPr/>
                    <a:p>
                      <a:pPr marL="0" lvl="0" indent="0" algn="ctr">
                        <a:lnSpc>
                          <a:spcPct val="100000"/>
                        </a:lnSpc>
                        <a:spcBef>
                          <a:spcPct val="0"/>
                        </a:spcBef>
                        <a:buFont typeface="Arial" panose="020B0604020202090204" charset="-36"/>
                        <a:buNone/>
                      </a:pPr>
                      <a:r>
                        <a:rPr lang="zh-CN" altLang="en-US" sz="1400"/>
                        <a:t>个人信息保护</a:t>
                      </a:r>
                      <a:endParaRPr lang="zh-CN" altLang="en-US" sz="1400"/>
                    </a:p>
                  </a:txBody>
                  <a:tcPr vert="horz" anchor="ctr"/>
                </a:tc>
                <a:tc>
                  <a:txBody>
                    <a:bodyPr/>
                    <a:p>
                      <a:pPr marL="0" indent="81280" algn="l">
                        <a:buClrTx/>
                        <a:buSzTx/>
                        <a:buFont typeface="Arial" panose="020B0604020202090204" charset="-36"/>
                        <a:buNone/>
                      </a:pPr>
                      <a:r>
                        <a:rPr lang="zh-CN" altLang="en-US" sz="1400" b="0" u="none" dirty="0">
                          <a:highlight>
                            <a:srgbClr val="D2DDF5"/>
                          </a:highlight>
                        </a:rPr>
                        <a:t>不涉及</a:t>
                      </a:r>
                      <a:endParaRPr lang="zh-CN" altLang="en-US" sz="1400" b="0" u="none" dirty="0">
                        <a:highlight>
                          <a:srgbClr val="D2DDF5"/>
                        </a:highlight>
                      </a:endParaRPr>
                    </a:p>
                  </a:txBody>
                  <a:tcPr marL="0" marR="0" marT="0" marB="0" vert="horz" anchor="ctr"/>
                </a:tc>
                <a:tc>
                  <a:txBody>
                    <a:bodyPr/>
                    <a:p>
                      <a:pPr marL="0" lvl="0" indent="0" algn="ctr">
                        <a:lnSpc>
                          <a:spcPct val="100000"/>
                        </a:lnSpc>
                        <a:spcBef>
                          <a:spcPct val="0"/>
                        </a:spcBef>
                        <a:buFont typeface="Arial" panose="020B0604020202090204" charset="-36"/>
                        <a:buNone/>
                      </a:pPr>
                      <a:endParaRPr lang="zh-CN" altLang="en-US" sz="1400"/>
                    </a:p>
                  </a:txBody>
                  <a:tcPr vert="horz" anchor="ctr"/>
                </a:tc>
              </a:tr>
            </a:tbl>
          </a:graphicData>
        </a:graphic>
      </p:graphicFrame>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18</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标题 2"/>
          <p:cNvSpPr>
            <a:spLocks noGrp="1"/>
          </p:cNvSpPr>
          <p:nvPr>
            <p:ph type="title" idx="4294967295"/>
          </p:nvPr>
        </p:nvSpPr>
        <p:spPr>
          <a:xfrm>
            <a:off x="5368925" y="83185"/>
            <a:ext cx="6577330" cy="622935"/>
          </a:xfrm>
          <a:noFill/>
          <a:ln w="9525">
            <a:noFill/>
          </a:ln>
        </p:spPr>
        <p:txBody>
          <a:bodyPr vert="horz" wrap="square" lIns="91440" tIns="45720" rIns="91440" bIns="45720" rtlCol="0" anchor="ctr" anchorCtr="0">
            <a:noAutofit/>
          </a:bodyPr>
          <a:p>
            <a:pPr lvl="0" algn="r"/>
            <a:r>
              <a:rPr lang="en-US" altLang="zh-CN">
                <a:latin typeface="Arial" panose="020B0604020202090204" charset="-122"/>
                <a:sym typeface="宋体" panose="02010600030101010101" pitchFamily="2" charset="-122"/>
              </a:rPr>
              <a:t>2.4基础架构-技术架构</a:t>
            </a:r>
            <a:endParaRPr lang="en-US" altLang="zh-CN">
              <a:latin typeface="Arial" panose="020B0604020202090204" charset="-122"/>
              <a:sym typeface="宋体" panose="02010600030101010101" pitchFamily="2" charset="-122"/>
            </a:endParaRPr>
          </a:p>
        </p:txBody>
      </p:sp>
      <p:sp>
        <p:nvSpPr>
          <p:cNvPr id="163881" name="文本框 2"/>
          <p:cNvSpPr txBox="1"/>
          <p:nvPr/>
        </p:nvSpPr>
        <p:spPr>
          <a:xfrm>
            <a:off x="247333" y="6169978"/>
            <a:ext cx="3390900" cy="245110"/>
          </a:xfrm>
          <a:prstGeom prst="rect">
            <a:avLst/>
          </a:prstGeom>
          <a:noFill/>
          <a:ln w="9525">
            <a:noFill/>
          </a:ln>
        </p:spPr>
        <p:txBody>
          <a:bodyPr wrap="square" anchor="t">
            <a:spAutoFit/>
          </a:bodyPr>
          <a:p>
            <a:r>
              <a:rPr lang="zh-CN" altLang="en-US" sz="1000">
                <a:solidFill>
                  <a:schemeClr val="tx1"/>
                </a:solidFill>
                <a:latin typeface="微软雅黑" panose="020B0503020204020204" pitchFamily="34" charset="-122"/>
                <a:ea typeface="微软雅黑" panose="020B0503020204020204" pitchFamily="34" charset="-122"/>
              </a:rPr>
              <a:t>注：请保证本页材料可编辑</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p>
            <a:pPr fontAlgn="auto"/>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19</a:t>
            </a:r>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页</a:t>
            </a:r>
            <a:endPar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descr="技术架构"/>
          <p:cNvPicPr>
            <a:picLocks noChangeAspect="1"/>
          </p:cNvPicPr>
          <p:nvPr/>
        </p:nvPicPr>
        <p:blipFill>
          <a:blip r:embed="rId1"/>
          <a:stretch>
            <a:fillRect/>
          </a:stretch>
        </p:blipFill>
        <p:spPr>
          <a:xfrm>
            <a:off x="2309495" y="706120"/>
            <a:ext cx="7573010" cy="53041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标题 2"/>
          <p:cNvSpPr>
            <a:spLocks noGrp="1"/>
          </p:cNvSpPr>
          <p:nvPr>
            <p:ph type="title" idx="4294967295"/>
          </p:nvPr>
        </p:nvSpPr>
        <p:spPr>
          <a:xfrm>
            <a:off x="5368925" y="83185"/>
            <a:ext cx="6577330" cy="622935"/>
          </a:xfrm>
          <a:noFill/>
          <a:ln w="9525">
            <a:noFill/>
          </a:ln>
        </p:spPr>
        <p:txBody>
          <a:bodyPr vert="horz" wrap="square" lIns="91440" tIns="45720" rIns="91440" bIns="45720" rtlCol="0" anchor="ctr" anchorCtr="0">
            <a:noAutofit/>
          </a:bodyPr>
          <a:p>
            <a:pPr lvl="0" algn="r"/>
            <a:r>
              <a:rPr lang="en-US" altLang="zh-CN">
                <a:latin typeface="Arial" panose="020B0604020202090204" charset="-122"/>
                <a:sym typeface="宋体" panose="02010600030101010101" pitchFamily="2" charset="-122"/>
              </a:rPr>
              <a:t>2.3基础架构-技术架构</a:t>
            </a:r>
            <a:endParaRPr lang="en-US" altLang="zh-CN">
              <a:latin typeface="Arial" panose="020B0604020202090204" charset="-122"/>
              <a:sym typeface="宋体" panose="02010600030101010101" pitchFamily="2" charset="-122"/>
            </a:endParaRPr>
          </a:p>
        </p:txBody>
      </p:sp>
      <p:sp>
        <p:nvSpPr>
          <p:cNvPr id="163881" name="文本框 2"/>
          <p:cNvSpPr txBox="1"/>
          <p:nvPr/>
        </p:nvSpPr>
        <p:spPr>
          <a:xfrm>
            <a:off x="247333" y="6169978"/>
            <a:ext cx="3390900" cy="245110"/>
          </a:xfrm>
          <a:prstGeom prst="rect">
            <a:avLst/>
          </a:prstGeom>
          <a:noFill/>
          <a:ln w="9525">
            <a:noFill/>
          </a:ln>
        </p:spPr>
        <p:txBody>
          <a:bodyPr wrap="square" anchor="t">
            <a:spAutoFit/>
          </a:bodyPr>
          <a:p>
            <a:r>
              <a:rPr lang="zh-CN" altLang="en-US" sz="1000">
                <a:solidFill>
                  <a:schemeClr val="tx1"/>
                </a:solidFill>
                <a:latin typeface="微软雅黑" panose="020B0503020204020204" pitchFamily="34" charset="-122"/>
                <a:ea typeface="微软雅黑" panose="020B0503020204020204" pitchFamily="34" charset="-122"/>
              </a:rPr>
              <a:t>注：请保证本页材料可编辑</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p>
            <a:pPr fontAlgn="auto"/>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页</a:t>
            </a:r>
            <a:endParaRPr lang="zh-CN" altLang="en-US" sz="1000" strike="noStrike" noProof="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3070225" y="156146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反向代理</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7" name="矩形 6"/>
          <p:cNvSpPr/>
          <p:nvPr/>
        </p:nvSpPr>
        <p:spPr>
          <a:xfrm>
            <a:off x="3070225" y="2651760"/>
            <a:ext cx="5022850" cy="16129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后端服务</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a:xfrm>
            <a:off x="3070225" y="553783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操作系统</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nvSpPr>
        <p:spPr>
          <a:xfrm>
            <a:off x="3070225" y="4414203"/>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应用服务器</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3070225" y="4975860"/>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运行环境</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8" name="矩形 17"/>
          <p:cNvSpPr/>
          <p:nvPr/>
        </p:nvSpPr>
        <p:spPr>
          <a:xfrm>
            <a:off x="3989705" y="16313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Nginx</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5" name="矩形 24"/>
          <p:cNvSpPr/>
          <p:nvPr/>
        </p:nvSpPr>
        <p:spPr>
          <a:xfrm>
            <a:off x="3932555" y="2860675"/>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服务层</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4464050" y="2926715"/>
            <a:ext cx="827405"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业务逻辑</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3932555" y="3309620"/>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组件</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31" name="矩形 30"/>
          <p:cNvSpPr/>
          <p:nvPr/>
        </p:nvSpPr>
        <p:spPr>
          <a:xfrm>
            <a:off x="4464050" y="336105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XXLJob</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2" name="矩形 31"/>
          <p:cNvSpPr/>
          <p:nvPr/>
        </p:nvSpPr>
        <p:spPr>
          <a:xfrm>
            <a:off x="3932555" y="3758565"/>
            <a:ext cx="2087245" cy="3829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数据访问</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33" name="矩形 32"/>
          <p:cNvSpPr/>
          <p:nvPr/>
        </p:nvSpPr>
        <p:spPr>
          <a:xfrm>
            <a:off x="4662805" y="38157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Mybatis</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9" name="矩形 38"/>
          <p:cNvSpPr/>
          <p:nvPr/>
        </p:nvSpPr>
        <p:spPr>
          <a:xfrm>
            <a:off x="6158865" y="2840990"/>
            <a:ext cx="887095" cy="13093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a:lnSpc>
                <a:spcPct val="80000"/>
              </a:lnSpc>
            </a:pPr>
            <a:r>
              <a:rPr lang="zh-CN" altLang="en-US" sz="1000">
                <a:solidFill>
                  <a:schemeClr val="tx1"/>
                </a:solidFill>
                <a:latin typeface="微软雅黑" panose="020B0503020204020204" pitchFamily="34" charset="-122"/>
                <a:ea typeface="微软雅黑" panose="020B0503020204020204" pitchFamily="34" charset="-122"/>
              </a:rPr>
              <a:t>基础框架</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0" name="矩形 39"/>
          <p:cNvSpPr/>
          <p:nvPr/>
        </p:nvSpPr>
        <p:spPr>
          <a:xfrm>
            <a:off x="6278245" y="3077210"/>
            <a:ext cx="705485" cy="2851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中证开发平台框架</a:t>
            </a:r>
            <a:endPar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40"/>
          <p:cNvSpPr/>
          <p:nvPr/>
        </p:nvSpPr>
        <p:spPr>
          <a:xfrm>
            <a:off x="6278245" y="3437890"/>
            <a:ext cx="706755" cy="2940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Sl4j  Log4j</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5" name="矩形 44"/>
          <p:cNvSpPr/>
          <p:nvPr/>
        </p:nvSpPr>
        <p:spPr>
          <a:xfrm>
            <a:off x="4055110" y="4486275"/>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Tong Web</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6" name="矩形 45"/>
          <p:cNvSpPr/>
          <p:nvPr/>
        </p:nvSpPr>
        <p:spPr>
          <a:xfrm>
            <a:off x="4055110" y="504190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JVM</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7" name="矩形 46"/>
          <p:cNvSpPr/>
          <p:nvPr/>
        </p:nvSpPr>
        <p:spPr>
          <a:xfrm>
            <a:off x="4055110" y="5601335"/>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eaLnBrk="0" hangingPunct="0"/>
            <a:r>
              <a:rPr lang="zh-CN" altLang="en-US"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统信</a:t>
            </a:r>
            <a:r>
              <a:rPr lang="en-US" altLang="zh-CN"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UOS</a:t>
            </a:r>
            <a:endParaRPr lang="en-US" altLang="zh-CN" sz="10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矩形 49"/>
          <p:cNvSpPr/>
          <p:nvPr/>
        </p:nvSpPr>
        <p:spPr>
          <a:xfrm>
            <a:off x="6278245" y="3806190"/>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53" name="矩形 52"/>
          <p:cNvSpPr/>
          <p:nvPr/>
        </p:nvSpPr>
        <p:spPr>
          <a:xfrm>
            <a:off x="11535410" y="5332095"/>
            <a:ext cx="492125"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已有</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11535410" y="5748020"/>
            <a:ext cx="492125" cy="268605"/>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000">
                <a:solidFill>
                  <a:schemeClr val="tx1"/>
                </a:solidFill>
                <a:latin typeface="微软雅黑" panose="020B0503020204020204" pitchFamily="34" charset="-122"/>
                <a:ea typeface="微软雅黑" panose="020B0503020204020204" pitchFamily="34" charset="-122"/>
                <a:sym typeface="+mn-ea"/>
              </a:rPr>
              <a:t>新增</a:t>
            </a:r>
            <a:endParaRPr lang="en-US" altLang="zh-CN" sz="1000">
              <a:solidFill>
                <a:schemeClr val="tx1"/>
              </a:solidFill>
              <a:latin typeface="微软雅黑" panose="020B0503020204020204" pitchFamily="34" charset="-122"/>
              <a:ea typeface="微软雅黑" panose="020B0503020204020204" pitchFamily="34" charset="-122"/>
              <a:sym typeface="+mn-ea"/>
            </a:endParaRPr>
          </a:p>
        </p:txBody>
      </p:sp>
      <p:sp>
        <p:nvSpPr>
          <p:cNvPr id="15" name="矩形 14"/>
          <p:cNvSpPr/>
          <p:nvPr>
            <p:custDataLst>
              <p:tags r:id="rId1"/>
            </p:custDataLst>
          </p:nvPr>
        </p:nvSpPr>
        <p:spPr>
          <a:xfrm>
            <a:off x="5170170" y="449453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KingBase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3070225" y="96202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浏览器</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16" name="矩形 15"/>
          <p:cNvSpPr/>
          <p:nvPr/>
        </p:nvSpPr>
        <p:spPr>
          <a:xfrm>
            <a:off x="3989705" y="10344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Chrome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4821555" y="1034415"/>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a:solidFill>
                  <a:schemeClr val="tx1"/>
                </a:solidFill>
                <a:latin typeface="微软雅黑" panose="020B0503020204020204" pitchFamily="34" charset="-122"/>
                <a:ea typeface="微软雅黑" panose="020B0503020204020204" pitchFamily="34" charset="-122"/>
              </a:rPr>
              <a:t>奇安信</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3070225" y="2101215"/>
            <a:ext cx="5022850" cy="4127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000">
                <a:solidFill>
                  <a:schemeClr val="tx1"/>
                </a:solidFill>
                <a:latin typeface="微软雅黑" panose="020B0503020204020204" pitchFamily="34" charset="-122"/>
                <a:ea typeface="微软雅黑" panose="020B0503020204020204" pitchFamily="34" charset="-122"/>
              </a:rPr>
              <a:t>页面展现</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3989705" y="2165350"/>
            <a:ext cx="706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VUE</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 name="矩形 2"/>
          <p:cNvSpPr/>
          <p:nvPr>
            <p:custDataLst>
              <p:tags r:id="rId2"/>
            </p:custDataLst>
          </p:nvPr>
        </p:nvSpPr>
        <p:spPr>
          <a:xfrm>
            <a:off x="6263005" y="4485640"/>
            <a:ext cx="960120" cy="268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a:solidFill>
                  <a:schemeClr val="tx1"/>
                </a:solidFill>
                <a:latin typeface="微软雅黑" panose="020B0503020204020204" pitchFamily="34" charset="-122"/>
                <a:ea typeface="微软雅黑" panose="020B0503020204020204" pitchFamily="34" charset="-122"/>
              </a:rPr>
              <a:t>Redis</a:t>
            </a:r>
            <a:endParaRPr lang="en-US" altLang="zh-CN" sz="10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custDataLst>
              <p:tags r:id="rId1"/>
            </p:custDataLst>
          </p:nvPr>
        </p:nvGraphicFramePr>
        <p:xfrm>
          <a:off x="2258060" y="1104583"/>
          <a:ext cx="8176895" cy="4592320"/>
        </p:xfrm>
        <a:graphic>
          <a:graphicData uri="http://schemas.openxmlformats.org/drawingml/2006/table">
            <a:tbl>
              <a:tblPr firstRow="1" bandRow="1">
                <a:tableStyleId>{5C22544A-7EE6-4342-B048-85BDC9FD1C3A}</a:tableStyleId>
              </a:tblPr>
              <a:tblGrid>
                <a:gridCol w="1760220"/>
                <a:gridCol w="5393690"/>
                <a:gridCol w="1022985"/>
              </a:tblGrid>
              <a:tr h="308610">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类别</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zh-CN" sz="1400" b="1">
                          <a:solidFill>
                            <a:schemeClr val="bg1"/>
                          </a:solidFill>
                          <a:latin typeface="微软雅黑" panose="020B0503020204020204" pitchFamily="34" charset="-122"/>
                          <a:ea typeface="微软雅黑" panose="020B0503020204020204" pitchFamily="34" charset="-122"/>
                        </a:rPr>
                        <a:t>说明</a:t>
                      </a:r>
                      <a:endParaRPr lang="zh-CN" altLang="zh-CN" sz="1400" b="1">
                        <a:solidFill>
                          <a:schemeClr val="bg1"/>
                        </a:solidFill>
                        <a:latin typeface="微软雅黑" panose="020B0503020204020204" pitchFamily="34" charset="-122"/>
                        <a:ea typeface="微软雅黑" panose="020B0503020204020204" pitchFamily="34" charset="-122"/>
                      </a:endParaRPr>
                    </a:p>
                  </a:txBody>
                  <a:tcPr anchor="ctr" anchorCtr="0"/>
                </a:tc>
                <a:tc>
                  <a:txBody>
                    <a:bodyPr/>
                    <a:p>
                      <a:pPr algn="ctr">
                        <a:buNone/>
                      </a:pPr>
                      <a:r>
                        <a:rPr lang="zh-CN" sz="1400" b="1">
                          <a:solidFill>
                            <a:schemeClr val="bg1"/>
                          </a:solidFill>
                          <a:latin typeface="微软雅黑" panose="020B0503020204020204" pitchFamily="34" charset="-122"/>
                          <a:ea typeface="微软雅黑" panose="020B0503020204020204" pitchFamily="34" charset="-122"/>
                        </a:rPr>
                        <a:t>备注</a:t>
                      </a:r>
                      <a:endParaRPr lang="zh-CN" sz="1400" b="1">
                        <a:solidFill>
                          <a:schemeClr val="bg1"/>
                        </a:solidFill>
                        <a:latin typeface="微软雅黑" panose="020B0503020204020204" pitchFamily="34" charset="-122"/>
                        <a:ea typeface="微软雅黑" panose="020B0503020204020204" pitchFamily="34" charset="-122"/>
                      </a:endParaRPr>
                    </a:p>
                  </a:txBody>
                  <a:tcPr anchor="ctr" anchorCtr="0"/>
                </a:tc>
              </a:tr>
              <a:tr h="513715">
                <a:tc>
                  <a:txBody>
                    <a:bodyPr/>
                    <a:p>
                      <a:pPr marL="0" lvl="0" indent="0" algn="ctr">
                        <a:lnSpc>
                          <a:spcPct val="100000"/>
                        </a:lnSpc>
                        <a:spcBef>
                          <a:spcPct val="0"/>
                        </a:spcBef>
                        <a:buFont typeface="Arial" panose="020B0604020202090204" charset="-36"/>
                        <a:buNone/>
                      </a:pPr>
                      <a:r>
                        <a:rPr lang="zh-CN" altLang="en-US" sz="1400"/>
                        <a:t>访问控制</a:t>
                      </a:r>
                      <a:endParaRPr lang="zh-CN" altLang="en-US" sz="1400"/>
                    </a:p>
                  </a:txBody>
                  <a:tcPr vert="horz" anchor="ctr"/>
                </a:tc>
                <a:tc>
                  <a:txBody>
                    <a:bodyPr/>
                    <a:p>
                      <a:pPr marL="0" lvl="0" indent="0">
                        <a:lnSpc>
                          <a:spcPct val="100000"/>
                        </a:lnSpc>
                        <a:spcBef>
                          <a:spcPct val="0"/>
                        </a:spcBef>
                        <a:buFont typeface="Arial" panose="020B0604020202090204" charset="-36"/>
                        <a:buNone/>
                      </a:pPr>
                      <a:r>
                        <a:rPr lang="zh-CN" altLang="en-US" sz="1400" dirty="0"/>
                        <a:t>证联网服务采用权限中心统一做权限管控策略</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sym typeface="+mn-ea"/>
                        </a:rPr>
                        <a:t>适用</a:t>
                      </a:r>
                      <a:endParaRPr lang="zh-CN" altLang="en-US" sz="1400"/>
                    </a:p>
                  </a:txBody>
                  <a:tcPr vert="horz" anchor="ctr"/>
                </a:tc>
              </a:tr>
              <a:tr h="513715">
                <a:tc>
                  <a:txBody>
                    <a:bodyPr/>
                    <a:p>
                      <a:pPr marL="0" lvl="0" indent="0" algn="ctr">
                        <a:lnSpc>
                          <a:spcPct val="100000"/>
                        </a:lnSpc>
                        <a:spcBef>
                          <a:spcPct val="0"/>
                        </a:spcBef>
                        <a:buFont typeface="Arial" panose="020B0604020202090204" charset="-36"/>
                        <a:buNone/>
                      </a:pPr>
                      <a:r>
                        <a:rPr lang="zh-CN" altLang="en-US" sz="1400"/>
                        <a:t>前端组件</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SpreadJS表格控件、表单组件等统一前端组件</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455930">
                <a:tc>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rPr>
                        <a:t>脚手架</a:t>
                      </a:r>
                      <a:endParaRPr lang="zh-CN" altLang="en-US" sz="1400">
                        <a:latin typeface="微软雅黑" panose="020B0503020204020204" pitchFamily="34" charset="-122"/>
                        <a:ea typeface="微软雅黑" panose="020B0503020204020204" pitchFamily="34" charset="-122"/>
                      </a:endParaRPr>
                    </a:p>
                  </a:txBody>
                  <a:tcPr vert="horz" anchor="ctr"/>
                </a:tc>
                <a:tc>
                  <a:txBody>
                    <a:bodyPr/>
                    <a:p>
                      <a:pPr marL="0" lvl="0" algn="l">
                        <a:lnSpc>
                          <a:spcPct val="100000"/>
                        </a:lnSpc>
                        <a:buClrTx/>
                        <a:buSzTx/>
                        <a:buFont typeface="Arial" panose="020B0604020202090204" charset="-36"/>
                        <a:buNone/>
                      </a:pPr>
                      <a:r>
                        <a:rPr lang="zh-CN" altLang="en-US" sz="1400" dirty="0">
                          <a:sym typeface="+mn-ea"/>
                        </a:rPr>
                        <a:t>VUE +</a:t>
                      </a:r>
                      <a:r>
                        <a:rPr lang="zh-CN" altLang="en-US" sz="1400" dirty="0">
                          <a:sym typeface="微软雅黑" panose="020B0503020204020204" pitchFamily="34" charset="-122"/>
                        </a:rPr>
                        <a:t>csits-generator+中证开发平台</a:t>
                      </a:r>
                      <a:endParaRPr lang="zh-CN" altLang="en-US" sz="1400" dirty="0">
                        <a:sym typeface="微软雅黑" panose="020B0503020204020204" pitchFamily="34" charset="-122"/>
                      </a:endParaRPr>
                    </a:p>
                  </a:txBody>
                  <a:tcPr vert="horz" anchor="ctr"/>
                </a:tc>
                <a:tc>
                  <a:txBody>
                    <a:bodyPr/>
                    <a:p>
                      <a:pPr marL="0" lvl="0" indent="0" algn="ctr">
                        <a:lnSpc>
                          <a:spcPct val="100000"/>
                        </a:lnSpc>
                        <a:spcBef>
                          <a:spcPct val="0"/>
                        </a:spcBef>
                        <a:buFont typeface="Arial" panose="020B0604020202090204" charset="-36"/>
                        <a:buNone/>
                      </a:pPr>
                      <a:r>
                        <a:rPr lang="zh-CN" altLang="en-US" sz="1400">
                          <a:latin typeface="微软雅黑" panose="020B0503020204020204" pitchFamily="34" charset="-122"/>
                          <a:ea typeface="微软雅黑" panose="020B0503020204020204" pitchFamily="34" charset="-122"/>
                        </a:rPr>
                        <a:t>适用</a:t>
                      </a:r>
                      <a:endParaRPr lang="zh-CN" altLang="en-US" sz="1400">
                        <a:latin typeface="微软雅黑" panose="020B0503020204020204" pitchFamily="34" charset="-122"/>
                        <a:ea typeface="微软雅黑" panose="020B0503020204020204" pitchFamily="34" charset="-122"/>
                      </a:endParaRPr>
                    </a:p>
                  </a:txBody>
                  <a:tcPr vert="horz" anchor="ctr"/>
                </a:tc>
              </a:tr>
              <a:tr h="319405">
                <a:tc>
                  <a:txBody>
                    <a:bodyPr/>
                    <a:p>
                      <a:pPr marL="0" lvl="0" indent="0" algn="ctr">
                        <a:lnSpc>
                          <a:spcPct val="100000"/>
                        </a:lnSpc>
                        <a:spcBef>
                          <a:spcPct val="0"/>
                        </a:spcBef>
                        <a:buFont typeface="Arial" panose="020B0604020202090204" charset="-36"/>
                        <a:buNone/>
                      </a:pPr>
                      <a:r>
                        <a:rPr lang="zh-CN" altLang="en-US" sz="1400"/>
                        <a:t>工作流</a:t>
                      </a:r>
                      <a:endParaRPr lang="zh-CN" altLang="en-US" sz="1400"/>
                    </a:p>
                  </a:txBody>
                  <a:tcPr vert="horz" anchor="ctr"/>
                </a:tc>
                <a:tc>
                  <a:txBody>
                    <a:bodyPr/>
                    <a:p>
                      <a:pPr algn="l">
                        <a:buClrTx/>
                        <a:buSzTx/>
                        <a:buFont typeface="Arial" panose="020B0604020202090204" charset="-36"/>
                      </a:pPr>
                      <a:r>
                        <a:rPr lang="zh-CN" altLang="en-US" sz="1400" dirty="0">
                          <a:sym typeface="+mn-ea"/>
                        </a:rPr>
                        <a:t>中证工作流引擎</a:t>
                      </a:r>
                      <a:endParaRPr lang="zh-CN" altLang="en-US" sz="1400" dirty="0">
                        <a:sym typeface="+mn-ea"/>
                      </a:endParaRPr>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04800">
                <a:tc>
                  <a:txBody>
                    <a:bodyPr/>
                    <a:p>
                      <a:pPr marL="0" lvl="0" indent="0" algn="ctr">
                        <a:lnSpc>
                          <a:spcPct val="100000"/>
                        </a:lnSpc>
                        <a:spcBef>
                          <a:spcPct val="0"/>
                        </a:spcBef>
                        <a:buFont typeface="Arial" panose="020B0604020202090204" charset="-36"/>
                        <a:buNone/>
                      </a:pPr>
                      <a:r>
                        <a:rPr lang="zh-CN" altLang="en-US" sz="1400"/>
                        <a:t>任务调度</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中证任务调度平台（</a:t>
                      </a:r>
                      <a:r>
                        <a:rPr lang="en-US" altLang="zh-CN" sz="1400" dirty="0"/>
                        <a:t>xxljob</a:t>
                      </a:r>
                      <a:r>
                        <a:rPr lang="zh-CN" altLang="en-US" sz="1400" dirty="0"/>
                        <a:t>）</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适用</a:t>
                      </a:r>
                      <a:endParaRPr lang="zh-CN" altLang="en-US" sz="1400"/>
                    </a:p>
                  </a:txBody>
                  <a:tcPr vert="horz" anchor="ctr"/>
                </a:tc>
              </a:tr>
              <a:tr h="353060">
                <a:tc>
                  <a:txBody>
                    <a:bodyPr/>
                    <a:p>
                      <a:pPr marL="0" lvl="0" indent="0" algn="ctr">
                        <a:lnSpc>
                          <a:spcPct val="100000"/>
                        </a:lnSpc>
                        <a:spcBef>
                          <a:spcPct val="0"/>
                        </a:spcBef>
                        <a:buFont typeface="Arial" panose="020B0604020202090204" charset="-36"/>
                        <a:buNone/>
                      </a:pPr>
                      <a:r>
                        <a:rPr lang="en-US" altLang="zh-CN" sz="1400"/>
                        <a:t>ETL</a:t>
                      </a:r>
                      <a:endParaRPr lang="en-US" altLang="zh-CN" sz="1400"/>
                    </a:p>
                  </a:txBody>
                  <a:tcPr vert="horz" anchor="ctr"/>
                </a:tc>
                <a:tc>
                  <a:txBody>
                    <a:bodyPr/>
                    <a:p>
                      <a:pPr marL="0" lvl="0" algn="l">
                        <a:lnSpc>
                          <a:spcPct val="100000"/>
                        </a:lnSpc>
                        <a:buClrTx/>
                        <a:buSzTx/>
                        <a:buFont typeface="Arial" panose="020B0604020202090204" charset="-36"/>
                        <a:buNone/>
                      </a:pPr>
                      <a:r>
                        <a:rPr lang="zh-CN" altLang="en-US" sz="1400" dirty="0">
                          <a:sym typeface="+mn-ea"/>
                        </a:rPr>
                        <a:t>ETL工具（灵峰）</a:t>
                      </a:r>
                      <a:endParaRPr lang="zh-CN" altLang="en-US" sz="1400" dirty="0">
                        <a:sym typeface="+mn-ea"/>
                      </a:endParaRPr>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426085">
                <a:tc>
                  <a:txBody>
                    <a:bodyPr/>
                    <a:p>
                      <a:pPr marL="0" lvl="0" indent="0" algn="ctr">
                        <a:lnSpc>
                          <a:spcPct val="100000"/>
                        </a:lnSpc>
                        <a:spcBef>
                          <a:spcPct val="0"/>
                        </a:spcBef>
                        <a:buFont typeface="Arial" panose="020B0604020202090204" charset="-36"/>
                        <a:buNone/>
                      </a:pPr>
                      <a:r>
                        <a:rPr lang="zh-CN" altLang="en-US" sz="1400"/>
                        <a:t>模型平台</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指标数据</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37820">
                <a:tc>
                  <a:txBody>
                    <a:bodyPr/>
                    <a:p>
                      <a:pPr marL="0" lvl="0" indent="0" algn="ctr">
                        <a:lnSpc>
                          <a:spcPct val="100000"/>
                        </a:lnSpc>
                        <a:spcBef>
                          <a:spcPct val="0"/>
                        </a:spcBef>
                        <a:buFont typeface="Arial" panose="020B0604020202090204" charset="-36"/>
                        <a:buNone/>
                      </a:pPr>
                      <a:r>
                        <a:rPr lang="zh-CN" altLang="en-US" sz="1400"/>
                        <a:t>报表</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帆软报表</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53060">
                <a:tc>
                  <a:txBody>
                    <a:bodyPr/>
                    <a:p>
                      <a:pPr marL="0" lvl="0" indent="0" algn="ctr">
                        <a:lnSpc>
                          <a:spcPct val="100000"/>
                        </a:lnSpc>
                        <a:spcBef>
                          <a:spcPct val="0"/>
                        </a:spcBef>
                        <a:buFont typeface="Arial" panose="020B0604020202090204" charset="-36"/>
                        <a:buNone/>
                      </a:pPr>
                      <a:r>
                        <a:rPr lang="zh-CN" altLang="en-US" sz="1400"/>
                        <a:t>知识图谱</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使用知识图谱服务</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53060">
                <a:tc>
                  <a:txBody>
                    <a:bodyPr/>
                    <a:p>
                      <a:pPr marL="0" lvl="0" algn="ctr">
                        <a:lnSpc>
                          <a:spcPct val="100000"/>
                        </a:lnSpc>
                        <a:buClrTx/>
                        <a:buSzTx/>
                        <a:buFont typeface="Arial" panose="020B0604020202090204" charset="-36"/>
                        <a:buNone/>
                      </a:pPr>
                      <a:r>
                        <a:rPr lang="zh-CN" altLang="en-US" sz="1400"/>
                        <a:t>服务注册与发现</a:t>
                      </a:r>
                      <a:endParaRPr lang="zh-CN" altLang="en-US" sz="1400"/>
                    </a:p>
                  </a:txBody>
                  <a:tcPr vert="horz" anchor="ctr"/>
                </a:tc>
                <a:tc>
                  <a:txBody>
                    <a:bodyPr/>
                    <a:p>
                      <a:pPr marL="0" lvl="0" algn="l">
                        <a:lnSpc>
                          <a:spcPct val="100000"/>
                        </a:lnSpc>
                        <a:buClrTx/>
                        <a:buSzTx/>
                        <a:buFont typeface="Arial" panose="020B0604020202090204" charset="-36"/>
                        <a:buNone/>
                      </a:pPr>
                      <a:r>
                        <a:rPr lang="zh-CN" altLang="en-US" sz="1400" dirty="0"/>
                        <a:t>Nacos</a:t>
                      </a:r>
                      <a:endParaRPr lang="zh-CN" altLang="en-US" sz="1400" dirty="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r h="353060">
                <a:tc>
                  <a:txBody>
                    <a:bodyPr/>
                    <a:p>
                      <a:pPr marL="0" lvl="0" indent="0" algn="ctr">
                        <a:lnSpc>
                          <a:spcPct val="100000"/>
                        </a:lnSpc>
                        <a:spcBef>
                          <a:spcPct val="0"/>
                        </a:spcBef>
                        <a:buFont typeface="Arial" panose="020B0604020202090204" charset="-36"/>
                        <a:buNone/>
                      </a:pPr>
                      <a:r>
                        <a:rPr lang="zh-CN" altLang="en-US" sz="1400"/>
                        <a:t>全文搜索</a:t>
                      </a:r>
                      <a:endParaRPr lang="zh-CN" altLang="en-US" sz="1400"/>
                    </a:p>
                  </a:txBody>
                  <a:tcPr vert="horz" anchor="ctr"/>
                </a:tc>
                <a:tc>
                  <a:txBody>
                    <a:bodyPr/>
                    <a:p>
                      <a:pPr marL="0" lvl="0" indent="0">
                        <a:lnSpc>
                          <a:spcPct val="100000"/>
                        </a:lnSpc>
                        <a:spcBef>
                          <a:spcPct val="0"/>
                        </a:spcBef>
                        <a:buFont typeface="Arial" panose="020B0604020202090204" charset="-36"/>
                        <a:buNone/>
                      </a:pPr>
                      <a:r>
                        <a:rPr lang="zh-CN" altLang="en-US" sz="1400"/>
                        <a:t>ElasticSearch（证网已引入）或</a:t>
                      </a:r>
                      <a:r>
                        <a:rPr lang="en-US" altLang="zh-CN" sz="1400"/>
                        <a:t>S</a:t>
                      </a:r>
                      <a:r>
                        <a:rPr lang="zh-CN" altLang="en-US" sz="1400"/>
                        <a:t>olr（内网已引入）</a:t>
                      </a:r>
                      <a:endParaRPr lang="zh-CN" altLang="en-US" sz="1400"/>
                    </a:p>
                  </a:txBody>
                  <a:tcPr vert="horz" anchor="ctr"/>
                </a:tc>
                <a:tc>
                  <a:txBody>
                    <a:bodyPr/>
                    <a:p>
                      <a:pPr marL="0" lvl="0" indent="0" algn="ctr">
                        <a:lnSpc>
                          <a:spcPct val="100000"/>
                        </a:lnSpc>
                        <a:spcBef>
                          <a:spcPct val="0"/>
                        </a:spcBef>
                        <a:buFont typeface="Arial" panose="020B0604020202090204" charset="-36"/>
                        <a:buNone/>
                      </a:pPr>
                      <a:r>
                        <a:rPr lang="zh-CN" altLang="en-US" sz="1400">
                          <a:sym typeface="+mn-ea"/>
                        </a:rPr>
                        <a:t>不涉及</a:t>
                      </a:r>
                      <a:endParaRPr lang="zh-CN" altLang="en-US" sz="1400"/>
                    </a:p>
                  </a:txBody>
                  <a:tcPr vert="horz" anchor="ctr"/>
                </a:tc>
              </a:tr>
            </a:tbl>
          </a:graphicData>
        </a:graphic>
      </p:graphicFrame>
      <p:sp>
        <p:nvSpPr>
          <p:cNvPr id="163841" name="标题 2"/>
          <p:cNvSpPr>
            <a:spLocks noGrp="1"/>
          </p:cNvSpPr>
          <p:nvPr/>
        </p:nvSpPr>
        <p:spPr>
          <a:xfrm>
            <a:off x="5368925" y="83185"/>
            <a:ext cx="6577330" cy="622935"/>
          </a:xfrm>
          <a:prstGeom prst="rect">
            <a:avLst/>
          </a:prstGeom>
          <a:noFill/>
          <a:ln w="9525">
            <a:noFill/>
          </a:ln>
        </p:spPr>
        <p:txBody>
          <a:bodyPr vert="horz" wrap="square" lIns="91440" tIns="45720" rIns="91440" bIns="45720" rtlCol="0" anchor="ctr" anchorCtr="0">
            <a:noAutofit/>
          </a:bodyPr>
          <a:lstStyle>
            <a:lvl1pPr marL="0" marR="0" algn="r" defTabSz="914400" rtl="0" eaLnBrk="1" fontAlgn="auto" latinLnBrk="0" hangingPunct="1">
              <a:lnSpc>
                <a:spcPct val="90000"/>
              </a:lnSpc>
              <a:spcBef>
                <a:spcPct val="0"/>
              </a:spcBef>
              <a:buClrTx/>
              <a:buSzTx/>
              <a:buFontTx/>
              <a:buNone/>
              <a:defRPr kumimoji="0" lang="zh-CN" altLang="en-US" sz="2800" b="1" i="0" u="none" strike="noStrike" kern="1200" cap="none" spc="0" normalizeH="0" baseline="0" noProof="1" dirty="0">
                <a:solidFill>
                  <a:srgbClr val="002B69"/>
                </a:solidFill>
                <a:uFillTx/>
                <a:latin typeface="微软雅黑" panose="020B0503020204020204" pitchFamily="34" charset="-122"/>
                <a:ea typeface="微软雅黑" panose="020B0503020204020204" pitchFamily="34" charset="-122"/>
                <a:cs typeface="+mn-cs"/>
              </a:defRPr>
            </a:lvl1pPr>
          </a:lstStyle>
          <a:p>
            <a:r>
              <a:rPr lang="en-US" altLang="zh-CN">
                <a:latin typeface="Arial" panose="020B0604020202090204" charset="-122"/>
                <a:sym typeface="宋体" panose="02010600030101010101" pitchFamily="2" charset="-122"/>
              </a:rPr>
              <a:t>2.3</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dirty="0">
                <a:latin typeface="Arial" panose="020B0604020202090204" charset="-122"/>
                <a:sym typeface="宋体" panose="02010600030101010101" pitchFamily="2" charset="-122"/>
              </a:rPr>
              <a:t>技术路线自查表</a:t>
            </a:r>
            <a:endParaRPr lang="en-US" altLang="zh-CN" dirty="0">
              <a:latin typeface="Arial" panose="020B0604020202090204" charset="-122"/>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21</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2.3</a:t>
            </a:r>
            <a:r>
              <a:t>部署架构</a:t>
            </a: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22</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sp>
        <p:nvSpPr>
          <p:cNvPr id="37" name="文本框 36"/>
          <p:cNvSpPr txBox="1"/>
          <p:nvPr>
            <p:custDataLst>
              <p:tags r:id="rId1"/>
            </p:custDataLst>
          </p:nvPr>
        </p:nvSpPr>
        <p:spPr>
          <a:xfrm>
            <a:off x="5238115" y="3662680"/>
            <a:ext cx="809625" cy="257175"/>
          </a:xfrm>
          <a:prstGeom prst="rect">
            <a:avLst/>
          </a:prstGeom>
          <a:noFill/>
        </p:spPr>
        <p:txBody>
          <a:bodyPr wrap="none" rtlCol="0" anchor="t">
            <a:noAutofit/>
          </a:bodyPr>
          <a:p>
            <a:pPr algn="ctr"/>
            <a:r>
              <a:rPr lang="zh-CN" altLang="en-US" sz="1200">
                <a:sym typeface="+mn-ea"/>
              </a:rPr>
              <a:t>后端服务</a:t>
            </a:r>
            <a:endParaRPr lang="zh-CN" altLang="en-US" sz="1200">
              <a:sym typeface="+mn-ea"/>
            </a:endParaRPr>
          </a:p>
          <a:p>
            <a:pPr algn="ctr"/>
            <a:r>
              <a:rPr lang="zh-CN" altLang="en-US" sz="1200">
                <a:sym typeface="+mn-ea"/>
              </a:rPr>
              <a:t>（</a:t>
            </a:r>
            <a:r>
              <a:rPr lang="zh-CN" altLang="en-US" sz="1200">
                <a:sym typeface="+mn-ea"/>
              </a:rPr>
              <a:t>双活）</a:t>
            </a:r>
            <a:endParaRPr lang="zh-CN" altLang="en-US" sz="1200">
              <a:sym typeface="+mn-ea"/>
            </a:endParaRPr>
          </a:p>
        </p:txBody>
      </p:sp>
      <p:pic>
        <p:nvPicPr>
          <p:cNvPr id="19" name="图片 18"/>
          <p:cNvPicPr/>
          <p:nvPr>
            <p:custDataLst>
              <p:tags r:id="rId2"/>
            </p:custDataLst>
          </p:nvPr>
        </p:nvPicPr>
        <p:blipFill>
          <a:blip r:embed="rId3">
            <a:clrChange>
              <a:clrFrom>
                <a:srgbClr val="F6F6F6">
                  <a:alpha val="100000"/>
                </a:srgbClr>
              </a:clrFrom>
              <a:clrTo>
                <a:srgbClr val="F6F6F6">
                  <a:alpha val="100000"/>
                  <a:alpha val="0"/>
                </a:srgbClr>
              </a:clrTo>
            </a:clrChange>
          </a:blip>
          <a:stretch>
            <a:fillRect/>
          </a:stretch>
        </p:blipFill>
        <p:spPr>
          <a:xfrm>
            <a:off x="5401945" y="4314190"/>
            <a:ext cx="482600" cy="585470"/>
          </a:xfrm>
          <a:prstGeom prst="rect">
            <a:avLst/>
          </a:prstGeom>
          <a:noFill/>
          <a:ln w="9525">
            <a:noFill/>
          </a:ln>
        </p:spPr>
      </p:pic>
      <p:pic>
        <p:nvPicPr>
          <p:cNvPr id="20" name="图片 19"/>
          <p:cNvPicPr/>
          <p:nvPr>
            <p:custDataLst>
              <p:tags r:id="rId4"/>
            </p:custDataLst>
          </p:nvPr>
        </p:nvPicPr>
        <p:blipFill>
          <a:blip r:embed="rId5">
            <a:clrChange>
              <a:clrFrom>
                <a:srgbClr val="FFFFFF">
                  <a:alpha val="100000"/>
                </a:srgbClr>
              </a:clrFrom>
              <a:clrTo>
                <a:srgbClr val="FFFFFF">
                  <a:alpha val="100000"/>
                  <a:alpha val="0"/>
                </a:srgbClr>
              </a:clrTo>
            </a:clrChange>
          </a:blip>
          <a:stretch>
            <a:fillRect/>
          </a:stretch>
        </p:blipFill>
        <p:spPr>
          <a:xfrm>
            <a:off x="2896553" y="1506220"/>
            <a:ext cx="868045" cy="770255"/>
          </a:xfrm>
          <a:prstGeom prst="rect">
            <a:avLst/>
          </a:prstGeom>
          <a:noFill/>
          <a:ln w="9525">
            <a:noFill/>
          </a:ln>
        </p:spPr>
      </p:pic>
      <p:cxnSp>
        <p:nvCxnSpPr>
          <p:cNvPr id="21" name="直接箭头连接符 20"/>
          <p:cNvCxnSpPr/>
          <p:nvPr>
            <p:custDataLst>
              <p:tags r:id="rId6"/>
            </p:custDataLst>
          </p:nvPr>
        </p:nvCxnSpPr>
        <p:spPr>
          <a:xfrm flipH="1">
            <a:off x="4441825" y="2120900"/>
            <a:ext cx="0" cy="62166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4" name="文本框 73"/>
          <p:cNvSpPr txBox="1"/>
          <p:nvPr>
            <p:custDataLst>
              <p:tags r:id="rId7"/>
            </p:custDataLst>
          </p:nvPr>
        </p:nvSpPr>
        <p:spPr>
          <a:xfrm>
            <a:off x="5041265" y="4899660"/>
            <a:ext cx="1097280" cy="460375"/>
          </a:xfrm>
          <a:prstGeom prst="rect">
            <a:avLst/>
          </a:prstGeom>
          <a:noFill/>
        </p:spPr>
        <p:txBody>
          <a:bodyPr wrap="none" rtlCol="0" anchor="t">
            <a:spAutoFit/>
          </a:bodyPr>
          <a:p>
            <a:pPr algn="ctr"/>
            <a:r>
              <a:rPr lang="zh-CN" altLang="en-US" sz="1200" dirty="0">
                <a:sym typeface="+mn-ea"/>
              </a:rPr>
              <a:t>数据库服务器</a:t>
            </a:r>
            <a:endParaRPr lang="zh-CN" altLang="en-US" sz="1200" dirty="0">
              <a:sym typeface="+mn-ea"/>
            </a:endParaRPr>
          </a:p>
          <a:p>
            <a:pPr algn="ctr"/>
            <a:r>
              <a:rPr lang="zh-CN" altLang="en-US" sz="1200" dirty="0">
                <a:sym typeface="+mn-ea"/>
              </a:rPr>
              <a:t>（主从）</a:t>
            </a:r>
            <a:endParaRPr lang="zh-CN" altLang="en-US" sz="1200">
              <a:sym typeface="+mn-ea"/>
            </a:endParaRPr>
          </a:p>
        </p:txBody>
      </p:sp>
      <p:sp>
        <p:nvSpPr>
          <p:cNvPr id="22" name="文本框 21"/>
          <p:cNvSpPr txBox="1"/>
          <p:nvPr>
            <p:custDataLst>
              <p:tags r:id="rId8"/>
            </p:custDataLst>
          </p:nvPr>
        </p:nvSpPr>
        <p:spPr>
          <a:xfrm>
            <a:off x="3124835" y="2276475"/>
            <a:ext cx="487680" cy="275590"/>
          </a:xfrm>
          <a:prstGeom prst="rect">
            <a:avLst/>
          </a:prstGeom>
          <a:noFill/>
        </p:spPr>
        <p:txBody>
          <a:bodyPr wrap="none" rtlCol="0" anchor="t">
            <a:spAutoFit/>
          </a:bodyPr>
          <a:p>
            <a:pPr algn="ctr"/>
            <a:r>
              <a:rPr lang="zh-CN" altLang="en-US" sz="1200">
                <a:sym typeface="+mn-ea"/>
              </a:rPr>
              <a:t>终端</a:t>
            </a:r>
            <a:endParaRPr lang="zh-CN" altLang="en-US" sz="1200">
              <a:sym typeface="+mn-ea"/>
            </a:endParaRPr>
          </a:p>
        </p:txBody>
      </p:sp>
      <p:pic>
        <p:nvPicPr>
          <p:cNvPr id="81" name="图片 80"/>
          <p:cNvPicPr/>
          <p:nvPr>
            <p:custDataLst>
              <p:tags r:id="rId9"/>
            </p:custDataLst>
          </p:nvPr>
        </p:nvPicPr>
        <p:blipFill>
          <a:blip r:embed="rId10">
            <a:clrChange>
              <a:clrFrom>
                <a:srgbClr val="FFFFFF">
                  <a:alpha val="100000"/>
                </a:srgbClr>
              </a:clrFrom>
              <a:clrTo>
                <a:srgbClr val="FFFFFF">
                  <a:alpha val="100000"/>
                  <a:alpha val="0"/>
                </a:srgbClr>
              </a:clrTo>
            </a:clrChange>
          </a:blip>
          <a:stretch>
            <a:fillRect/>
          </a:stretch>
        </p:blipFill>
        <p:spPr>
          <a:xfrm>
            <a:off x="4157345" y="2847340"/>
            <a:ext cx="521335" cy="815340"/>
          </a:xfrm>
          <a:prstGeom prst="rect">
            <a:avLst/>
          </a:prstGeom>
          <a:noFill/>
          <a:ln w="9525">
            <a:noFill/>
          </a:ln>
        </p:spPr>
      </p:pic>
      <p:pic>
        <p:nvPicPr>
          <p:cNvPr id="24" name="图片 23"/>
          <p:cNvPicPr/>
          <p:nvPr>
            <p:custDataLst>
              <p:tags r:id="rId11"/>
            </p:custDataLst>
          </p:nvPr>
        </p:nvPicPr>
        <p:blipFill>
          <a:blip r:embed="rId12">
            <a:clrChange>
              <a:clrFrom>
                <a:srgbClr val="FFFFFF">
                  <a:alpha val="100000"/>
                </a:srgbClr>
              </a:clrFrom>
              <a:clrTo>
                <a:srgbClr val="FFFFFF">
                  <a:alpha val="100000"/>
                  <a:alpha val="0"/>
                </a:srgbClr>
              </a:clrTo>
            </a:clrChange>
          </a:blip>
          <a:stretch>
            <a:fillRect/>
          </a:stretch>
        </p:blipFill>
        <p:spPr>
          <a:xfrm>
            <a:off x="4157345" y="1661795"/>
            <a:ext cx="545465" cy="459105"/>
          </a:xfrm>
          <a:prstGeom prst="rect">
            <a:avLst/>
          </a:prstGeom>
          <a:noFill/>
          <a:ln w="9525">
            <a:noFill/>
          </a:ln>
        </p:spPr>
      </p:pic>
      <p:cxnSp>
        <p:nvCxnSpPr>
          <p:cNvPr id="25" name="直接箭头连接符 24"/>
          <p:cNvCxnSpPr>
            <a:stCxn id="20" idx="3"/>
          </p:cNvCxnSpPr>
          <p:nvPr>
            <p:custDataLst>
              <p:tags r:id="rId13"/>
            </p:custDataLst>
          </p:nvPr>
        </p:nvCxnSpPr>
        <p:spPr>
          <a:xfrm>
            <a:off x="3764915" y="1891665"/>
            <a:ext cx="39243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文本框 29"/>
          <p:cNvSpPr txBox="1"/>
          <p:nvPr>
            <p:custDataLst>
              <p:tags r:id="rId14"/>
            </p:custDataLst>
          </p:nvPr>
        </p:nvSpPr>
        <p:spPr>
          <a:xfrm>
            <a:off x="4655820" y="1553210"/>
            <a:ext cx="571500" cy="275590"/>
          </a:xfrm>
          <a:prstGeom prst="rect">
            <a:avLst/>
          </a:prstGeom>
          <a:noFill/>
        </p:spPr>
        <p:txBody>
          <a:bodyPr wrap="none" rtlCol="0" anchor="t">
            <a:spAutoFit/>
          </a:bodyPr>
          <a:p>
            <a:pPr algn="ctr"/>
            <a:r>
              <a:rPr lang="en-US" altLang="zh-CN" sz="1200">
                <a:sym typeface="+mn-ea"/>
              </a:rPr>
              <a:t>Nginx</a:t>
            </a:r>
            <a:endParaRPr lang="en-US" altLang="zh-CN" sz="1200">
              <a:sym typeface="+mn-ea"/>
            </a:endParaRPr>
          </a:p>
        </p:txBody>
      </p:sp>
      <p:sp>
        <p:nvSpPr>
          <p:cNvPr id="33" name="文本框 32"/>
          <p:cNvSpPr txBox="1"/>
          <p:nvPr>
            <p:custDataLst>
              <p:tags r:id="rId15"/>
            </p:custDataLst>
          </p:nvPr>
        </p:nvSpPr>
        <p:spPr>
          <a:xfrm>
            <a:off x="3490595" y="1553210"/>
            <a:ext cx="792480" cy="275590"/>
          </a:xfrm>
          <a:prstGeom prst="rect">
            <a:avLst/>
          </a:prstGeom>
          <a:noFill/>
        </p:spPr>
        <p:txBody>
          <a:bodyPr wrap="none" rtlCol="0" anchor="t">
            <a:spAutoFit/>
          </a:bodyPr>
          <a:p>
            <a:pPr algn="ctr"/>
            <a:r>
              <a:rPr lang="zh-CN" altLang="en-US" sz="1200">
                <a:sym typeface="+mn-ea"/>
              </a:rPr>
              <a:t>域名解析</a:t>
            </a:r>
            <a:endParaRPr lang="zh-CN" altLang="en-US" sz="1200">
              <a:sym typeface="+mn-ea"/>
            </a:endParaRPr>
          </a:p>
        </p:txBody>
      </p:sp>
      <p:pic>
        <p:nvPicPr>
          <p:cNvPr id="34" name="图片 33"/>
          <p:cNvPicPr/>
          <p:nvPr>
            <p:custDataLst>
              <p:tags r:id="rId16"/>
            </p:custDataLst>
          </p:nvPr>
        </p:nvPicPr>
        <p:blipFill>
          <a:blip r:embed="rId10">
            <a:clrChange>
              <a:clrFrom>
                <a:srgbClr val="FFFFFF">
                  <a:alpha val="100000"/>
                </a:srgbClr>
              </a:clrFrom>
              <a:clrTo>
                <a:srgbClr val="FFFFFF">
                  <a:alpha val="100000"/>
                  <a:alpha val="0"/>
                </a:srgbClr>
              </a:clrTo>
            </a:clrChange>
          </a:blip>
          <a:stretch>
            <a:fillRect/>
          </a:stretch>
        </p:blipFill>
        <p:spPr>
          <a:xfrm>
            <a:off x="5362893" y="2785745"/>
            <a:ext cx="521335" cy="896620"/>
          </a:xfrm>
          <a:prstGeom prst="rect">
            <a:avLst/>
          </a:prstGeom>
          <a:noFill/>
          <a:ln w="9525">
            <a:noFill/>
          </a:ln>
        </p:spPr>
      </p:pic>
      <p:sp>
        <p:nvSpPr>
          <p:cNvPr id="40" name="文本框 39"/>
          <p:cNvSpPr txBox="1"/>
          <p:nvPr>
            <p:custDataLst>
              <p:tags r:id="rId17"/>
            </p:custDataLst>
          </p:nvPr>
        </p:nvSpPr>
        <p:spPr>
          <a:xfrm>
            <a:off x="4045585" y="3606165"/>
            <a:ext cx="792480" cy="460375"/>
          </a:xfrm>
          <a:prstGeom prst="rect">
            <a:avLst/>
          </a:prstGeom>
          <a:noFill/>
        </p:spPr>
        <p:txBody>
          <a:bodyPr wrap="none" rtlCol="0" anchor="t">
            <a:spAutoFit/>
          </a:bodyPr>
          <a:p>
            <a:pPr algn="ctr"/>
            <a:r>
              <a:rPr lang="zh-CN" altLang="en-US" sz="1200">
                <a:sym typeface="+mn-ea"/>
              </a:rPr>
              <a:t>前端服务</a:t>
            </a:r>
            <a:endParaRPr lang="zh-CN" altLang="en-US" sz="1200">
              <a:sym typeface="+mn-ea"/>
            </a:endParaRPr>
          </a:p>
          <a:p>
            <a:pPr algn="ctr"/>
            <a:r>
              <a:rPr lang="zh-CN" altLang="en-US" sz="1200">
                <a:sym typeface="+mn-ea"/>
              </a:rPr>
              <a:t>（</a:t>
            </a:r>
            <a:r>
              <a:rPr lang="zh-CN" altLang="en-US" sz="1200">
                <a:sym typeface="+mn-ea"/>
              </a:rPr>
              <a:t>双活）</a:t>
            </a:r>
            <a:endParaRPr lang="zh-CN" altLang="en-US" sz="1200">
              <a:sym typeface="+mn-ea"/>
            </a:endParaRPr>
          </a:p>
        </p:txBody>
      </p:sp>
      <p:cxnSp>
        <p:nvCxnSpPr>
          <p:cNvPr id="42" name="直接箭头连接符 41"/>
          <p:cNvCxnSpPr/>
          <p:nvPr>
            <p:custDataLst>
              <p:tags r:id="rId18"/>
            </p:custDataLst>
          </p:nvPr>
        </p:nvCxnSpPr>
        <p:spPr>
          <a:xfrm flipH="1">
            <a:off x="5561330" y="4067175"/>
            <a:ext cx="0" cy="20574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81" idx="3"/>
            <a:endCxn id="34" idx="1"/>
          </p:cNvCxnSpPr>
          <p:nvPr>
            <p:custDataLst>
              <p:tags r:id="rId19"/>
            </p:custDataLst>
          </p:nvPr>
        </p:nvCxnSpPr>
        <p:spPr>
          <a:xfrm flipV="1">
            <a:off x="4678680" y="3234055"/>
            <a:ext cx="68453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矩形 64"/>
          <p:cNvSpPr/>
          <p:nvPr>
            <p:custDataLst>
              <p:tags r:id="rId20"/>
            </p:custDataLst>
          </p:nvPr>
        </p:nvSpPr>
        <p:spPr>
          <a:xfrm>
            <a:off x="3785235" y="2742565"/>
            <a:ext cx="1235710" cy="132397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66" name="文本框 65"/>
          <p:cNvSpPr txBox="1"/>
          <p:nvPr>
            <p:custDataLst>
              <p:tags r:id="rId21"/>
            </p:custDataLst>
          </p:nvPr>
        </p:nvSpPr>
        <p:spPr>
          <a:xfrm>
            <a:off x="4655820" y="2742565"/>
            <a:ext cx="652780" cy="256540"/>
          </a:xfrm>
          <a:prstGeom prst="rect">
            <a:avLst/>
          </a:prstGeom>
          <a:noFill/>
        </p:spPr>
        <p:txBody>
          <a:bodyPr wrap="square" rtlCol="0" anchor="t">
            <a:noAutofit/>
          </a:bodyPr>
          <a:p>
            <a:r>
              <a:rPr lang="en-US" altLang="zh-CN" sz="1000" b="1">
                <a:sym typeface="+mn-ea"/>
              </a:rPr>
              <a:t>W</a:t>
            </a:r>
            <a:r>
              <a:rPr lang="en-US" altLang="zh-CN" sz="1000" b="1">
                <a:sym typeface="+mn-ea"/>
              </a:rPr>
              <a:t>eb VPC</a:t>
            </a:r>
            <a:endParaRPr lang="en-US" altLang="zh-CN" sz="1000" b="1">
              <a:sym typeface="+mn-ea"/>
            </a:endParaRPr>
          </a:p>
        </p:txBody>
      </p:sp>
      <p:sp>
        <p:nvSpPr>
          <p:cNvPr id="68" name="矩形 67"/>
          <p:cNvSpPr/>
          <p:nvPr>
            <p:custDataLst>
              <p:tags r:id="rId22"/>
            </p:custDataLst>
          </p:nvPr>
        </p:nvSpPr>
        <p:spPr>
          <a:xfrm>
            <a:off x="5067300" y="2742565"/>
            <a:ext cx="1104900" cy="1323975"/>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467" name="文本框 466"/>
          <p:cNvSpPr txBox="1"/>
          <p:nvPr>
            <p:custDataLst>
              <p:tags r:id="rId23"/>
            </p:custDataLst>
          </p:nvPr>
        </p:nvSpPr>
        <p:spPr>
          <a:xfrm>
            <a:off x="5561330" y="2742565"/>
            <a:ext cx="610870" cy="368300"/>
          </a:xfrm>
          <a:prstGeom prst="rect">
            <a:avLst/>
          </a:prstGeom>
          <a:noFill/>
        </p:spPr>
        <p:txBody>
          <a:bodyPr wrap="square" rtlCol="0">
            <a:noAutofit/>
          </a:bodyPr>
          <a:p>
            <a:pPr algn="r"/>
            <a:r>
              <a:rPr lang="en-US" altLang="zh-CN" sz="1000" b="1"/>
              <a:t>APP VPC</a:t>
            </a:r>
            <a:endParaRPr lang="en-US" altLang="zh-CN" sz="1000" b="1"/>
          </a:p>
        </p:txBody>
      </p:sp>
      <p:sp>
        <p:nvSpPr>
          <p:cNvPr id="69" name="矩形 68"/>
          <p:cNvSpPr/>
          <p:nvPr>
            <p:custDataLst>
              <p:tags r:id="rId24"/>
            </p:custDataLst>
          </p:nvPr>
        </p:nvSpPr>
        <p:spPr>
          <a:xfrm>
            <a:off x="5088255" y="4228465"/>
            <a:ext cx="1159510" cy="1131570"/>
          </a:xfrm>
          <a:prstGeom prst="rect">
            <a:avLst/>
          </a:prstGeom>
          <a:noFill/>
          <a:ln>
            <a:prstDash val="dash"/>
          </a:ln>
        </p:spPr>
        <p:style>
          <a:lnRef idx="2">
            <a:schemeClr val="dk1"/>
          </a:lnRef>
          <a:fillRef idx="1">
            <a:schemeClr val="lt1"/>
          </a:fillRef>
          <a:effectRef idx="0">
            <a:schemeClr val="dk1"/>
          </a:effectRef>
          <a:fontRef idx="minor">
            <a:schemeClr val="dk1"/>
          </a:fontRef>
        </p:style>
        <p:txBody>
          <a:bodyPr rtlCol="0" anchor="ctr"/>
          <a:p>
            <a:pPr algn="ctr"/>
            <a:endParaRPr lang="zh-CN" altLang="en-US"/>
          </a:p>
        </p:txBody>
      </p:sp>
      <p:sp>
        <p:nvSpPr>
          <p:cNvPr id="70" name="文本框 69"/>
          <p:cNvSpPr txBox="1"/>
          <p:nvPr>
            <p:custDataLst>
              <p:tags r:id="rId25"/>
            </p:custDataLst>
          </p:nvPr>
        </p:nvSpPr>
        <p:spPr>
          <a:xfrm>
            <a:off x="5802630" y="4272915"/>
            <a:ext cx="521335" cy="368935"/>
          </a:xfrm>
          <a:prstGeom prst="rect">
            <a:avLst/>
          </a:prstGeom>
          <a:noFill/>
        </p:spPr>
        <p:txBody>
          <a:bodyPr wrap="square" rtlCol="0">
            <a:noAutofit/>
          </a:bodyPr>
          <a:p>
            <a:pPr algn="r"/>
            <a:r>
              <a:rPr lang="en-US" altLang="zh-CN" sz="1000" b="1"/>
              <a:t>DB</a:t>
            </a:r>
            <a:endParaRPr lang="en-US" altLang="zh-CN" sz="1000" b="1"/>
          </a:p>
          <a:p>
            <a:pPr algn="r"/>
            <a:r>
              <a:rPr lang="en-US" altLang="zh-CN" sz="1000" b="1"/>
              <a:t>VPC</a:t>
            </a:r>
            <a:endParaRPr lang="en-US" altLang="zh-CN" sz="10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标题 2"/>
          <p:cNvSpPr>
            <a:spLocks noGrp="1"/>
          </p:cNvSpPr>
          <p:nvPr>
            <p:ph type="title"/>
          </p:nvPr>
        </p:nvSpPr>
        <p:spPr/>
        <p:txBody>
          <a:bodyPr wrap="square" lIns="91440" tIns="45720" rIns="91440" bIns="45720" anchor="ctr"/>
          <a:lstStyle/>
          <a:p>
            <a:pPr defTabSz="685800"/>
            <a:r>
              <a:rPr lang="en-US" altLang="zh-CN" dirty="0">
                <a:latin typeface="Arial" panose="020B0604020202090204" pitchFamily="34" charset="0"/>
                <a:sym typeface="宋体" panose="02010600030101010101" pitchFamily="2" charset="-122"/>
              </a:rPr>
              <a:t>2.3</a:t>
            </a:r>
            <a:r>
              <a:rPr lang="zh-CN" altLang="en-US" dirty="0">
                <a:latin typeface="Arial" panose="020B0604020202090204" pitchFamily="34" charset="0"/>
                <a:sym typeface="宋体" panose="02010600030101010101" pitchFamily="2" charset="-122"/>
              </a:rPr>
              <a:t>资源估算</a:t>
            </a:r>
            <a:r>
              <a:rPr lang="en-US" altLang="zh-CN" dirty="0">
                <a:latin typeface="Arial" panose="020B0604020202090204" pitchFamily="34" charset="0"/>
                <a:sym typeface="宋体" panose="02010600030101010101" pitchFamily="2" charset="-122"/>
              </a:rPr>
              <a:t>-</a:t>
            </a:r>
            <a:r>
              <a:rPr lang="zh-CN" altLang="en-US" dirty="0">
                <a:latin typeface="Arial" panose="020B0604020202090204" pitchFamily="34" charset="0"/>
                <a:sym typeface="宋体" panose="02010600030101010101" pitchFamily="2" charset="-122"/>
              </a:rPr>
              <a:t>软硬件估算</a:t>
            </a:r>
            <a:endParaRPr lang="zh-CN" altLang="en-US" dirty="0">
              <a:latin typeface="Arial" panose="020B0604020202090204" pitchFamily="34" charset="0"/>
              <a:sym typeface="宋体" panose="02010600030101010101" pitchFamily="2" charset="-122"/>
            </a:endParaRPr>
          </a:p>
        </p:txBody>
      </p:sp>
      <p:sp>
        <p:nvSpPr>
          <p:cNvPr id="2" name="灯片编号占位符 3"/>
          <p:cNvSpPr>
            <a:spLocks noGrp="1"/>
          </p:cNvSpPr>
          <p:nvPr/>
        </p:nvSpPr>
        <p:spPr>
          <a:xfrm>
            <a:off x="4886113" y="6492875"/>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r>
              <a:rPr lang="zh-CN" altLang="en-US" strike="noStrike" noProof="1">
                <a:latin typeface="黑体" panose="02010609060101010101" charset="-122"/>
                <a:ea typeface="黑体" panose="02010609060101010101" charset="-122"/>
                <a:cs typeface="+mn-cs"/>
              </a:rPr>
              <a:t>第</a:t>
            </a:r>
            <a:r>
              <a:rPr lang="en-US" altLang="zh-CN" strike="noStrike" noProof="1">
                <a:latin typeface="黑体" panose="02010609060101010101" charset="-122"/>
                <a:ea typeface="黑体" panose="02010609060101010101" charset="-122"/>
                <a:cs typeface="+mn-cs"/>
              </a:rPr>
              <a:t>23</a:t>
            </a:r>
            <a:r>
              <a:rPr lang="zh-CN" altLang="en-US" strike="noStrike" noProof="1">
                <a:latin typeface="黑体" panose="02010609060101010101" charset="-122"/>
                <a:ea typeface="黑体" panose="02010609060101010101" charset="-122"/>
                <a:cs typeface="+mn-cs"/>
              </a:rPr>
              <a:t>页</a:t>
            </a:r>
            <a:endParaRPr lang="zh-CN" altLang="en-US" strike="noStrike" noProof="1"/>
          </a:p>
        </p:txBody>
      </p:sp>
      <p:graphicFrame>
        <p:nvGraphicFramePr>
          <p:cNvPr id="16" name="表格 15"/>
          <p:cNvGraphicFramePr/>
          <p:nvPr>
            <p:custDataLst>
              <p:tags r:id="rId1"/>
            </p:custDataLst>
          </p:nvPr>
        </p:nvGraphicFramePr>
        <p:xfrm>
          <a:off x="125730" y="726440"/>
          <a:ext cx="5739765" cy="6029325"/>
        </p:xfrm>
        <a:graphic>
          <a:graphicData uri="http://schemas.openxmlformats.org/drawingml/2006/table">
            <a:tbl>
              <a:tblPr firstRow="1">
                <a:tableStyleId>{5C22544A-7EE6-4342-B048-85BDC9FD1C3A}</a:tableStyleId>
              </a:tblPr>
              <a:tblGrid>
                <a:gridCol w="1001395"/>
                <a:gridCol w="714375"/>
                <a:gridCol w="756920"/>
                <a:gridCol w="676275"/>
                <a:gridCol w="509270"/>
                <a:gridCol w="603250"/>
                <a:gridCol w="545465"/>
                <a:gridCol w="932815"/>
              </a:tblGrid>
              <a:tr h="427355">
                <a:tc gridSpan="8">
                  <a:txBody>
                    <a:bodyPr/>
                    <a:lstStyle/>
                    <a:p>
                      <a:pPr marL="0" lvl="0" indent="0" algn="ctr" eaLnBrk="0" hangingPunct="0">
                        <a:spcBef>
                          <a:spcPct val="20000"/>
                        </a:spcBef>
                        <a:buNone/>
                      </a:pPr>
                      <a:r>
                        <a:rPr lang="zh-CN" altLang="en-US" sz="1000">
                          <a:solidFill>
                            <a:schemeClr val="bg1"/>
                          </a:solidFill>
                          <a:latin typeface="微软雅黑" panose="020B0503020204020204" pitchFamily="34" charset="-122"/>
                          <a:ea typeface="微软雅黑" panose="020B0503020204020204" pitchFamily="34" charset="-122"/>
                          <a:sym typeface="+mn-ea"/>
                        </a:rPr>
                        <a:t>硬件资源估算（证联网）</a:t>
                      </a:r>
                      <a:endParaRPr lang="zh-CN" altLang="en-US" sz="1000">
                        <a:solidFill>
                          <a:schemeClr val="bg1"/>
                        </a:solidFill>
                        <a:latin typeface="微软雅黑" panose="020B0503020204020204" pitchFamily="34" charset="-122"/>
                        <a:ea typeface="微软雅黑" panose="020B0503020204020204" pitchFamily="34" charset="-122"/>
                        <a:sym typeface="+mn-ea"/>
                      </a:endParaRPr>
                    </a:p>
                  </a:txBody>
                  <a:tcPr marL="90170" marR="90170" marT="46990" marB="46990" anchor="ctr"/>
                </a:tc>
                <a:tc hMerge="1">
                  <a:tcPr marL="90170" marR="90170" marT="46990" marB="46990" anchor="ctr"/>
                </a:tc>
                <a:tc hMerge="1">
                  <a:tcPr/>
                </a:tc>
                <a:tc hMerge="1">
                  <a:tcPr marL="90170" marR="90170" marT="46990" marB="46990" anchor="ctr"/>
                </a:tc>
                <a:tc hMerge="1">
                  <a:tcPr/>
                </a:tc>
                <a:tc hMerge="1">
                  <a:tcPr marL="90170" marR="90170" marT="46990" marB="46990" anchor="ctr"/>
                </a:tc>
                <a:tc hMerge="1">
                  <a:tcPr/>
                </a:tc>
                <a:tc hMerge="1">
                  <a:tcPr marL="90170" marR="90170" marT="46990" marB="46990" anchor="ctr"/>
                </a:tc>
              </a:tr>
              <a:tr h="373380">
                <a:tc rowSpan="2">
                  <a:txBody>
                    <a:bodyPr/>
                    <a:lstStyle>
                      <a:lvl1pPr marL="342900" lvl="0" indent="-342900" algn="l" defTabSz="914400" eaLnBrk="0" fontAlgn="base" latinLnBrk="0" hangingPunct="0">
                        <a:lnSpc>
                          <a:spcPct val="100000"/>
                        </a:lnSpc>
                        <a:spcBef>
                          <a:spcPct val="20000"/>
                        </a:spcBef>
                        <a:spcAft>
                          <a:spcPct val="0"/>
                        </a:spcAft>
                        <a:buFont typeface="Arial" panose="020B0604020202090204" charset="-122"/>
                        <a:buChar char="•"/>
                        <a:defRPr sz="2800" u="none" kern="1200" baseline="0">
                          <a:solidFill>
                            <a:schemeClr val="tx1"/>
                          </a:solidFill>
                          <a:latin typeface="宋体" panose="02010600030101010101" pitchFamily="2" charset="-122"/>
                          <a:ea typeface="Arial" panose="020B0604020202090204" charset="-122"/>
                        </a:defRPr>
                      </a:lvl1pPr>
                      <a:lvl2pPr marL="742950" lvl="1" indent="-285750" algn="l" defTabSz="914400" eaLnBrk="0" fontAlgn="base" latinLnBrk="0" hangingPunct="0">
                        <a:lnSpc>
                          <a:spcPct val="100000"/>
                        </a:lnSpc>
                        <a:spcBef>
                          <a:spcPct val="20000"/>
                        </a:spcBef>
                        <a:spcAft>
                          <a:spcPct val="0"/>
                        </a:spcAft>
                        <a:buFont typeface="Arial" panose="020B0604020202090204" charset="-122"/>
                        <a:buChar char="–"/>
                        <a:defRPr sz="2400" u="none" kern="1200" baseline="0">
                          <a:solidFill>
                            <a:schemeClr val="tx1"/>
                          </a:solidFill>
                          <a:latin typeface="宋体" panose="02010600030101010101" pitchFamily="2" charset="-122"/>
                          <a:ea typeface="Arial" panose="020B0604020202090204" charset="-122"/>
                        </a:defRPr>
                      </a:lvl2pPr>
                      <a:lvl3pPr marL="1143000" lvl="2" indent="-228600" algn="l" defTabSz="914400" eaLnBrk="0" fontAlgn="base" latinLnBrk="0" hangingPunct="0">
                        <a:lnSpc>
                          <a:spcPct val="100000"/>
                        </a:lnSpc>
                        <a:spcBef>
                          <a:spcPct val="20000"/>
                        </a:spcBef>
                        <a:spcAft>
                          <a:spcPct val="0"/>
                        </a:spcAft>
                        <a:buFont typeface="Arial" panose="020B0604020202090204" charset="-122"/>
                        <a:buChar char="•"/>
                        <a:defRPr sz="2000" u="none" kern="1200" baseline="0">
                          <a:solidFill>
                            <a:schemeClr val="tx1"/>
                          </a:solidFill>
                          <a:latin typeface="宋体" panose="02010600030101010101" pitchFamily="2" charset="-122"/>
                          <a:ea typeface="Arial" panose="020B0604020202090204" charset="-122"/>
                        </a:defRPr>
                      </a:lvl3pPr>
                      <a:lvl4pPr marL="1600200" lvl="3"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4pPr>
                      <a:lvl5pPr marL="2057400" lvl="4"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资源划分</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rowSpan="2">
                  <a:txBody>
                    <a:bodyPr/>
                    <a:lstStyle>
                      <a:lvl1pPr marL="342900" lvl="0" indent="-342900" algn="l" defTabSz="914400" eaLnBrk="0" fontAlgn="base" latinLnBrk="0" hangingPunct="0">
                        <a:lnSpc>
                          <a:spcPct val="100000"/>
                        </a:lnSpc>
                        <a:spcBef>
                          <a:spcPct val="20000"/>
                        </a:spcBef>
                        <a:spcAft>
                          <a:spcPct val="0"/>
                        </a:spcAft>
                        <a:buFont typeface="Arial" panose="020B0604020202090204" charset="-122"/>
                        <a:buChar char="•"/>
                        <a:defRPr sz="2800" u="none" kern="1200" baseline="0">
                          <a:solidFill>
                            <a:schemeClr val="tx1"/>
                          </a:solidFill>
                          <a:latin typeface="宋体" panose="02010600030101010101" pitchFamily="2" charset="-122"/>
                          <a:ea typeface="Arial" panose="020B0604020202090204" charset="-122"/>
                        </a:defRPr>
                      </a:lvl1pPr>
                      <a:lvl2pPr marL="742950" lvl="1" indent="-285750" algn="l" defTabSz="914400" eaLnBrk="0" fontAlgn="base" latinLnBrk="0" hangingPunct="0">
                        <a:lnSpc>
                          <a:spcPct val="100000"/>
                        </a:lnSpc>
                        <a:spcBef>
                          <a:spcPct val="20000"/>
                        </a:spcBef>
                        <a:spcAft>
                          <a:spcPct val="0"/>
                        </a:spcAft>
                        <a:buFont typeface="Arial" panose="020B0604020202090204" charset="-122"/>
                        <a:buChar char="–"/>
                        <a:defRPr sz="2400" u="none" kern="1200" baseline="0">
                          <a:solidFill>
                            <a:schemeClr val="tx1"/>
                          </a:solidFill>
                          <a:latin typeface="宋体" panose="02010600030101010101" pitchFamily="2" charset="-122"/>
                          <a:ea typeface="Arial" panose="020B0604020202090204" charset="-122"/>
                        </a:defRPr>
                      </a:lvl2pPr>
                      <a:lvl3pPr marL="1143000" lvl="2" indent="-228600" algn="l" defTabSz="914400" eaLnBrk="0" fontAlgn="base" latinLnBrk="0" hangingPunct="0">
                        <a:lnSpc>
                          <a:spcPct val="100000"/>
                        </a:lnSpc>
                        <a:spcBef>
                          <a:spcPct val="20000"/>
                        </a:spcBef>
                        <a:spcAft>
                          <a:spcPct val="0"/>
                        </a:spcAft>
                        <a:buFont typeface="Arial" panose="020B0604020202090204" charset="-122"/>
                        <a:buChar char="•"/>
                        <a:defRPr sz="2000" u="none" kern="1200" baseline="0">
                          <a:solidFill>
                            <a:schemeClr val="tx1"/>
                          </a:solidFill>
                          <a:latin typeface="宋体" panose="02010600030101010101" pitchFamily="2" charset="-122"/>
                          <a:ea typeface="Arial" panose="020B0604020202090204" charset="-122"/>
                        </a:defRPr>
                      </a:lvl3pPr>
                      <a:lvl4pPr marL="1600200" lvl="3"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4pPr>
                      <a:lvl5pPr marL="2057400" lvl="4"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硬件资源名称</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所在网段</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gridSpan="2">
                  <a:txBody>
                    <a:bodyPr/>
                    <a:lstStyle>
                      <a:lvl1pPr marL="342900" lvl="0" indent="-342900" algn="l" defTabSz="914400" eaLnBrk="0" fontAlgn="base" latinLnBrk="0" hangingPunct="0">
                        <a:lnSpc>
                          <a:spcPct val="100000"/>
                        </a:lnSpc>
                        <a:spcBef>
                          <a:spcPct val="20000"/>
                        </a:spcBef>
                        <a:spcAft>
                          <a:spcPct val="0"/>
                        </a:spcAft>
                        <a:buFont typeface="Arial" panose="020B0604020202090204" charset="-122"/>
                        <a:buChar char="•"/>
                        <a:defRPr sz="2800" u="none" kern="1200" baseline="0">
                          <a:solidFill>
                            <a:schemeClr val="tx1"/>
                          </a:solidFill>
                          <a:latin typeface="宋体" panose="02010600030101010101" pitchFamily="2" charset="-122"/>
                          <a:ea typeface="Arial" panose="020B0604020202090204" charset="-122"/>
                        </a:defRPr>
                      </a:lvl1pPr>
                      <a:lvl2pPr marL="742950" lvl="1" indent="-285750" algn="l" defTabSz="914400" eaLnBrk="0" fontAlgn="base" latinLnBrk="0" hangingPunct="0">
                        <a:lnSpc>
                          <a:spcPct val="100000"/>
                        </a:lnSpc>
                        <a:spcBef>
                          <a:spcPct val="20000"/>
                        </a:spcBef>
                        <a:spcAft>
                          <a:spcPct val="0"/>
                        </a:spcAft>
                        <a:buFont typeface="Arial" panose="020B0604020202090204" charset="-122"/>
                        <a:buChar char="–"/>
                        <a:defRPr sz="2400" u="none" kern="1200" baseline="0">
                          <a:solidFill>
                            <a:schemeClr val="tx1"/>
                          </a:solidFill>
                          <a:latin typeface="宋体" panose="02010600030101010101" pitchFamily="2" charset="-122"/>
                          <a:ea typeface="Arial" panose="020B0604020202090204" charset="-122"/>
                        </a:defRPr>
                      </a:lvl2pPr>
                      <a:lvl3pPr marL="1143000" lvl="2" indent="-228600" algn="l" defTabSz="914400" eaLnBrk="0" fontAlgn="base" latinLnBrk="0" hangingPunct="0">
                        <a:lnSpc>
                          <a:spcPct val="100000"/>
                        </a:lnSpc>
                        <a:spcBef>
                          <a:spcPct val="20000"/>
                        </a:spcBef>
                        <a:spcAft>
                          <a:spcPct val="0"/>
                        </a:spcAft>
                        <a:buFont typeface="Arial" panose="020B0604020202090204" charset="-122"/>
                        <a:buChar char="•"/>
                        <a:defRPr sz="2000" u="none" kern="1200" baseline="0">
                          <a:solidFill>
                            <a:schemeClr val="tx1"/>
                          </a:solidFill>
                          <a:latin typeface="宋体" panose="02010600030101010101" pitchFamily="2" charset="-122"/>
                          <a:ea typeface="Arial" panose="020B0604020202090204" charset="-122"/>
                        </a:defRPr>
                      </a:lvl3pPr>
                      <a:lvl4pPr marL="1600200" lvl="3"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4pPr>
                      <a:lvl5pPr marL="2057400" lvl="4"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已有资源</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hMerge="1">
                  <a:tcPr/>
                </a:tc>
                <a:tc gridSpan="2">
                  <a:txBody>
                    <a:bodyPr/>
                    <a:lstStyle>
                      <a:lvl1pPr marL="342900" lvl="0" indent="-342900" algn="l" defTabSz="914400" eaLnBrk="0" fontAlgn="base" latinLnBrk="0" hangingPunct="0">
                        <a:lnSpc>
                          <a:spcPct val="100000"/>
                        </a:lnSpc>
                        <a:spcBef>
                          <a:spcPct val="20000"/>
                        </a:spcBef>
                        <a:spcAft>
                          <a:spcPct val="0"/>
                        </a:spcAft>
                        <a:buFont typeface="Arial" panose="020B0604020202090204" charset="-122"/>
                        <a:buChar char="•"/>
                        <a:defRPr sz="2800" u="none" kern="1200" baseline="0">
                          <a:solidFill>
                            <a:schemeClr val="tx1"/>
                          </a:solidFill>
                          <a:latin typeface="宋体" panose="02010600030101010101" pitchFamily="2" charset="-122"/>
                          <a:ea typeface="Arial" panose="020B0604020202090204" charset="-122"/>
                        </a:defRPr>
                      </a:lvl1pPr>
                      <a:lvl2pPr marL="742950" lvl="1" indent="-285750" algn="l" defTabSz="914400" eaLnBrk="0" fontAlgn="base" latinLnBrk="0" hangingPunct="0">
                        <a:lnSpc>
                          <a:spcPct val="100000"/>
                        </a:lnSpc>
                        <a:spcBef>
                          <a:spcPct val="20000"/>
                        </a:spcBef>
                        <a:spcAft>
                          <a:spcPct val="0"/>
                        </a:spcAft>
                        <a:buFont typeface="Arial" panose="020B0604020202090204" charset="-122"/>
                        <a:buChar char="–"/>
                        <a:defRPr sz="2400" u="none" kern="1200" baseline="0">
                          <a:solidFill>
                            <a:schemeClr val="tx1"/>
                          </a:solidFill>
                          <a:latin typeface="宋体" panose="02010600030101010101" pitchFamily="2" charset="-122"/>
                          <a:ea typeface="Arial" panose="020B0604020202090204" charset="-122"/>
                        </a:defRPr>
                      </a:lvl2pPr>
                      <a:lvl3pPr marL="1143000" lvl="2" indent="-228600" algn="l" defTabSz="914400" eaLnBrk="0" fontAlgn="base" latinLnBrk="0" hangingPunct="0">
                        <a:lnSpc>
                          <a:spcPct val="100000"/>
                        </a:lnSpc>
                        <a:spcBef>
                          <a:spcPct val="20000"/>
                        </a:spcBef>
                        <a:spcAft>
                          <a:spcPct val="0"/>
                        </a:spcAft>
                        <a:buFont typeface="Arial" panose="020B0604020202090204" charset="-122"/>
                        <a:buChar char="•"/>
                        <a:defRPr sz="2000" u="none" kern="1200" baseline="0">
                          <a:solidFill>
                            <a:schemeClr val="tx1"/>
                          </a:solidFill>
                          <a:latin typeface="宋体" panose="02010600030101010101" pitchFamily="2" charset="-122"/>
                          <a:ea typeface="Arial" panose="020B0604020202090204" charset="-122"/>
                        </a:defRPr>
                      </a:lvl3pPr>
                      <a:lvl4pPr marL="1600200" lvl="3"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4pPr>
                      <a:lvl5pPr marL="2057400" lvl="4"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新增资源</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hMerge="1">
                  <a:tcPr/>
                </a:tc>
                <a:tc rowSpan="2">
                  <a:txBody>
                    <a:bodyPr/>
                    <a:lstStyle>
                      <a:lvl1pPr marL="342900" lvl="0" indent="-342900" algn="l" defTabSz="914400" eaLnBrk="0" fontAlgn="base" latinLnBrk="0" hangingPunct="0">
                        <a:lnSpc>
                          <a:spcPct val="100000"/>
                        </a:lnSpc>
                        <a:spcBef>
                          <a:spcPct val="20000"/>
                        </a:spcBef>
                        <a:spcAft>
                          <a:spcPct val="0"/>
                        </a:spcAft>
                        <a:buFont typeface="Arial" panose="020B0604020202090204" charset="-122"/>
                        <a:buChar char="•"/>
                        <a:defRPr sz="2800" u="none" kern="1200" baseline="0">
                          <a:solidFill>
                            <a:schemeClr val="tx1"/>
                          </a:solidFill>
                          <a:latin typeface="宋体" panose="02010600030101010101" pitchFamily="2" charset="-122"/>
                          <a:ea typeface="Arial" panose="020B0604020202090204" charset="-122"/>
                        </a:defRPr>
                      </a:lvl1pPr>
                      <a:lvl2pPr marL="742950" lvl="1" indent="-285750" algn="l" defTabSz="914400" eaLnBrk="0" fontAlgn="base" latinLnBrk="0" hangingPunct="0">
                        <a:lnSpc>
                          <a:spcPct val="100000"/>
                        </a:lnSpc>
                        <a:spcBef>
                          <a:spcPct val="20000"/>
                        </a:spcBef>
                        <a:spcAft>
                          <a:spcPct val="0"/>
                        </a:spcAft>
                        <a:buFont typeface="Arial" panose="020B0604020202090204" charset="-122"/>
                        <a:buChar char="–"/>
                        <a:defRPr sz="2400" u="none" kern="1200" baseline="0">
                          <a:solidFill>
                            <a:schemeClr val="tx1"/>
                          </a:solidFill>
                          <a:latin typeface="宋体" panose="02010600030101010101" pitchFamily="2" charset="-122"/>
                          <a:ea typeface="Arial" panose="020B0604020202090204" charset="-122"/>
                        </a:defRPr>
                      </a:lvl2pPr>
                      <a:lvl3pPr marL="1143000" lvl="2" indent="-228600" algn="l" defTabSz="914400" eaLnBrk="0" fontAlgn="base" latinLnBrk="0" hangingPunct="0">
                        <a:lnSpc>
                          <a:spcPct val="100000"/>
                        </a:lnSpc>
                        <a:spcBef>
                          <a:spcPct val="20000"/>
                        </a:spcBef>
                        <a:spcAft>
                          <a:spcPct val="0"/>
                        </a:spcAft>
                        <a:buFont typeface="Arial" panose="020B0604020202090204" charset="-122"/>
                        <a:buChar char="•"/>
                        <a:defRPr sz="2000" u="none" kern="1200" baseline="0">
                          <a:solidFill>
                            <a:schemeClr val="tx1"/>
                          </a:solidFill>
                          <a:latin typeface="宋体" panose="02010600030101010101" pitchFamily="2" charset="-122"/>
                          <a:ea typeface="Arial" panose="020B0604020202090204" charset="-122"/>
                        </a:defRPr>
                      </a:lvl3pPr>
                      <a:lvl4pPr marL="1600200" lvl="3"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4pPr>
                      <a:lvl5pPr marL="2057400" lvl="4"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5p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备注</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r>
              <a:tr h="373380">
                <a:tc vMerge="1">
                  <a:tcPr/>
                </a:tc>
                <a:tc vMerge="1">
                  <a:tcPr/>
                </a:tc>
                <a:tc vMerge="1">
                  <a:tcPr>
                    <a:solidFill>
                      <a:schemeClr val="accent1">
                        <a:lumMod val="60000"/>
                        <a:lumOff val="40000"/>
                      </a:schemeClr>
                    </a:solidFill>
                  </a:tcPr>
                </a:tc>
                <a:tc>
                  <a:txBody>
                    <a:bodyPr/>
                    <a:lstStyle>
                      <a:lvl1pPr marL="342900" lvl="0" indent="-342900" algn="l" defTabSz="914400" eaLnBrk="0" fontAlgn="base" latinLnBrk="0" hangingPunct="0">
                        <a:lnSpc>
                          <a:spcPct val="100000"/>
                        </a:lnSpc>
                        <a:spcBef>
                          <a:spcPct val="20000"/>
                        </a:spcBef>
                        <a:spcAft>
                          <a:spcPct val="0"/>
                        </a:spcAft>
                        <a:buFont typeface="Arial" panose="020B0604020202090204" charset="-122"/>
                        <a:buChar char="•"/>
                        <a:defRPr sz="2800" u="none" kern="1200" baseline="0">
                          <a:solidFill>
                            <a:schemeClr val="tx1"/>
                          </a:solidFill>
                          <a:latin typeface="宋体" panose="02010600030101010101" pitchFamily="2" charset="-122"/>
                          <a:ea typeface="Arial" panose="020B0604020202090204" charset="-122"/>
                        </a:defRPr>
                      </a:lvl1pPr>
                      <a:lvl2pPr marL="742950" lvl="1" indent="-285750" algn="l" defTabSz="914400" eaLnBrk="0" fontAlgn="base" latinLnBrk="0" hangingPunct="0">
                        <a:lnSpc>
                          <a:spcPct val="100000"/>
                        </a:lnSpc>
                        <a:spcBef>
                          <a:spcPct val="20000"/>
                        </a:spcBef>
                        <a:spcAft>
                          <a:spcPct val="0"/>
                        </a:spcAft>
                        <a:buFont typeface="Arial" panose="020B0604020202090204" charset="-122"/>
                        <a:buChar char="–"/>
                        <a:defRPr sz="2400" u="none" kern="1200" baseline="0">
                          <a:solidFill>
                            <a:schemeClr val="tx1"/>
                          </a:solidFill>
                          <a:latin typeface="宋体" panose="02010600030101010101" pitchFamily="2" charset="-122"/>
                          <a:ea typeface="Arial" panose="020B0604020202090204" charset="-122"/>
                        </a:defRPr>
                      </a:lvl2pPr>
                      <a:lvl3pPr marL="1143000" lvl="2" indent="-228600" algn="l" defTabSz="914400" eaLnBrk="0" fontAlgn="base" latinLnBrk="0" hangingPunct="0">
                        <a:lnSpc>
                          <a:spcPct val="100000"/>
                        </a:lnSpc>
                        <a:spcBef>
                          <a:spcPct val="20000"/>
                        </a:spcBef>
                        <a:spcAft>
                          <a:spcPct val="0"/>
                        </a:spcAft>
                        <a:buFont typeface="Arial" panose="020B0604020202090204" charset="-122"/>
                        <a:buChar char="•"/>
                        <a:defRPr sz="2000" u="none" kern="1200" baseline="0">
                          <a:solidFill>
                            <a:schemeClr val="tx1"/>
                          </a:solidFill>
                          <a:latin typeface="宋体" panose="02010600030101010101" pitchFamily="2" charset="-122"/>
                          <a:ea typeface="Arial" panose="020B0604020202090204" charset="-122"/>
                        </a:defRPr>
                      </a:lvl3pPr>
                      <a:lvl4pPr marL="1600200" lvl="3"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4pPr>
                      <a:lvl5pPr marL="2057400" lvl="4"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5p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配置</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a:txBody>
                    <a:bodyPr/>
                    <a:lstStyle>
                      <a:lvl1pPr marL="342900" lvl="0" indent="-342900" algn="l" defTabSz="914400" eaLnBrk="0" fontAlgn="base" latinLnBrk="0" hangingPunct="0">
                        <a:lnSpc>
                          <a:spcPct val="100000"/>
                        </a:lnSpc>
                        <a:spcBef>
                          <a:spcPct val="20000"/>
                        </a:spcBef>
                        <a:spcAft>
                          <a:spcPct val="0"/>
                        </a:spcAft>
                        <a:buFont typeface="Arial" panose="020B0604020202090204" charset="-122"/>
                        <a:buChar char="•"/>
                        <a:defRPr sz="2800" u="none" kern="1200" baseline="0">
                          <a:solidFill>
                            <a:schemeClr val="tx1"/>
                          </a:solidFill>
                          <a:latin typeface="宋体" panose="02010600030101010101" pitchFamily="2" charset="-122"/>
                          <a:ea typeface="Arial" panose="020B0604020202090204" charset="-122"/>
                        </a:defRPr>
                      </a:lvl1pPr>
                      <a:lvl2pPr marL="742950" lvl="1" indent="-285750" algn="l" defTabSz="914400" eaLnBrk="0" fontAlgn="base" latinLnBrk="0" hangingPunct="0">
                        <a:lnSpc>
                          <a:spcPct val="100000"/>
                        </a:lnSpc>
                        <a:spcBef>
                          <a:spcPct val="20000"/>
                        </a:spcBef>
                        <a:spcAft>
                          <a:spcPct val="0"/>
                        </a:spcAft>
                        <a:buFont typeface="Arial" panose="020B0604020202090204" charset="-122"/>
                        <a:buChar char="–"/>
                        <a:defRPr sz="2400" u="none" kern="1200" baseline="0">
                          <a:solidFill>
                            <a:schemeClr val="tx1"/>
                          </a:solidFill>
                          <a:latin typeface="宋体" panose="02010600030101010101" pitchFamily="2" charset="-122"/>
                          <a:ea typeface="Arial" panose="020B0604020202090204" charset="-122"/>
                        </a:defRPr>
                      </a:lvl2pPr>
                      <a:lvl3pPr marL="1143000" lvl="2" indent="-228600" algn="l" defTabSz="914400" eaLnBrk="0" fontAlgn="base" latinLnBrk="0" hangingPunct="0">
                        <a:lnSpc>
                          <a:spcPct val="100000"/>
                        </a:lnSpc>
                        <a:spcBef>
                          <a:spcPct val="20000"/>
                        </a:spcBef>
                        <a:spcAft>
                          <a:spcPct val="0"/>
                        </a:spcAft>
                        <a:buFont typeface="Arial" panose="020B0604020202090204" charset="-122"/>
                        <a:buChar char="•"/>
                        <a:defRPr sz="2000" u="none" kern="1200" baseline="0">
                          <a:solidFill>
                            <a:schemeClr val="tx1"/>
                          </a:solidFill>
                          <a:latin typeface="宋体" panose="02010600030101010101" pitchFamily="2" charset="-122"/>
                          <a:ea typeface="Arial" panose="020B0604020202090204" charset="-122"/>
                        </a:defRPr>
                      </a:lvl3pPr>
                      <a:lvl4pPr marL="1600200" lvl="3"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4pPr>
                      <a:lvl5pPr marL="2057400" lvl="4"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5p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数量</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a:txBody>
                    <a:bodyPr/>
                    <a:lstStyle>
                      <a:lvl1pPr marL="342900" lvl="0" indent="-342900" algn="l" defTabSz="914400" eaLnBrk="0" fontAlgn="base" latinLnBrk="0" hangingPunct="0">
                        <a:lnSpc>
                          <a:spcPct val="100000"/>
                        </a:lnSpc>
                        <a:spcBef>
                          <a:spcPct val="20000"/>
                        </a:spcBef>
                        <a:spcAft>
                          <a:spcPct val="0"/>
                        </a:spcAft>
                        <a:buFont typeface="Arial" panose="020B0604020202090204" charset="-122"/>
                        <a:buChar char="•"/>
                        <a:defRPr sz="2800" u="none" kern="1200" baseline="0">
                          <a:solidFill>
                            <a:schemeClr val="tx1"/>
                          </a:solidFill>
                          <a:latin typeface="宋体" panose="02010600030101010101" pitchFamily="2" charset="-122"/>
                          <a:ea typeface="Arial" panose="020B0604020202090204" charset="-122"/>
                        </a:defRPr>
                      </a:lvl1pPr>
                      <a:lvl2pPr marL="742950" lvl="1" indent="-285750" algn="l" defTabSz="914400" eaLnBrk="0" fontAlgn="base" latinLnBrk="0" hangingPunct="0">
                        <a:lnSpc>
                          <a:spcPct val="100000"/>
                        </a:lnSpc>
                        <a:spcBef>
                          <a:spcPct val="20000"/>
                        </a:spcBef>
                        <a:spcAft>
                          <a:spcPct val="0"/>
                        </a:spcAft>
                        <a:buFont typeface="Arial" panose="020B0604020202090204" charset="-122"/>
                        <a:buChar char="–"/>
                        <a:defRPr sz="2400" u="none" kern="1200" baseline="0">
                          <a:solidFill>
                            <a:schemeClr val="tx1"/>
                          </a:solidFill>
                          <a:latin typeface="宋体" panose="02010600030101010101" pitchFamily="2" charset="-122"/>
                          <a:ea typeface="Arial" panose="020B0604020202090204" charset="-122"/>
                        </a:defRPr>
                      </a:lvl2pPr>
                      <a:lvl3pPr marL="1143000" lvl="2" indent="-228600" algn="l" defTabSz="914400" eaLnBrk="0" fontAlgn="base" latinLnBrk="0" hangingPunct="0">
                        <a:lnSpc>
                          <a:spcPct val="100000"/>
                        </a:lnSpc>
                        <a:spcBef>
                          <a:spcPct val="20000"/>
                        </a:spcBef>
                        <a:spcAft>
                          <a:spcPct val="0"/>
                        </a:spcAft>
                        <a:buFont typeface="Arial" panose="020B0604020202090204" charset="-122"/>
                        <a:buChar char="•"/>
                        <a:defRPr sz="2000" u="none" kern="1200" baseline="0">
                          <a:solidFill>
                            <a:schemeClr val="tx1"/>
                          </a:solidFill>
                          <a:latin typeface="宋体" panose="02010600030101010101" pitchFamily="2" charset="-122"/>
                          <a:ea typeface="Arial" panose="020B0604020202090204" charset="-122"/>
                        </a:defRPr>
                      </a:lvl3pPr>
                      <a:lvl4pPr marL="1600200" lvl="3"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4pPr>
                      <a:lvl5pPr marL="2057400" lvl="4"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5p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配置</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a:txBody>
                    <a:bodyPr/>
                    <a:lstStyle>
                      <a:lvl1pPr marL="342900" lvl="0" indent="-342900" algn="l" defTabSz="914400" eaLnBrk="0" fontAlgn="base" latinLnBrk="0" hangingPunct="0">
                        <a:lnSpc>
                          <a:spcPct val="100000"/>
                        </a:lnSpc>
                        <a:spcBef>
                          <a:spcPct val="20000"/>
                        </a:spcBef>
                        <a:spcAft>
                          <a:spcPct val="0"/>
                        </a:spcAft>
                        <a:buFont typeface="Arial" panose="020B0604020202090204" charset="-122"/>
                        <a:buChar char="•"/>
                        <a:defRPr sz="2800" u="none" kern="1200" baseline="0">
                          <a:solidFill>
                            <a:schemeClr val="tx1"/>
                          </a:solidFill>
                          <a:latin typeface="宋体" panose="02010600030101010101" pitchFamily="2" charset="-122"/>
                          <a:ea typeface="Arial" panose="020B0604020202090204" charset="-122"/>
                        </a:defRPr>
                      </a:lvl1pPr>
                      <a:lvl2pPr marL="742950" lvl="1" indent="-285750" algn="l" defTabSz="914400" eaLnBrk="0" fontAlgn="base" latinLnBrk="0" hangingPunct="0">
                        <a:lnSpc>
                          <a:spcPct val="100000"/>
                        </a:lnSpc>
                        <a:spcBef>
                          <a:spcPct val="20000"/>
                        </a:spcBef>
                        <a:spcAft>
                          <a:spcPct val="0"/>
                        </a:spcAft>
                        <a:buFont typeface="Arial" panose="020B0604020202090204" charset="-122"/>
                        <a:buChar char="–"/>
                        <a:defRPr sz="2400" u="none" kern="1200" baseline="0">
                          <a:solidFill>
                            <a:schemeClr val="tx1"/>
                          </a:solidFill>
                          <a:latin typeface="宋体" panose="02010600030101010101" pitchFamily="2" charset="-122"/>
                          <a:ea typeface="Arial" panose="020B0604020202090204" charset="-122"/>
                        </a:defRPr>
                      </a:lvl2pPr>
                      <a:lvl3pPr marL="1143000" lvl="2" indent="-228600" algn="l" defTabSz="914400" eaLnBrk="0" fontAlgn="base" latinLnBrk="0" hangingPunct="0">
                        <a:lnSpc>
                          <a:spcPct val="100000"/>
                        </a:lnSpc>
                        <a:spcBef>
                          <a:spcPct val="20000"/>
                        </a:spcBef>
                        <a:spcAft>
                          <a:spcPct val="0"/>
                        </a:spcAft>
                        <a:buFont typeface="Arial" panose="020B0604020202090204" charset="-122"/>
                        <a:buChar char="•"/>
                        <a:defRPr sz="2000" u="none" kern="1200" baseline="0">
                          <a:solidFill>
                            <a:schemeClr val="tx1"/>
                          </a:solidFill>
                          <a:latin typeface="宋体" panose="02010600030101010101" pitchFamily="2" charset="-122"/>
                          <a:ea typeface="Arial" panose="020B0604020202090204" charset="-122"/>
                        </a:defRPr>
                      </a:lvl3pPr>
                      <a:lvl4pPr marL="1600200" lvl="3"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4pPr>
                      <a:lvl5pPr marL="2057400" lvl="4" indent="-228600" algn="l" defTabSz="914400" eaLnBrk="0" fontAlgn="base" latinLnBrk="0" hangingPunct="0">
                        <a:lnSpc>
                          <a:spcPct val="100000"/>
                        </a:lnSpc>
                        <a:spcBef>
                          <a:spcPct val="20000"/>
                        </a:spcBef>
                        <a:spcAft>
                          <a:spcPct val="0"/>
                        </a:spcAft>
                        <a:buFont typeface="Arial" panose="020B0604020202090204" charset="-122"/>
                        <a:buChar char="»"/>
                        <a:defRPr sz="1800" u="none" kern="1200" baseline="0">
                          <a:solidFill>
                            <a:schemeClr val="tx1"/>
                          </a:solidFill>
                          <a:latin typeface="宋体" panose="02010600030101010101" pitchFamily="2" charset="-122"/>
                          <a:ea typeface="Arial" panose="020B0604020202090204" charset="-122"/>
                        </a:defRPr>
                      </a:lvl5p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数量</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1">
                        <a:lumMod val="60000"/>
                        <a:lumOff val="40000"/>
                      </a:schemeClr>
                    </a:solidFill>
                  </a:tcPr>
                </a:tc>
                <a:tc vMerge="1">
                  <a:tcPr/>
                </a:tc>
              </a:tr>
              <a:tr h="374015">
                <a:tc>
                  <a:txBody>
                    <a:bodyPr/>
                    <a:lstStyle/>
                    <a:p>
                      <a:pPr marL="0" lvl="0" indent="0" algn="ctr" eaLnBrk="0" hangingPunct="0">
                        <a:spcBef>
                          <a:spcPct val="20000"/>
                        </a:spcBef>
                        <a:buNone/>
                      </a:pPr>
                      <a:r>
                        <a:rPr lang="zh-CN" altLang="en-US" sz="800" b="0">
                          <a:latin typeface="微软雅黑" panose="020B0503020204020204" pitchFamily="34" charset="-122"/>
                          <a:ea typeface="微软雅黑" panose="020B0503020204020204" pitchFamily="34" charset="-122"/>
                        </a:rPr>
                        <a:t>人大金仓加载卸载工具</a:t>
                      </a:r>
                      <a:endParaRPr lang="zh-CN" altLang="en-US" sz="800" b="0">
                        <a:latin typeface="微软雅黑" panose="020B0503020204020204" pitchFamily="34" charset="-122"/>
                        <a:ea typeface="微软雅黑" panose="020B0503020204020204" pitchFamily="34" charset="-122"/>
                      </a:endParaRPr>
                    </a:p>
                  </a:txBody>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8</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16g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3380">
                <a:tc>
                  <a:txBody>
                    <a:bodyPr/>
                    <a:p>
                      <a:pPr marL="0" lvl="0" indent="0" algn="ctr" eaLnBrk="0" hangingPunct="0">
                        <a:spcBef>
                          <a:spcPct val="20000"/>
                        </a:spcBef>
                        <a:buNone/>
                      </a:pPr>
                      <a:r>
                        <a:rPr lang="en-US" altLang="en-US" sz="800">
                          <a:latin typeface="微软雅黑" panose="020B0503020204020204" pitchFamily="34" charset="-122"/>
                          <a:ea typeface="微软雅黑" panose="020B0503020204020204" pitchFamily="34" charset="-122"/>
                          <a:sym typeface="+mn-ea"/>
                        </a:rPr>
                        <a:t>KingBase</a:t>
                      </a:r>
                      <a:endParaRPr lang="zh-CN" altLang="en-US" sz="800" b="1">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sym typeface="+mn-ea"/>
                        </a:rPr>
                        <a:t>服务器</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8</a:t>
                      </a:r>
                      <a:r>
                        <a:rPr lang="zh-CN" altLang="en-US" sz="800" dirty="0">
                          <a:latin typeface="微软雅黑" panose="020B0503020204020204" pitchFamily="34" charset="-122"/>
                          <a:ea typeface="微软雅黑" panose="020B0503020204020204" pitchFamily="34" charset="-122"/>
                          <a:sym typeface="+mn-ea"/>
                        </a:rPr>
                        <a:t>核</a:t>
                      </a:r>
                      <a:r>
                        <a:rPr lang="en-US" altLang="zh-CN" sz="800" dirty="0">
                          <a:latin typeface="微软雅黑" panose="020B0503020204020204" pitchFamily="34" charset="-122"/>
                          <a:ea typeface="微软雅黑" panose="020B0503020204020204" pitchFamily="34" charset="-122"/>
                          <a:sym typeface="+mn-ea"/>
                        </a:rPr>
                        <a:t>16g</a:t>
                      </a: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2</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74015">
                <a:tc>
                  <a:txBody>
                    <a:bodyPr/>
                    <a:p>
                      <a:pPr marL="0" lvl="0" indent="0" algn="ctr" eaLnBrk="0" hangingPunct="0">
                        <a:spcBef>
                          <a:spcPct val="20000"/>
                        </a:spcBef>
                        <a:buNone/>
                      </a:pPr>
                      <a:r>
                        <a:rPr lang="en-US" altLang="en-US" sz="800">
                          <a:latin typeface="微软雅黑" panose="020B0503020204020204" pitchFamily="34" charset="-122"/>
                          <a:ea typeface="微软雅黑" panose="020B0503020204020204" pitchFamily="34" charset="-122"/>
                        </a:rPr>
                        <a:t>nas</a:t>
                      </a:r>
                      <a:endParaRPr lang="en-US" altLang="en-US" sz="800">
                        <a:latin typeface="微软雅黑" panose="020B0503020204020204" pitchFamily="34" charset="-122"/>
                        <a:ea typeface="微软雅黑" panose="020B0503020204020204" pitchFamily="34" charset="-122"/>
                      </a:endParaRPr>
                    </a:p>
                  </a:txBody>
                  <a:tcP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r>
                        <a:rPr lang="en-US" altLang="zh-CN" sz="800" dirty="0">
                          <a:latin typeface="微软雅黑" panose="020B0503020204020204" pitchFamily="34" charset="-122"/>
                          <a:ea typeface="微软雅黑" panose="020B0503020204020204" pitchFamily="34" charset="-122"/>
                          <a:sym typeface="+mn-ea"/>
                        </a:rPr>
                        <a:t>1T</a:t>
                      </a:r>
                      <a:endParaRPr lang="en-US" altLang="zh-CN"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indent="0" algn="ctr" eaLnBrk="0" hangingPunct="0">
                        <a:spcBef>
                          <a:spcPct val="20000"/>
                        </a:spcBef>
                        <a:buNone/>
                      </a:pPr>
                      <a:r>
                        <a:rPr lang="en-US" altLang="zh-CN" sz="800">
                          <a:latin typeface="微软雅黑" panose="020B0503020204020204" pitchFamily="34" charset="-122"/>
                          <a:ea typeface="微软雅黑" panose="020B0503020204020204" pitchFamily="34" charset="-122"/>
                        </a:rPr>
                        <a:t>1</a:t>
                      </a:r>
                      <a:endParaRPr lang="en-US" altLang="zh-CN" sz="800">
                        <a:latin typeface="微软雅黑" panose="020B0503020204020204" pitchFamily="34" charset="-122"/>
                        <a:ea typeface="微软雅黑" panose="020B0503020204020204" pitchFamily="34" charset="-122"/>
                      </a:endParaRPr>
                    </a:p>
                  </a:txBody>
                  <a:tcPr marL="90170" marR="90170" marT="46990" marB="46990" anchor="ctr"/>
                </a:tc>
                <a:tc>
                  <a:txBody>
                    <a:bodyPr/>
                    <a:p>
                      <a:pPr marL="0" lvl="0" indent="0" algn="ctr" eaLnBrk="0" hangingPunct="0">
                        <a:spcBef>
                          <a:spcPct val="20000"/>
                        </a:spcBef>
                        <a:buNone/>
                      </a:pPr>
                      <a:endParaRPr lang="zh-CN" altLang="en-US" sz="800" dirty="0">
                        <a:latin typeface="微软雅黑" panose="020B0503020204020204" pitchFamily="34" charset="-122"/>
                        <a:ea typeface="微软雅黑" panose="020B0503020204020204" pitchFamily="34" charset="-122"/>
                        <a:sym typeface="+mn-ea"/>
                      </a:endParaRPr>
                    </a:p>
                  </a:txBody>
                  <a:tcPr marL="90170" marR="90170" marT="46990" marB="46990" anchor="ctr"/>
                </a:tc>
              </a:tr>
            </a:tbl>
          </a:graphicData>
        </a:graphic>
      </p:graphicFrame>
      <p:graphicFrame>
        <p:nvGraphicFramePr>
          <p:cNvPr id="3" name="表格 2"/>
          <p:cNvGraphicFramePr/>
          <p:nvPr>
            <p:custDataLst>
              <p:tags r:id="rId2"/>
            </p:custDataLst>
          </p:nvPr>
        </p:nvGraphicFramePr>
        <p:xfrm>
          <a:off x="6407150" y="919480"/>
          <a:ext cx="5588635" cy="3983355"/>
        </p:xfrm>
        <a:graphic>
          <a:graphicData uri="http://schemas.openxmlformats.org/drawingml/2006/table">
            <a:tbl>
              <a:tblPr firstRow="1">
                <a:tableStyleId>{5C22544A-7EE6-4342-B048-85BDC9FD1C3A}</a:tableStyleId>
              </a:tblPr>
              <a:tblGrid>
                <a:gridCol w="1009015"/>
                <a:gridCol w="1348740"/>
                <a:gridCol w="815340"/>
                <a:gridCol w="667385"/>
                <a:gridCol w="760730"/>
                <a:gridCol w="987425"/>
              </a:tblGrid>
              <a:tr h="408305">
                <a:tc gridSpan="6">
                  <a:txBody>
                    <a:bodyPr/>
                    <a:lstStyle/>
                    <a:p>
                      <a:pPr marL="0" lvl="0" indent="0" algn="ctr" eaLnBrk="0" hangingPunct="0">
                        <a:spcBef>
                          <a:spcPct val="20000"/>
                        </a:spcBef>
                        <a:buNone/>
                      </a:pPr>
                      <a:r>
                        <a:rPr lang="zh-CN" altLang="en-US" sz="1000">
                          <a:solidFill>
                            <a:schemeClr val="bg1"/>
                          </a:solidFill>
                          <a:latin typeface="微软雅黑" panose="020B0503020204020204" pitchFamily="34" charset="-122"/>
                          <a:ea typeface="微软雅黑" panose="020B0503020204020204" pitchFamily="34" charset="-122"/>
                          <a:sym typeface="+mn-ea"/>
                        </a:rPr>
                        <a:t>软件资源估算（证联网）</a:t>
                      </a:r>
                      <a:endParaRPr lang="zh-CN" altLang="en-US" sz="10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hMerge="1">
                  <a:tcPr marL="90170" marR="90170" marT="46990" marB="46990" anchor="ctr">
                    <a:solidFill>
                      <a:schemeClr val="accent2"/>
                    </a:solidFill>
                  </a:tcPr>
                </a:tc>
                <a:tc hMerge="1">
                  <a:tcPr marL="90170" marR="90170" marT="46990" marB="46990" anchor="ctr">
                    <a:solidFill>
                      <a:schemeClr val="accent2"/>
                    </a:solidFill>
                  </a:tcPr>
                </a:tc>
                <a:tc hMerge="1">
                  <a:tcPr/>
                </a:tc>
                <a:tc hMerge="1">
                  <a:tcPr marL="90170" marR="90170" marT="46990" marB="46990" anchor="ctr">
                    <a:solidFill>
                      <a:schemeClr val="accent2"/>
                    </a:solidFill>
                  </a:tcPr>
                </a:tc>
                <a:tc hMerge="1">
                  <a:tcPr marL="90170" marR="90170" marT="46990" marB="46990" anchor="ctr">
                    <a:solidFill>
                      <a:schemeClr val="accent2"/>
                    </a:solidFill>
                  </a:tcPr>
                </a:tc>
              </a:tr>
              <a:tr h="357505">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资源划分</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软件资源名称</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grid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资源情况</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hMerge="1">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版本合规性</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c rowSpan="2">
                  <a:txBody>
                    <a:bodyPr/>
                    <a:lstStyle/>
                    <a:p>
                      <a:pPr marL="0" lvl="0" indent="0" algn="ctr" eaLnBrk="0" hangingPunct="0">
                        <a:spcBef>
                          <a:spcPct val="20000"/>
                        </a:spcBef>
                        <a:buNone/>
                      </a:pPr>
                      <a:r>
                        <a:rPr lang="zh-CN" altLang="en-US" sz="800">
                          <a:solidFill>
                            <a:schemeClr val="bg1"/>
                          </a:solidFill>
                          <a:latin typeface="微软雅黑" panose="020B0503020204020204" pitchFamily="34" charset="-122"/>
                          <a:ea typeface="微软雅黑" panose="020B0503020204020204" pitchFamily="34" charset="-122"/>
                        </a:rPr>
                        <a:t>备注</a:t>
                      </a:r>
                      <a:endParaRPr lang="zh-CN" altLang="en-US" sz="800">
                        <a:solidFill>
                          <a:schemeClr val="bg1"/>
                        </a:solidFill>
                        <a:latin typeface="微软雅黑" panose="020B0503020204020204" pitchFamily="34" charset="-122"/>
                        <a:ea typeface="微软雅黑" panose="020B0503020204020204" pitchFamily="34" charset="-122"/>
                      </a:endParaRPr>
                    </a:p>
                  </a:txBody>
                  <a:tcPr marL="90170" marR="90170" marT="46990" marB="46990" anchor="ctr">
                    <a:solidFill>
                      <a:schemeClr val="accent2"/>
                    </a:solidFill>
                  </a:tcPr>
                </a:tc>
              </a:tr>
              <a:tr h="356870">
                <a:tc vMerge="1">
                  <a:tcPr/>
                </a:tc>
                <a:tc vMerge="1">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版本号</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2">
                        <a:lumMod val="40000"/>
                        <a:lumOff val="60000"/>
                      </a:schemeClr>
                    </a:solidFill>
                  </a:tcPr>
                </a:tc>
                <a:tc>
                  <a:txBody>
                    <a:bodyPr/>
                    <a:lstStyle/>
                    <a:p>
                      <a:pPr marL="0" lvl="0" indent="0" algn="ctr" eaLnBrk="0" hangingPunct="0">
                        <a:spcBef>
                          <a:spcPct val="20000"/>
                        </a:spcBef>
                        <a:buNone/>
                      </a:pPr>
                      <a:r>
                        <a:rPr lang="zh-CN" altLang="en-US" sz="800">
                          <a:latin typeface="微软雅黑" panose="020B0503020204020204" pitchFamily="34" charset="-122"/>
                          <a:ea typeface="微软雅黑" panose="020B0503020204020204" pitchFamily="34" charset="-122"/>
                        </a:rPr>
                        <a:t>数量</a:t>
                      </a:r>
                      <a:endParaRPr lang="zh-CN" altLang="en-US" sz="800">
                        <a:latin typeface="微软雅黑" panose="020B0503020204020204" pitchFamily="34" charset="-122"/>
                        <a:ea typeface="微软雅黑" panose="020B0503020204020204" pitchFamily="34" charset="-122"/>
                      </a:endParaRPr>
                    </a:p>
                  </a:txBody>
                  <a:tcPr marL="90170" marR="90170" marT="46990" marB="46990" anchor="ctr">
                    <a:solidFill>
                      <a:schemeClr val="accent2">
                        <a:lumMod val="40000"/>
                        <a:lumOff val="60000"/>
                      </a:schemeClr>
                    </a:solidFill>
                  </a:tcPr>
                </a:tc>
                <a:tc vMerge="1">
                  <a:tcPr/>
                </a:tc>
                <a:tc vMerge="1">
                  <a:tcPr/>
                </a:tc>
              </a:tr>
              <a:tr h="357505">
                <a:tc rowSpan="3">
                  <a:txBody>
                    <a:bodyPr/>
                    <a:lstStyle/>
                    <a:p>
                      <a:pPr marL="0" lvl="0" indent="0" algn="ctr" eaLnBrk="0" hangingPunct="0">
                        <a:spcBef>
                          <a:spcPct val="20000"/>
                        </a:spcBef>
                        <a:buNone/>
                      </a:pPr>
                      <a:r>
                        <a:rPr lang="zh-CN" sz="800" b="1">
                          <a:latin typeface="微软雅黑" panose="020B0503020204020204" pitchFamily="34" charset="-122"/>
                          <a:ea typeface="微软雅黑" panose="020B0503020204020204" pitchFamily="34" charset="-122"/>
                          <a:sym typeface="+mn-ea"/>
                        </a:rPr>
                        <a:t>数据</a:t>
                      </a:r>
                      <a:r>
                        <a:rPr lang="zh-CN" sz="800" b="1">
                          <a:latin typeface="微软雅黑" panose="020B0503020204020204" pitchFamily="34" charset="-122"/>
                          <a:ea typeface="微软雅黑" panose="020B0503020204020204" pitchFamily="34" charset="-122"/>
                          <a:sym typeface="+mn-ea"/>
                        </a:rPr>
                        <a:t>同步服务</a:t>
                      </a:r>
                      <a:endParaRPr lang="zh-CN" sz="800" b="1">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Tong Web</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7.0.4.6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2</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rowSpan="2">
                  <a:txBody>
                    <a:bodyPr/>
                    <a:lstStyle/>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r h="356870">
                <a:tc vMerge="1">
                  <a:tcP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统信UOS</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20.1</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2</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lstStyle/>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vMerge="1">
                  <a:tcPr marL="90170" marR="90170" marT="46990" marB="46990" anchor="ctr"/>
                </a:tc>
              </a:tr>
              <a:tr h="356870">
                <a:tc vMerge="1">
                  <a:tcP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KingBase</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V8R6</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rPr>
                        <a:t>2</a:t>
                      </a:r>
                      <a:endParaRPr lang="en-US" altLang="x-none" sz="800" dirty="0">
                        <a:latin typeface="微软雅黑" panose="020B0503020204020204" pitchFamily="34" charset="-122"/>
                        <a:ea typeface="微软雅黑" panose="020B0503020204020204" pitchFamily="34" charset="-122"/>
                      </a:endParaRPr>
                    </a:p>
                  </a:txBody>
                  <a:tcPr marL="90170" marR="90170" marT="46990" marB="46990" anchor="ctr"/>
                </a:tc>
                <a:tc>
                  <a:txBody>
                    <a:bodyPr/>
                    <a:p>
                      <a:pPr algn="ctr" eaLnBrk="0" hangingPunct="0">
                        <a:spcBef>
                          <a:spcPct val="20000"/>
                        </a:spcBef>
                        <a:buClrTx/>
                        <a:buSzTx/>
                        <a:buFontTx/>
                        <a:buNone/>
                      </a:pPr>
                      <a:r>
                        <a:rPr lang="en-US" altLang="x-none" sz="800" dirty="0">
                          <a:latin typeface="微软雅黑" panose="020B0503020204020204" pitchFamily="34" charset="-122"/>
                          <a:ea typeface="微软雅黑" panose="020B0503020204020204" pitchFamily="34" charset="-122"/>
                          <a:sym typeface="+mn-ea"/>
                        </a:rPr>
                        <a:t>是</a:t>
                      </a: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c>
                  <a:txBody>
                    <a:bodyPr/>
                    <a:p>
                      <a:pPr marL="0" lvl="0" algn="ctr" eaLnBrk="0" hangingPunct="0">
                        <a:spcBef>
                          <a:spcPct val="20000"/>
                        </a:spcBef>
                        <a:buClrTx/>
                        <a:buSzTx/>
                        <a:buFontTx/>
                        <a:buNone/>
                      </a:pPr>
                      <a:endParaRPr lang="en-US" altLang="x-none" sz="800" dirty="0">
                        <a:latin typeface="微软雅黑" panose="020B0503020204020204" pitchFamily="34" charset="-122"/>
                        <a:ea typeface="微软雅黑" panose="020B0503020204020204" pitchFamily="34" charset="-122"/>
                        <a:sym typeface="+mn-ea"/>
                      </a:endParaRPr>
                    </a:p>
                  </a:txBody>
                  <a:tcPr marL="90170" marR="90170" marT="46990" marB="46990"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Arial" panose="020B0604020202090204" charset="-122"/>
                <a:sym typeface="宋体" panose="02010600030101010101" pitchFamily="2" charset="-122"/>
              </a:rPr>
              <a:t>2.4</a:t>
            </a:r>
            <a:r>
              <a:rPr>
                <a:latin typeface="Arial" panose="020B0604020202090204" charset="-122"/>
                <a:sym typeface="宋体" panose="02010600030101010101" pitchFamily="2" charset="-122"/>
              </a:rPr>
              <a:t>基础架构</a:t>
            </a:r>
            <a:r>
              <a:rPr lang="en-US" altLang="zh-CN">
                <a:latin typeface="Arial" panose="020B0604020202090204" charset="-122"/>
                <a:sym typeface="宋体" panose="02010600030101010101" pitchFamily="2" charset="-122"/>
              </a:rPr>
              <a:t>-</a:t>
            </a:r>
            <a:r>
              <a:rPr>
                <a:latin typeface="Arial" panose="020B0604020202090204" charset="-122"/>
                <a:sym typeface="宋体" panose="02010600030101010101" pitchFamily="2" charset="-122"/>
              </a:rPr>
              <a:t>非功能需求</a:t>
            </a:r>
            <a:endParaRPr>
              <a:latin typeface="Arial" panose="020B0604020202090204" charset="-122"/>
              <a:sym typeface="宋体" panose="02010600030101010101" pitchFamily="2" charset="-122"/>
            </a:endParaRPr>
          </a:p>
        </p:txBody>
      </p:sp>
      <p:graphicFrame>
        <p:nvGraphicFramePr>
          <p:cNvPr id="6" name="表格 5"/>
          <p:cNvGraphicFramePr/>
          <p:nvPr>
            <p:custDataLst>
              <p:tags r:id="rId1"/>
            </p:custDataLst>
          </p:nvPr>
        </p:nvGraphicFramePr>
        <p:xfrm>
          <a:off x="339725" y="841375"/>
          <a:ext cx="5455920" cy="5529580"/>
        </p:xfrm>
        <a:graphic>
          <a:graphicData uri="http://schemas.openxmlformats.org/drawingml/2006/table">
            <a:tbl>
              <a:tblPr/>
              <a:tblGrid>
                <a:gridCol w="652780"/>
                <a:gridCol w="1733550"/>
                <a:gridCol w="1384300"/>
                <a:gridCol w="1685290"/>
              </a:tblGrid>
              <a:tr h="281940">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类别</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需求内容</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适用性</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需求说明</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rowSpan="4">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用户数量</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总用户数量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应用系统应支持的总用户数量为10000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平均在线用户数量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应用系统应支持的平均每日在线用户数量为10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峰值在线用户数量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应用系统应支持的峰值在线用户数量100</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其它自定义可以衡量用户数量内容</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3365">
                <a:tc rowSpan="5">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响应时间</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一般功能点最长响应时间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一般功能点响应最长时间不超过500毫秒</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0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一般功能点平均响应时间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一般功能点响应平均时间不超过300毫秒</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273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核心功能点最长响应时间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a:t>
                      </a:r>
                      <a:r>
                        <a:rPr lang="en-US" sz="900">
                          <a:latin typeface="宋体" panose="02010600030101010101" pitchFamily="2" charset="-122"/>
                          <a:ea typeface="宋体" panose="02010600030101010101" pitchFamily="2" charset="-122"/>
                          <a:cs typeface="宋体" panose="02010600030101010101" pitchFamily="2" charset="-122"/>
                          <a:sym typeface="+mn-ea"/>
                        </a:rPr>
                        <a:t>单条数据</a:t>
                      </a:r>
                      <a:r>
                        <a:rPr lang="en-US" sz="900" b="0">
                          <a:latin typeface="宋体" panose="02010600030101010101" pitchFamily="2" charset="-122"/>
                          <a:ea typeface="宋体" panose="02010600030101010101" pitchFamily="2" charset="-122"/>
                          <a:cs typeface="宋体" panose="02010600030101010101" pitchFamily="2" charset="-122"/>
                        </a:rPr>
                        <a:t>响应最长时间不超过2</a:t>
                      </a:r>
                      <a:r>
                        <a:rPr lang="en-US" sz="900">
                          <a:latin typeface="宋体" panose="02010600030101010101" pitchFamily="2" charset="-122"/>
                          <a:ea typeface="宋体" panose="02010600030101010101" pitchFamily="2" charset="-122"/>
                          <a:cs typeface="宋体" panose="02010600030101010101" pitchFamily="2" charset="-122"/>
                        </a:rPr>
                        <a:t>0</a:t>
                      </a:r>
                      <a:r>
                        <a:rPr lang="en-US" sz="900" b="0">
                          <a:latin typeface="宋体" panose="02010600030101010101" pitchFamily="2" charset="-122"/>
                          <a:ea typeface="宋体" panose="02010600030101010101" pitchFamily="2" charset="-122"/>
                          <a:cs typeface="宋体" panose="02010600030101010101" pitchFamily="2" charset="-122"/>
                        </a:rPr>
                        <a:t>毫秒，单条数据不超过1KB</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336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核心功能点平均响应时间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核心功能点</a:t>
                      </a:r>
                      <a:r>
                        <a:rPr lang="en-US" sz="900">
                          <a:latin typeface="宋体" panose="02010600030101010101" pitchFamily="2" charset="-122"/>
                          <a:ea typeface="宋体" panose="02010600030101010101" pitchFamily="2" charset="-122"/>
                          <a:cs typeface="宋体" panose="02010600030101010101" pitchFamily="2" charset="-122"/>
                          <a:sym typeface="+mn-ea"/>
                        </a:rPr>
                        <a:t>单条数据</a:t>
                      </a:r>
                      <a:r>
                        <a:rPr lang="en-US" sz="900" b="0">
                          <a:latin typeface="宋体" panose="02010600030101010101" pitchFamily="2" charset="-122"/>
                          <a:ea typeface="宋体" panose="02010600030101010101" pitchFamily="2" charset="-122"/>
                          <a:cs typeface="宋体" panose="02010600030101010101" pitchFamily="2" charset="-122"/>
                        </a:rPr>
                        <a:t>响应平均时间不超过10毫秒</a:t>
                      </a:r>
                      <a:r>
                        <a:rPr lang="zh-CN" altLang="en-US" sz="900" b="0">
                          <a:latin typeface="宋体" panose="02010600030101010101" pitchFamily="2" charset="-122"/>
                          <a:ea typeface="宋体" panose="02010600030101010101" pitchFamily="2" charset="-122"/>
                          <a:cs typeface="宋体" panose="02010600030101010101" pitchFamily="2" charset="-122"/>
                        </a:rPr>
                        <a:t>，</a:t>
                      </a:r>
                      <a:r>
                        <a:rPr lang="en-US" sz="900">
                          <a:latin typeface="宋体" panose="02010600030101010101" pitchFamily="2" charset="-122"/>
                          <a:ea typeface="宋体" panose="02010600030101010101" pitchFamily="2" charset="-122"/>
                          <a:cs typeface="宋体" panose="02010600030101010101" pitchFamily="2" charset="-122"/>
                          <a:sym typeface="+mn-ea"/>
                        </a:rPr>
                        <a:t>单条数据不超过1KB</a:t>
                      </a:r>
                      <a:endParaRPr 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668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其它自定义响应时间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rowSpan="7">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批量处理</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批量处理完成最长时间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批量处理完成平均时间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95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是否提供报表功能</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668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报表生成格式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95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报表生成频度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报表加工最长时间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732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报表加工平均时间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rowSpan="2">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网络带宽</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网络带宽申请类别</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a:latin typeface="宋体" panose="02010600030101010101" pitchFamily="2" charset="-122"/>
                          <a:ea typeface="宋体" panose="02010600030101010101" pitchFamily="2" charset="-122"/>
                          <a:cs typeface="宋体" panose="02010600030101010101" pitchFamily="2" charset="-122"/>
                          <a:sym typeface="+mn-ea"/>
                        </a:rPr>
                        <a:t>否</a:t>
                      </a:r>
                      <a:endParaRPr lang="zh-CN" altLang="en-US" sz="900">
                        <a:latin typeface="宋体" panose="02010600030101010101" pitchFamily="2" charset="-122"/>
                        <a:ea typeface="宋体" panose="02010600030101010101" pitchFamily="2" charset="-122"/>
                        <a:cs typeface="宋体" panose="02010600030101010101" pitchFamily="2" charset="-122"/>
                        <a:sym typeface="+mn-ea"/>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证网、</a:t>
                      </a:r>
                      <a:r>
                        <a:rPr lang="zh-CN" altLang="en-US" sz="900" b="0">
                          <a:latin typeface="宋体" panose="02010600030101010101" pitchFamily="2" charset="-122"/>
                          <a:ea typeface="宋体" panose="02010600030101010101" pitchFamily="2" charset="-122"/>
                          <a:cs typeface="宋体" panose="02010600030101010101" pitchFamily="2" charset="-122"/>
                        </a:rPr>
                        <a:t>政务外网</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0546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网络带宽申请</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46710">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会话管理</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用户在什么情况下，服务端结束当前会话状态</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选项：退出系统、退出客户端、关闭浏览器、其他情况详细说明</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790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与应用系统通信的另一方在长时间内没有信息交换时，应用系统如何处理会话状态</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处理会话状态选项：保持、结束、冻结、挂起及其他处理方式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11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其它自定义为会话管理的需求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7" name="表格 6"/>
          <p:cNvGraphicFramePr/>
          <p:nvPr/>
        </p:nvGraphicFramePr>
        <p:xfrm>
          <a:off x="6294120" y="878713"/>
          <a:ext cx="4842510" cy="5371465"/>
        </p:xfrm>
        <a:graphic>
          <a:graphicData uri="http://schemas.openxmlformats.org/drawingml/2006/table">
            <a:tbl>
              <a:tblPr/>
              <a:tblGrid>
                <a:gridCol w="579755"/>
                <a:gridCol w="1538605"/>
                <a:gridCol w="1228725"/>
                <a:gridCol w="1495425"/>
              </a:tblGrid>
              <a:tr h="261620">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类别</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需求内容</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适用性</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200" b="1">
                          <a:latin typeface="宋体" panose="02010600030101010101" pitchFamily="2" charset="-122"/>
                          <a:ea typeface="宋体" panose="02010600030101010101" pitchFamily="2" charset="-122"/>
                          <a:cs typeface="宋体" panose="02010600030101010101" pitchFamily="2" charset="-122"/>
                        </a:rPr>
                        <a:t>需求说明</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60985">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发展预期</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用户增长趋势，在投产后的一定周期（半年、一年、两年等）后，预计总用户数量、峰值用户数量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r>
                        <a:rPr lang="zh-CN" altLang="en-US" sz="900" b="0">
                          <a:latin typeface="宋体" panose="02010600030101010101" pitchFamily="2" charset="-122"/>
                          <a:ea typeface="宋体" panose="02010600030101010101" pitchFamily="2" charset="-122"/>
                          <a:cs typeface="宋体" panose="02010600030101010101" pitchFamily="2" charset="-122"/>
                        </a:rPr>
                        <a:t>目前仅税务总局使用</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存储增长趋势，在投产后的一定周期（半年、一年、两年等）后，预计在线、离线存储量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文件频率为季度和年度。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网络带宽增长趋势，在投产后的一定周期（半年、一年、两年等）后，预计网络带宽增长需求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否</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 </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rowSpan="3">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应用监控</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应用监控应具备日志标准化输出功能，日志应要素完备、格式简明，能够快速用于监控功能研发实现</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遵循应用日志监控要求</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954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cap="flat">
                      <a:noFill/>
                    </a:lnT>
                    <a:lnB cap="flat">
                      <a:noFill/>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是否接入监控</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cap="flat">
                      <a:noFill/>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是否设计了状态检测</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rowSpan="8">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数据</a:t>
                      </a:r>
                      <a:endParaRPr lang="en-US" sz="900" b="1">
                        <a:latin typeface="宋体" panose="02010600030101010101" pitchFamily="2" charset="-122"/>
                        <a:ea typeface="宋体" panose="02010600030101010101" pitchFamily="2" charset="-122"/>
                        <a:cs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altLang="zh-CN" sz="900" b="1">
                        <a:latin typeface="宋体" panose="02010600030101010101" pitchFamily="2" charset="-122"/>
                        <a:ea typeface="宋体" panose="02010600030101010101" pitchFamily="2" charset="-122"/>
                      </a:endParaRPr>
                    </a:p>
                    <a:p>
                      <a:pPr indent="0">
                        <a:buNone/>
                      </a:pPr>
                      <a:r>
                        <a:rPr lang="en-US" altLang="zh-CN" sz="900" b="1">
                          <a:latin typeface="宋体" panose="02010600030101010101" pitchFamily="2" charset="-122"/>
                          <a:ea typeface="宋体" panose="02010600030101010101" pitchFamily="2" charset="-122"/>
                        </a:rPr>
                        <a:t> </a:t>
                      </a:r>
                      <a:endParaRPr 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应用系统产生的数据类型分类</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结构化数据（数据库表）</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数据来源</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配置信息和执行</a:t>
                      </a:r>
                      <a:r>
                        <a:rPr lang="zh-CN" altLang="en-US" sz="900" b="0">
                          <a:latin typeface="宋体" panose="02010600030101010101" pitchFamily="2" charset="-122"/>
                          <a:ea typeface="宋体" panose="02010600030101010101" pitchFamily="2" charset="-122"/>
                          <a:cs typeface="宋体" panose="02010600030101010101" pitchFamily="2" charset="-122"/>
                        </a:rPr>
                        <a:t>信息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148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数据保存时间</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是</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平台自身数据永久保存</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28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跨网段数据同步机制</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4864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数据保护措施，为防止数据被破坏，需从硬件和软件、系统级和应用级两方面对系统数据进行保护。</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数据清理方式</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90195">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数据规模</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是</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altLang="en-US" sz="900" b="0">
                          <a:latin typeface="宋体" panose="02010600030101010101" pitchFamily="2" charset="-122"/>
                          <a:ea typeface="宋体" panose="02010600030101010101" pitchFamily="2" charset="-122"/>
                          <a:cs typeface="宋体" panose="02010600030101010101" pitchFamily="2" charset="-122"/>
                        </a:rPr>
                        <a:t>100M</a:t>
                      </a:r>
                      <a:r>
                        <a:rPr lang="zh-CN" altLang="en-US" sz="900" b="0">
                          <a:latin typeface="宋体" panose="02010600030101010101" pitchFamily="2" charset="-122"/>
                          <a:ea typeface="宋体" panose="02010600030101010101" pitchFamily="2" charset="-122"/>
                          <a:cs typeface="宋体" panose="02010600030101010101" pitchFamily="2" charset="-122"/>
                        </a:rPr>
                        <a:t>（按年度统计）</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8910">
                <a:tc vMerge="1">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900" b="0">
                          <a:latin typeface="宋体" panose="02010600030101010101" pitchFamily="2" charset="-122"/>
                          <a:ea typeface="宋体" panose="02010600030101010101" pitchFamily="2" charset="-122"/>
                          <a:cs typeface="宋体" panose="02010600030101010101" pitchFamily="2" charset="-122"/>
                        </a:rPr>
                        <a:t>数据发展预期</a:t>
                      </a: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900" b="0">
                          <a:latin typeface="宋体" panose="02010600030101010101" pitchFamily="2" charset="-122"/>
                          <a:ea typeface="宋体" panose="02010600030101010101" pitchFamily="2" charset="-122"/>
                          <a:cs typeface="宋体" panose="02010600030101010101" pitchFamily="2" charset="-122"/>
                        </a:rPr>
                        <a:t>否</a:t>
                      </a:r>
                      <a:endParaRPr lang="zh-CN"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9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69225" y="3388360"/>
            <a:ext cx="3175" cy="1360488"/>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368998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3264535"/>
            <a:ext cx="2527300" cy="1630045"/>
          </a:xfrm>
          <a:prstGeom prst="rect">
            <a:avLst/>
          </a:prstGeom>
          <a:noFill/>
          <a:ln w="9525">
            <a:noFill/>
          </a:ln>
        </p:spPr>
        <p:txBody>
          <a:bodyPr wrap="square" anchor="t">
            <a:spAutoFit/>
          </a:bodyPr>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时间计划</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latin typeface="微软雅黑" panose="020B0503020204020204" pitchFamily="34" charset="-122"/>
                <a:ea typeface="微软雅黑" panose="020B0503020204020204" pitchFamily="34" charset="-122"/>
              </a:rPr>
              <a:t>预期成果</a:t>
            </a: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en-US" sz="2000" dirty="0">
              <a:solidFill>
                <a:srgbClr val="00050A"/>
              </a:solidFill>
              <a:latin typeface="微软雅黑" panose="020B0503020204020204" pitchFamily="34" charset="-122"/>
              <a:ea typeface="微软雅黑" panose="020B0503020204020204" pitchFamily="3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1"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 3.1</a:t>
            </a:r>
            <a:r>
              <a:rPr lang="zh-CN" altLang="en-US" dirty="0">
                <a:latin typeface="Arial" panose="020B0604020202090204" pitchFamily="34" charset="0"/>
                <a:sym typeface="宋体" panose="02010600030101010101" pitchFamily="2" charset="-122"/>
              </a:rPr>
              <a:t>时间计划</a:t>
            </a:r>
            <a:endParaRPr lang="zh-CN" altLang="en-US" dirty="0">
              <a:latin typeface="Arial" panose="020B0604020202090204" pitchFamily="34" charset="0"/>
              <a:sym typeface="宋体" panose="02010600030101010101" pitchFamily="2" charset="-122"/>
            </a:endParaRPr>
          </a:p>
        </p:txBody>
      </p:sp>
      <p:sp>
        <p:nvSpPr>
          <p:cNvPr id="4" name="灯片编号占位符 3"/>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a:t>
            </a:r>
            <a:r>
              <a:rPr lang="en-US" altLang="zh-CN" strike="noStrike" noProof="1" smtClean="0">
                <a:latin typeface="黑体" panose="02010609060101010101" charset="-122"/>
                <a:ea typeface="黑体" panose="02010609060101010101" charset="-122"/>
                <a:cs typeface="+mn-cs"/>
              </a:rPr>
              <a:t>26</a:t>
            </a:r>
            <a:r>
              <a:rPr lang="zh-CN" altLang="en-US" strike="noStrike" noProof="1" smtClean="0">
                <a:latin typeface="黑体" panose="02010609060101010101" charset="-122"/>
                <a:ea typeface="黑体" panose="02010609060101010101" charset="-122"/>
                <a:cs typeface="+mn-cs"/>
              </a:rPr>
              <a:t>页</a:t>
            </a:r>
            <a:endParaRPr lang="zh-CN" altLang="en-US" strike="noStrike" noProof="1" smtClean="0"/>
          </a:p>
        </p:txBody>
      </p:sp>
      <p:graphicFrame>
        <p:nvGraphicFramePr>
          <p:cNvPr id="3" name="内容占位符 48130"/>
          <p:cNvGraphicFramePr/>
          <p:nvPr>
            <p:custDataLst>
              <p:tags r:id="rId1"/>
            </p:custDataLst>
          </p:nvPr>
        </p:nvGraphicFramePr>
        <p:xfrm>
          <a:off x="1751330" y="943293"/>
          <a:ext cx="8688705" cy="5637530"/>
        </p:xfrm>
        <a:graphic>
          <a:graphicData uri="http://schemas.openxmlformats.org/drawingml/2006/table">
            <a:tbl>
              <a:tblPr firstRow="1" bandRow="1">
                <a:tableStyleId>{5C22544A-7EE6-4342-B048-85BDC9FD1C3A}</a:tableStyleId>
              </a:tblPr>
              <a:tblGrid>
                <a:gridCol w="985520"/>
                <a:gridCol w="1101090"/>
                <a:gridCol w="1118870"/>
                <a:gridCol w="1076325"/>
                <a:gridCol w="1939925"/>
                <a:gridCol w="1522730"/>
                <a:gridCol w="944245"/>
              </a:tblGrid>
              <a:tr h="596265">
                <a:tc>
                  <a:txBody>
                    <a:bodyPr/>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阶段</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活动</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开始时间</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结束时间</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工作成果</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参与方</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600" b="1">
                          <a:solidFill>
                            <a:schemeClr val="bg1"/>
                          </a:solidFill>
                          <a:latin typeface="微软雅黑" panose="020B0503020204020204" pitchFamily="34" charset="-122"/>
                          <a:ea typeface="微软雅黑" panose="020B0503020204020204" pitchFamily="34" charset="-122"/>
                        </a:rPr>
                        <a:t>是否里程碑</a:t>
                      </a:r>
                      <a:endParaRPr lang="zh-CN" altLang="en-US" sz="1600" b="1">
                        <a:solidFill>
                          <a:schemeClr val="bg1"/>
                        </a:solidFill>
                        <a:latin typeface="微软雅黑" panose="020B0503020204020204" pitchFamily="34" charset="-122"/>
                        <a:ea typeface="微软雅黑" panose="020B0503020204020204" pitchFamily="34" charset="-122"/>
                      </a:endParaRPr>
                    </a:p>
                  </a:txBody>
                  <a:tcPr marL="91451" marR="91451" marT="45725" marB="45725" vert="horz" anchor="ctr" anchorCtr="1"/>
                </a:tc>
              </a:tr>
              <a:tr h="440690">
                <a:tc rowSpan="2">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计划阶段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需求研制</a:t>
                      </a:r>
                      <a:endParaRPr lang="zh-CN" altLang="en-US"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a:t>
                      </a:r>
                      <a:endParaRPr lang="en-US" altLang="x-none"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1.10</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sym typeface="+mn-ea"/>
                        </a:rPr>
                        <a:t>需求文档</a:t>
                      </a:r>
                      <a:endParaRPr lang="en-US" altLang="zh-CN"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0">
                <a:tc vMerge="1">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总体方案设计</a:t>
                      </a:r>
                      <a:endParaRPr lang="zh-CN" altLang="en-US" sz="1200" dirty="0">
                        <a:latin typeface="微软雅黑" panose="020B0503020204020204" pitchFamily="34" charset="-122"/>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1.10</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1.28</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rowSpan="2">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sym typeface="+mn-ea"/>
                        </a:rPr>
                        <a:t>总体方案</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rowSpan="2">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rowSpan="2">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455295">
                <a:tc rowSpan="2">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设计阶段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vMerge="1">
                  <a:tcPr marL="91451" marR="91451" marT="45725" marB="45725" vert="horz" anchor="ctr" anchorCtr="1"/>
                </a:tc>
                <a:tc vMerge="1">
                  <a:tcPr marL="91451" marR="91451" marT="45725" marB="45725" vert="horz" anchor="ctr" anchorCtr="1"/>
                </a:tc>
                <a:tc vMerge="1">
                  <a:tcPr marL="91451" marR="91451" marT="45725" marB="45725" vert="horz" anchor="ctr" anchorCtr="1"/>
                </a:tc>
                <a:tc vMerge="1">
                  <a:tcPr marL="91451" marR="91451" marT="45725" marB="45725" vert="horz" anchor="ctr" anchorCtr="0"/>
                </a:tc>
                <a:tc vMerge="1">
                  <a:tcPr marL="91451" marR="91451" marT="45725" marB="45725" vert="horz" anchor="ctr" anchorCtr="1"/>
                </a:tc>
                <a:tc vMerge="1">
                  <a:tcPr marL="91451" marR="91451" marT="45725" marB="45725" vert="horz" anchor="ctr" anchorCtr="1"/>
                </a:tc>
              </a:tr>
              <a:tr h="406400">
                <a:tc vMerge="1">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dirty="0">
                          <a:latin typeface="微软雅黑" panose="020B0503020204020204" pitchFamily="34" charset="-122"/>
                        </a:rPr>
                        <a:t>系统设计</a:t>
                      </a:r>
                      <a:endParaRPr lang="zh-CN" altLang="en-US" sz="1200" dirty="0">
                        <a:latin typeface="微软雅黑" panose="020B0503020204020204" pitchFamily="34" charset="-122"/>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1.10</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1.28</a:t>
                      </a:r>
                      <a:endParaRPr lang="en-US" altLang="x-none" sz="1200" dirty="0">
                        <a:latin typeface="微软雅黑" panose="020B0503020204020204" pitchFamily="34" charset="-122"/>
                        <a:sym typeface="+mn-ea"/>
                      </a:endParaRPr>
                    </a:p>
                  </a:txBody>
                  <a:tcPr marL="91451" marR="91451" marT="45725" marB="45725" vert="horz" anchor="ctr" anchorCtr="1"/>
                </a:tc>
                <a:tc>
                  <a:txBody>
                    <a:bodyPr wrap="square"/>
                    <a:lstStyle>
                      <a:lvl1pPr marL="342900" lvl="0" indent="-342900" algn="l" defTabSz="914400" eaLnBrk="1" fontAlgn="base" latinLnBrk="0" hangingPunct="1">
                        <a:lnSpc>
                          <a:spcPct val="100000"/>
                        </a:lnSpc>
                        <a:spcBef>
                          <a:spcPct val="20000"/>
                        </a:spcBef>
                        <a:spcAft>
                          <a:spcPct val="0"/>
                        </a:spcAft>
                        <a:buFont typeface="Wingdings" panose="05000000000000000000" pitchFamily="2" charset="2"/>
                        <a:buChar char="n"/>
                        <a:defRPr sz="2800" b="0" i="0" u="none" kern="1200" baseline="0">
                          <a:solidFill>
                            <a:schemeClr val="tx1"/>
                          </a:solidFill>
                          <a:latin typeface="Arial" panose="020B0604020202090204" charset="-122"/>
                          <a:ea typeface="微软雅黑" panose="020B0503020204020204" pitchFamily="34" charset="-122"/>
                        </a:defRPr>
                      </a:lvl1pPr>
                      <a:lvl2pPr marL="742950" lvl="1" indent="-285750" algn="l" eaLnBrk="0" hangingPunct="0">
                        <a:buSzPct val="100000"/>
                        <a:buFont typeface="Wingdings" panose="05000000000000000000" pitchFamily="2" charset="2"/>
                        <a:buChar char="Ø"/>
                        <a:defRPr sz="2400" kern="1200"/>
                      </a:lvl2pPr>
                      <a:lvl3pPr marL="1143000" lvl="2" indent="-228600" algn="l">
                        <a:buFont typeface="Arial" panose="020B0604020202090204" charset="-122"/>
                        <a:buChar char="•"/>
                        <a:defRPr sz="2000" kern="1200"/>
                      </a:lvl3pPr>
                      <a:lvl4pPr marL="1600200" lvl="3" indent="-228600" algn="l">
                        <a:defRPr sz="1800" kern="1200"/>
                      </a:lvl4pPr>
                      <a:lvl5pPr marL="2057400" lvl="4" indent="-228600" algn="l">
                        <a:defRPr sz="1800" kern="1200"/>
                      </a:lvl5pPr>
                    </a:lstStyle>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sym typeface="+mn-ea"/>
                        </a:rPr>
                        <a:t>系统设计</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835660">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编码实施</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开发编码</a:t>
                      </a:r>
                      <a:endParaRPr lang="zh-CN" altLang="en-US" sz="1200" dirty="0">
                        <a:latin typeface="微软雅黑" panose="020B0503020204020204" pitchFamily="34" charset="-122"/>
                        <a:ea typeface="微软雅黑" panose="020B0503020204020204" pitchFamily="34" charset="-122"/>
                      </a:endParaRPr>
                    </a:p>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集成测试</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1.28</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ea typeface="微软雅黑" panose="020B0503020204020204" pitchFamily="34" charset="-122"/>
                          <a:sym typeface="+mn-ea"/>
                        </a:rPr>
                        <a:t>202</a:t>
                      </a:r>
                      <a:r>
                        <a:rPr lang="en-US" sz="1200" dirty="0">
                          <a:solidFill>
                            <a:srgbClr val="000000"/>
                          </a:solidFill>
                          <a:latin typeface="微软雅黑" panose="020B0503020204020204" pitchFamily="34" charset="-122"/>
                          <a:ea typeface="微软雅黑" panose="020B0503020204020204" pitchFamily="34" charset="-122"/>
                          <a:sym typeface="+mn-ea"/>
                        </a:rPr>
                        <a:t>6.5.1</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程序清单、</a:t>
                      </a:r>
                      <a:r>
                        <a:rPr lang="zh-CN" altLang="en-US"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代码合规自查评估报告</a:t>
                      </a:r>
                      <a:endParaRPr lang="en-US" altLang="zh-CN" sz="1200" dirty="0">
                        <a:solidFill>
                          <a:srgbClr val="000000"/>
                        </a:solidFill>
                        <a:latin typeface="微软雅黑" panose="020B0503020204020204" pitchFamily="34" charset="-122"/>
                        <a:sym typeface="+mn-ea"/>
                      </a:endParaRPr>
                    </a:p>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r h="566420">
                <a:tc>
                  <a:txBody>
                    <a:bodyPr/>
                    <a:p>
                      <a:pPr marL="0" lvl="0" indent="0" algn="l">
                        <a:lnSpc>
                          <a:spcPct val="130000"/>
                        </a:lnSpc>
                        <a:buClr>
                          <a:schemeClr val="folHlink"/>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rPr>
                        <a:t>测试阶段</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l">
                        <a:lnSpc>
                          <a:spcPct val="130000"/>
                        </a:lnSpc>
                        <a:buClr>
                          <a:schemeClr val="folHlink"/>
                        </a:buClr>
                        <a:buFont typeface="Wingdings" panose="05000000000000000000" pitchFamily="2" charset="2"/>
                        <a:buNone/>
                      </a:pPr>
                      <a:r>
                        <a:rPr lang="zh-CN" altLang="en-US" sz="1200" dirty="0">
                          <a:latin typeface="微软雅黑" panose="020B0503020204020204" pitchFamily="34" charset="-122"/>
                          <a:ea typeface="微软雅黑" panose="020B0503020204020204" pitchFamily="34" charset="-122"/>
                          <a:sym typeface="+mn-ea"/>
                        </a:rPr>
                        <a:t>系统测试、业务验收</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5.1</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5</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5.15</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系统测试报告</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652780">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宋体" panose="02010600030101010101" pitchFamily="2" charset="-122"/>
                        </a:rPr>
                        <a:t>投产准备</a:t>
                      </a: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投产准备、投产实施</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5.1</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5.5.20</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投产文档、项目投产</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rPr>
                        <a:t>是</a:t>
                      </a: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r>
              <a:tr h="384810">
                <a:tc>
                  <a:txBody>
                    <a:bodyPr/>
                    <a:p>
                      <a:pPr marL="0" lvl="0" indent="0" eaLnBrk="1" hangingPunct="1">
                        <a:spcBef>
                          <a:spcPct val="0"/>
                        </a:spcBef>
                        <a:buFont typeface="Arial" panose="020B0604020202090204" charset="-122"/>
                        <a:buNone/>
                      </a:pPr>
                      <a:r>
                        <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验证</a:t>
                      </a: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sym typeface="+mn-ea"/>
                        </a:rPr>
                        <a:t>技术验证</a:t>
                      </a:r>
                      <a:endParaRPr lang="zh-CN" altLang="en-US" sz="1200" dirty="0">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5.20</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5.35</a:t>
                      </a:r>
                      <a:endParaRPr lang="en-US" altLang="x-none" sz="1200" dirty="0">
                        <a:solidFill>
                          <a:srgbClr val="000000"/>
                        </a:solidFill>
                        <a:latin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solidFill>
                            <a:srgbClr val="000000"/>
                          </a:solidFill>
                          <a:latin typeface="微软雅黑" panose="020B0503020204020204" pitchFamily="34" charset="-122"/>
                          <a:sym typeface="+mn-ea"/>
                        </a:rPr>
                        <a:t>验证报告</a:t>
                      </a:r>
                      <a:endParaRPr lang="zh-CN" altLang="en-US" sz="1200" dirty="0">
                        <a:solidFill>
                          <a:srgbClr val="000000"/>
                        </a:solidFill>
                        <a:latin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r h="631825">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试运行</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项目结项</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5.35</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sz="1200" dirty="0">
                          <a:solidFill>
                            <a:srgbClr val="000000"/>
                          </a:solidFill>
                          <a:latin typeface="微软雅黑" panose="020B0503020204020204" pitchFamily="34" charset="-122"/>
                          <a:sym typeface="+mn-ea"/>
                        </a:rPr>
                        <a:t>202</a:t>
                      </a:r>
                      <a:r>
                        <a:rPr lang="en-US" sz="1200" dirty="0">
                          <a:solidFill>
                            <a:srgbClr val="000000"/>
                          </a:solidFill>
                          <a:latin typeface="微软雅黑" panose="020B0503020204020204" pitchFamily="34" charset="-122"/>
                          <a:sym typeface="+mn-ea"/>
                        </a:rPr>
                        <a:t>6</a:t>
                      </a:r>
                      <a:r>
                        <a:rPr sz="1200" dirty="0">
                          <a:solidFill>
                            <a:srgbClr val="000000"/>
                          </a:solidFill>
                          <a:latin typeface="微软雅黑" panose="020B0503020204020204" pitchFamily="34" charset="-122"/>
                          <a:sym typeface="+mn-ea"/>
                        </a:rPr>
                        <a:t>.</a:t>
                      </a:r>
                      <a:r>
                        <a:rPr lang="en-US" sz="1200" dirty="0">
                          <a:solidFill>
                            <a:srgbClr val="000000"/>
                          </a:solidFill>
                          <a:latin typeface="微软雅黑" panose="020B0503020204020204" pitchFamily="34" charset="-122"/>
                          <a:sym typeface="+mn-ea"/>
                        </a:rPr>
                        <a:t>5.30</a:t>
                      </a:r>
                      <a:endParaRPr lang="en-US" altLang="x-none"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c>
                  <a:txBody>
                    <a:bodyPr/>
                    <a:p>
                      <a:pPr marL="0" lvl="0" indent="0" eaLnBrk="1" hangingPunct="1">
                        <a:spcBef>
                          <a:spcPct val="0"/>
                        </a:spcBef>
                        <a:buFont typeface="Arial" panose="020B0604020202090204" charset="-122"/>
                        <a:buNone/>
                      </a:pPr>
                      <a:r>
                        <a:rPr lang="zh-CN" altLang="en-US" sz="1200">
                          <a:solidFill>
                            <a:srgbClr val="000000"/>
                          </a:solidFill>
                          <a:latin typeface="微软雅黑" panose="020B0503020204020204" pitchFamily="34" charset="-122"/>
                          <a:ea typeface="微软雅黑" panose="020B0503020204020204" pitchFamily="34" charset="-122"/>
                          <a:sym typeface="+mn-ea"/>
                        </a:rPr>
                        <a:t>验收考核文档、项目结项报告</a:t>
                      </a:r>
                      <a:endParaRPr lang="zh-CN" altLang="en-US" sz="1200" dirty="0">
                        <a:solidFill>
                          <a:srgbClr val="000000"/>
                        </a:solidFill>
                        <a:latin typeface="微软雅黑" panose="020B0503020204020204" pitchFamily="34" charset="-122"/>
                        <a:ea typeface="微软雅黑" panose="020B0503020204020204" pitchFamily="34" charset="-122"/>
                        <a:sym typeface="+mn-ea"/>
                      </a:endParaRPr>
                    </a:p>
                  </a:txBody>
                  <a:tcPr marL="91451" marR="91451" marT="45725" marB="45725" vert="horz" anchor="ctr" anchorCtr="0"/>
                </a:tc>
                <a:tc>
                  <a:txBody>
                    <a:bodyPr/>
                    <a:p>
                      <a:pPr marL="0" lvl="0" indent="0" eaLnBrk="1" hangingPunct="1">
                        <a:spcBef>
                          <a:spcPct val="0"/>
                        </a:spcBef>
                        <a:buFont typeface="Arial" panose="020B0604020202090204" charset="-122"/>
                        <a:buNone/>
                      </a:pPr>
                      <a:endParaRPr lang="zh-CN" altLang="en-US" sz="1200" dirty="0">
                        <a:latin typeface="微软雅黑" panose="020B0503020204020204" pitchFamily="34" charset="-122"/>
                        <a:ea typeface="微软雅黑" panose="020B0503020204020204" pitchFamily="34" charset="-122"/>
                      </a:endParaRPr>
                    </a:p>
                  </a:txBody>
                  <a:tcPr marL="91451" marR="91451" marT="45725" marB="45725" vert="horz" anchor="ctr" anchorCtr="1"/>
                </a:tc>
                <a:tc>
                  <a:txBody>
                    <a:bodyPr/>
                    <a:p>
                      <a:pPr marL="0" lvl="0" indent="0" algn="ctr" eaLnBrk="1" hangingPunct="1">
                        <a:spcBef>
                          <a:spcPct val="0"/>
                        </a:spcBef>
                        <a:buFont typeface="Arial" panose="020B0604020202090204" charset="-122"/>
                        <a:buNone/>
                      </a:pPr>
                      <a:r>
                        <a:rPr lang="zh-CN" altLang="en-US" sz="1200" dirty="0">
                          <a:latin typeface="微软雅黑" panose="020B0503020204020204" pitchFamily="34" charset="-122"/>
                          <a:ea typeface="微软雅黑" panose="020B0503020204020204" pitchFamily="34" charset="-122"/>
                          <a:sym typeface="+mn-ea"/>
                        </a:rPr>
                        <a:t>是</a:t>
                      </a:r>
                      <a:endParaRPr lang="zh-CN" altLang="en-US" sz="1200" dirty="0">
                        <a:latin typeface="微软雅黑" panose="020B0503020204020204" pitchFamily="34" charset="-122"/>
                        <a:ea typeface="微软雅黑" panose="020B0503020204020204" pitchFamily="34" charset="-122"/>
                        <a:sym typeface="+mn-ea"/>
                      </a:endParaRPr>
                    </a:p>
                  </a:txBody>
                  <a:tcPr marL="91451" marR="91451" marT="45725" marB="45725" vert="horz" anchor="ctr" anchorCtr="1"/>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6" name="Line 33"/>
          <p:cNvSpPr/>
          <p:nvPr/>
        </p:nvSpPr>
        <p:spPr>
          <a:xfrm flipH="1">
            <a:off x="7769225" y="3388360"/>
            <a:ext cx="3175" cy="1360488"/>
          </a:xfrm>
          <a:prstGeom prst="line">
            <a:avLst/>
          </a:prstGeom>
          <a:ln w="9525" cap="flat" cmpd="sng">
            <a:solidFill>
              <a:srgbClr val="000000"/>
            </a:solidFill>
            <a:prstDash val="solid"/>
            <a:round/>
            <a:headEnd type="none" w="med" len="med"/>
            <a:tailEnd type="none"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7" name="Line 34"/>
          <p:cNvSpPr/>
          <p:nvPr/>
        </p:nvSpPr>
        <p:spPr>
          <a:xfrm>
            <a:off x="6911975" y="3689985"/>
            <a:ext cx="863600" cy="1588"/>
          </a:xfrm>
          <a:prstGeom prst="line">
            <a:avLst/>
          </a:prstGeom>
          <a:ln w="9525" cap="flat" cmpd="sng">
            <a:solidFill>
              <a:srgbClr val="000000"/>
            </a:solidFill>
            <a:prstDash val="solid"/>
            <a:round/>
            <a:headEnd type="none" w="med" len="med"/>
            <a:tailEnd type="none" w="med" len="med"/>
          </a:ln>
          <a:effectLst>
            <a:outerShdw algn="ctr" rotWithShape="0">
              <a:srgbClr val="000000">
                <a:alpha val="50000"/>
              </a:srgbClr>
            </a:outerShdw>
          </a:effectLst>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8" name="Text Box 35"/>
          <p:cNvSpPr txBox="1"/>
          <p:nvPr/>
        </p:nvSpPr>
        <p:spPr>
          <a:xfrm>
            <a:off x="7907338" y="3264535"/>
            <a:ext cx="2527300" cy="1630045"/>
          </a:xfrm>
          <a:prstGeom prst="rect">
            <a:avLst/>
          </a:prstGeom>
          <a:noFill/>
          <a:ln w="9525">
            <a:noFill/>
          </a:ln>
        </p:spPr>
        <p:txBody>
          <a:bodyPr wrap="square" anchor="t">
            <a:spAutoFit/>
          </a:bodyPr>
          <a:p>
            <a:pPr>
              <a:buFont typeface="Wingdings" panose="05000000000000000000" pitchFamily="2" charset="2"/>
            </a:pPr>
            <a:r>
              <a:rPr lang="zh-CN" altLang="zh-CN" sz="2000" dirty="0">
                <a:solidFill>
                  <a:schemeClr val="tx1"/>
                </a:solidFill>
                <a:latin typeface="微软雅黑" panose="020B0503020204020204" pitchFamily="34" charset="-122"/>
                <a:ea typeface="微软雅黑" panose="020B0503020204020204" pitchFamily="34" charset="-122"/>
              </a:rPr>
              <a:t>时间计划</a:t>
            </a:r>
            <a:endParaRPr lang="zh-CN" altLang="zh-CN" sz="2000" dirty="0">
              <a:solidFill>
                <a:schemeClr val="tx1"/>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pPr>
            <a:r>
              <a:rPr lang="zh-CN" altLang="zh-CN" sz="2000" dirty="0">
                <a:solidFill>
                  <a:srgbClr val="FF0000"/>
                </a:solidFill>
                <a:latin typeface="微软雅黑" panose="020B0503020204020204" pitchFamily="34" charset="-122"/>
                <a:ea typeface="微软雅黑" panose="020B0503020204020204" pitchFamily="34" charset="-122"/>
              </a:rPr>
              <a:t>预期成果</a:t>
            </a:r>
            <a:endParaRPr lang="zh-CN" altLang="zh-CN" sz="2000" dirty="0">
              <a:solidFill>
                <a:srgbClr val="FF0000"/>
              </a:solidFill>
              <a:latin typeface="微软雅黑" panose="020B0503020204020204" pitchFamily="34" charset="-122"/>
              <a:ea typeface="微软雅黑" panose="020B0503020204020204" pitchFamily="34" charset="-122"/>
            </a:endParaRPr>
          </a:p>
          <a:p>
            <a:pPr>
              <a:buFont typeface="Wingdings" panose="05000000000000000000" pitchFamily="2" charset="2"/>
            </a:pPr>
            <a:endParaRPr lang="zh-CN" altLang="zh-CN" sz="2000" dirty="0">
              <a:solidFill>
                <a:srgbClr val="FF0000"/>
              </a:solidFill>
              <a:latin typeface="微软雅黑" panose="020B0503020204020204" pitchFamily="34" charset="-122"/>
              <a:ea typeface="微软雅黑" panose="020B0503020204020204" pitchFamily="3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par>
                                <p:cTn id="8" presetID="5"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4"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p:bldP spid="18" grpId="1" bldLvl="0"/>
      <p:bldP spid="18" grpId="2" bldLvl="0"/>
      <p:bldP spid="18" grpId="3" bldLvl="0"/>
      <p:bldP spid="18" grpId="4" bldLvl="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3" name="标题 2"/>
          <p:cNvSpPr>
            <a:spLocks noGrp="1"/>
          </p:cNvSpPr>
          <p:nvPr>
            <p:ph type="title"/>
          </p:nvPr>
        </p:nvSpPr>
        <p:spPr/>
        <p:txBody>
          <a:bodyPr wrap="square" lIns="91440" tIns="45720" rIns="91440" bIns="45720" anchor="ctr"/>
          <a:p>
            <a:pPr defTabSz="685800"/>
            <a:r>
              <a:rPr lang="en-US" altLang="zh-CN" dirty="0">
                <a:latin typeface="Arial" panose="020B0604020202090204" pitchFamily="34" charset="0"/>
                <a:sym typeface="宋体" panose="02010600030101010101" pitchFamily="2" charset="-122"/>
              </a:rPr>
              <a:t> 3.2</a:t>
            </a:r>
            <a:r>
              <a:rPr lang="zh-CN" altLang="en-US" dirty="0">
                <a:latin typeface="Arial" panose="020B0604020202090204" pitchFamily="34" charset="0"/>
                <a:sym typeface="宋体" panose="02010600030101010101" pitchFamily="2" charset="-122"/>
              </a:rPr>
              <a:t>预期成果</a:t>
            </a:r>
            <a:endParaRPr lang="zh-CN" altLang="en-US">
              <a:sym typeface="宋体" panose="02010600030101010101" pitchFamily="2" charset="-122"/>
            </a:endParaRPr>
          </a:p>
        </p:txBody>
      </p:sp>
      <p:sp>
        <p:nvSpPr>
          <p:cNvPr id="228354" name="TextBox 3"/>
          <p:cNvSpPr/>
          <p:nvPr/>
        </p:nvSpPr>
        <p:spPr>
          <a:xfrm>
            <a:off x="492125" y="1425575"/>
            <a:ext cx="10268585" cy="1699895"/>
          </a:xfrm>
          <a:prstGeom prst="rect">
            <a:avLst/>
          </a:prstGeom>
          <a:noFill/>
          <a:ln w="19050" cap="flat" cmpd="sng">
            <a:solidFill>
              <a:srgbClr val="0556A7"/>
            </a:solidFill>
            <a:prstDash val="lgDash"/>
            <a:miter/>
            <a:headEnd type="none" w="med" len="med"/>
            <a:tailEnd type="none" w="med" len="med"/>
          </a:ln>
        </p:spPr>
        <p:txBody>
          <a:bodyPr wrap="square" anchor="t">
            <a:noAutofit/>
          </a:bodyPr>
          <a:p>
            <a:pPr lvl="0" algn="l" eaLnBrk="0" hangingPunct="0">
              <a:lnSpc>
                <a:spcPct val="120000"/>
              </a:lnSpc>
              <a:buClrTx/>
              <a:buSzTx/>
              <a:buFont typeface="Wingdings" panose="05000000000000000000" pitchFamily="2" charset="2"/>
            </a:pPr>
            <a:endParaRPr lang="zh-CN" altLang="en-US" sz="1200" b="1" dirty="0">
              <a:latin typeface="微软雅黑" panose="020B0503020204020204" pitchFamily="34" charset="-122"/>
              <a:ea typeface="微软雅黑" panose="020B0503020204020204" pitchFamily="34" charset="-122"/>
              <a:sym typeface="Arial" panose="020B0604020202090204" charset="-122"/>
            </a:endParaRPr>
          </a:p>
        </p:txBody>
      </p:sp>
      <p:sp>
        <p:nvSpPr>
          <p:cNvPr id="228355" name="Text Box 16"/>
          <p:cNvSpPr/>
          <p:nvPr/>
        </p:nvSpPr>
        <p:spPr>
          <a:xfrm>
            <a:off x="460375" y="1020445"/>
            <a:ext cx="1275715" cy="352425"/>
          </a:xfrm>
          <a:prstGeom prst="rect">
            <a:avLst/>
          </a:prstGeom>
          <a:solidFill>
            <a:srgbClr val="004CA1"/>
          </a:solidFill>
          <a:ln w="38100" cap="flat" cmpd="sng">
            <a:solidFill>
              <a:srgbClr val="FFFFFF"/>
            </a:solidFill>
            <a:prstDash val="solid"/>
            <a:miter/>
            <a:headEnd type="none" w="med" len="med"/>
            <a:tailEnd type="none" w="med" len="med"/>
          </a:ln>
        </p:spPr>
        <p:txBody>
          <a:bodyPr wrap="square" anchor="t">
            <a:spAutoFit/>
          </a:bodyPr>
          <a:p>
            <a:pPr lvl="0" algn="l">
              <a:buClrTx/>
              <a:buSzTx/>
              <a:buFontTx/>
            </a:pPr>
            <a:r>
              <a:rPr lang="zh-CN" altLang="en-US" sz="1600" b="1" dirty="0">
                <a:solidFill>
                  <a:srgbClr val="FFFFFF"/>
                </a:solidFill>
                <a:latin typeface="微软雅黑" panose="020B0503020204020204" pitchFamily="34" charset="-122"/>
                <a:ea typeface="微软雅黑" panose="020B0503020204020204" pitchFamily="34" charset="-122"/>
                <a:sym typeface="宋体" panose="02010600030101010101" pitchFamily="2" charset="-122"/>
              </a:rPr>
              <a:t>预期</a:t>
            </a:r>
            <a:r>
              <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rPr>
              <a:t>成果：</a:t>
            </a:r>
            <a:endParaRPr lang="zh-CN" altLang="en-US" sz="1600" b="1" dirty="0">
              <a:solidFill>
                <a:srgbClr val="FFFFFF"/>
              </a:solidFill>
              <a:latin typeface="微软雅黑" panose="020B0503020204020204" pitchFamily="34" charset="-122"/>
              <a:ea typeface="微软雅黑" panose="020B0503020204020204" pitchFamily="34" charset="-122"/>
              <a:sym typeface="黑体" panose="02010609060101010101" charset="-122"/>
            </a:endParaRPr>
          </a:p>
        </p:txBody>
      </p:sp>
      <p:sp>
        <p:nvSpPr>
          <p:cNvPr id="2" name="灯片编号占位符 1"/>
          <p:cNvSpPr>
            <a:spLocks noGrp="1"/>
          </p:cNvSpPr>
          <p:nvPr>
            <p:ph type="sldNum" sz="quarter" idx="12"/>
          </p:nvPr>
        </p:nvSpPr>
        <p:spPr/>
        <p:txBody>
          <a:bodyPr/>
          <a:p>
            <a:pPr fontAlgn="auto"/>
            <a:r>
              <a:rPr lang="zh-CN" altLang="en-US" strike="noStrike" noProof="1" smtClean="0">
                <a:latin typeface="黑体" panose="02010609060101010101" charset="-122"/>
                <a:ea typeface="黑体" panose="02010609060101010101" charset="-122"/>
                <a:cs typeface="+mn-cs"/>
              </a:rPr>
              <a:t>第页</a:t>
            </a:r>
            <a:endParaRPr lang="zh-CN" altLang="en-US" strike="noStrike" noProof="1" smtClean="0"/>
          </a:p>
        </p:txBody>
      </p:sp>
      <p:sp>
        <p:nvSpPr>
          <p:cNvPr id="3" name="文本框 2"/>
          <p:cNvSpPr txBox="1"/>
          <p:nvPr/>
        </p:nvSpPr>
        <p:spPr>
          <a:xfrm>
            <a:off x="964565" y="1904365"/>
            <a:ext cx="9958705" cy="645160"/>
          </a:xfrm>
          <a:prstGeom prst="rect">
            <a:avLst/>
          </a:prstGeom>
          <a:noFill/>
        </p:spPr>
        <p:txBody>
          <a:bodyPr wrap="square" rtlCol="0">
            <a:spAutoFit/>
          </a:bodyPr>
          <a:p>
            <a:r>
              <a:rPr lang="zh-CN" altLang="en-US"/>
              <a:t>构建一套标准化、高安全、可扩展的人大金仓数据卸载与加载</a:t>
            </a:r>
            <a:r>
              <a:rPr lang="zh-CN" altLang="en-US"/>
              <a:t>工具，解决现有各项目组重复开发脚本、安全标准不统一、非结构化文件落地困难等问题。</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74" name="标题 6145"/>
          <p:cNvSpPr>
            <a:spLocks noGrp="1"/>
          </p:cNvSpPr>
          <p:nvPr>
            <p:ph type="title"/>
          </p:nvPr>
        </p:nvSpPr>
        <p:spPr/>
        <p:txBody>
          <a:bodyPr wrap="square" lIns="91440" tIns="45720" rIns="91440" bIns="45720" anchor="ctr"/>
          <a:p>
            <a:pPr defTabSz="685800"/>
            <a:r>
              <a:rPr lang="zh-CN" altLang="en-US" dirty="0"/>
              <a:t>目录页</a:t>
            </a:r>
            <a:endParaRPr lang="zh-CN" altLang="en-US" dirty="0"/>
          </a:p>
        </p:txBody>
      </p:sp>
      <p:sp>
        <p:nvSpPr>
          <p:cNvPr id="190475" name="Line 11"/>
          <p:cNvSpPr/>
          <p:nvPr/>
        </p:nvSpPr>
        <p:spPr>
          <a:xfrm>
            <a:off x="4918075" y="23431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7" name="矩形 22"/>
          <p:cNvSpPr/>
          <p:nvPr/>
        </p:nvSpPr>
        <p:spPr>
          <a:xfrm>
            <a:off x="5305425" y="1909763"/>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项目背景</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78" name="Line 14"/>
          <p:cNvSpPr/>
          <p:nvPr/>
        </p:nvSpPr>
        <p:spPr>
          <a:xfrm flipV="1">
            <a:off x="4918075" y="3143250"/>
            <a:ext cx="2616200" cy="4763"/>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79" name="矩形 25"/>
          <p:cNvSpPr/>
          <p:nvPr/>
        </p:nvSpPr>
        <p:spPr>
          <a:xfrm>
            <a:off x="5305425" y="2705100"/>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架构设计</a:t>
            </a:r>
            <a:endParaRPr lang="zh-CN" altLang="en-US" sz="2000" dirty="0">
              <a:latin typeface="Times New Roman" panose="02020703060505090304" pitchFamily="2" charset="-20"/>
              <a:ea typeface="微软雅黑" panose="020B0503020204020204" pitchFamily="34" charset="-122"/>
            </a:endParaRPr>
          </a:p>
        </p:txBody>
      </p:sp>
      <p:sp>
        <p:nvSpPr>
          <p:cNvPr id="190484" name="Line 11"/>
          <p:cNvSpPr/>
          <p:nvPr/>
        </p:nvSpPr>
        <p:spPr>
          <a:xfrm>
            <a:off x="4938713" y="3905250"/>
            <a:ext cx="2622550" cy="7938"/>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86" name="矩形 22"/>
          <p:cNvSpPr/>
          <p:nvPr/>
        </p:nvSpPr>
        <p:spPr>
          <a:xfrm>
            <a:off x="5326063" y="3471863"/>
            <a:ext cx="1402080" cy="423545"/>
          </a:xfrm>
          <a:prstGeom prst="rect">
            <a:avLst/>
          </a:prstGeom>
          <a:noFill/>
          <a:ln w="9525">
            <a:noFill/>
          </a:ln>
        </p:spPr>
        <p:txBody>
          <a:bodyPr wrap="none" anchor="t">
            <a:spAutoFit/>
          </a:bodyPr>
          <a:p>
            <a:pPr algn="l">
              <a:lnSpc>
                <a:spcPct val="90000"/>
              </a:lnSpc>
              <a:buFont typeface="Wingdings" panose="05000000000000000000" pitchFamily="2" charset="2"/>
            </a:pPr>
            <a:r>
              <a:rPr lang="zh-CN" altLang="en-US" sz="2400" dirty="0">
                <a:latin typeface="Times New Roman" panose="02020703060505090304" pitchFamily="2" charset="-20"/>
                <a:ea typeface="微软雅黑" panose="020B0503020204020204" pitchFamily="34" charset="-122"/>
                <a:sym typeface="Arial" panose="020B0604020202090204" charset="-122"/>
              </a:rPr>
              <a:t>实施计划</a:t>
            </a:r>
            <a:endParaRPr lang="zh-CN" altLang="en-US" sz="2400" dirty="0">
              <a:latin typeface="Times New Roman" panose="02020703060505090304" pitchFamily="2" charset="-20"/>
              <a:ea typeface="微软雅黑" panose="020B0503020204020204" pitchFamily="34" charset="-122"/>
              <a:sym typeface="Arial" panose="020B0604020202090204" charset="-122"/>
            </a:endParaRPr>
          </a:p>
        </p:txBody>
      </p:sp>
      <p:sp>
        <p:nvSpPr>
          <p:cNvPr id="190494" name="Line 11"/>
          <p:cNvSpPr/>
          <p:nvPr/>
        </p:nvSpPr>
        <p:spPr>
          <a:xfrm>
            <a:off x="4933950" y="4713288"/>
            <a:ext cx="2622550" cy="7937"/>
          </a:xfrm>
          <a:prstGeom prst="line">
            <a:avLst/>
          </a:prstGeom>
          <a:ln w="25400" cap="flat" cmpd="sng">
            <a:solidFill>
              <a:srgbClr val="C0C0C0"/>
            </a:solidFill>
            <a:prstDash val="sysDot"/>
            <a:round/>
            <a:headEnd type="none" w="med" len="med"/>
            <a:tailEnd type="oval" w="med" len="med"/>
          </a:ln>
        </p:spPr>
        <p:txBody>
          <a:bodyPr anchor="t"/>
          <a:p>
            <a:pPr algn="ctr"/>
            <a:endParaRPr lang="zh-CN" altLang="en-US">
              <a:latin typeface="Times New Roman" panose="02020703060505090304" pitchFamily="2" charset="-20"/>
              <a:ea typeface="华文细黑" panose="02010600040101010101" pitchFamily="2" charset="-122"/>
            </a:endParaRPr>
          </a:p>
        </p:txBody>
      </p:sp>
      <p:sp>
        <p:nvSpPr>
          <p:cNvPr id="190496" name="矩形 22"/>
          <p:cNvSpPr/>
          <p:nvPr/>
        </p:nvSpPr>
        <p:spPr>
          <a:xfrm>
            <a:off x="5321300" y="4279900"/>
            <a:ext cx="1402080" cy="423545"/>
          </a:xfrm>
          <a:prstGeom prst="rect">
            <a:avLst/>
          </a:prstGeom>
          <a:noFill/>
          <a:ln w="9525">
            <a:noFill/>
          </a:ln>
        </p:spPr>
        <p:txBody>
          <a:bodyPr wrap="none" anchor="t">
            <a:spAutoFit/>
          </a:bodyPr>
          <a:p>
            <a:pPr>
              <a:lnSpc>
                <a:spcPct val="90000"/>
              </a:lnSpc>
              <a:buFont typeface="Wingdings" panose="05000000000000000000" pitchFamily="2" charset="2"/>
            </a:pPr>
            <a:r>
              <a:rPr lang="zh-CN" altLang="en-US" sz="2400" dirty="0">
                <a:solidFill>
                  <a:srgbClr val="FF0000"/>
                </a:solidFill>
                <a:latin typeface="Times New Roman" panose="02020703060505090304" pitchFamily="2" charset="-20"/>
                <a:ea typeface="微软雅黑" panose="020B0503020204020204" pitchFamily="34" charset="-122"/>
                <a:sym typeface="Arial" panose="020B0604020202090204" charset="-122"/>
              </a:rPr>
              <a:t>请示事项</a:t>
            </a:r>
            <a:endParaRPr lang="zh-CN" altLang="en-US" sz="2400" dirty="0">
              <a:solidFill>
                <a:srgbClr val="FF0000"/>
              </a:solidFill>
              <a:latin typeface="Times New Roman" panose="02020703060505090304" pitchFamily="2" charset="-20"/>
              <a:ea typeface="微软雅黑" panose="020B0503020204020204" pitchFamily="34" charset="-122"/>
              <a:sym typeface="Arial" panose="020B0604020202090204" charset="-122"/>
            </a:endParaRPr>
          </a:p>
        </p:txBody>
      </p:sp>
      <p:grpSp>
        <p:nvGrpSpPr>
          <p:cNvPr id="8" name="组合 7"/>
          <p:cNvGrpSpPr/>
          <p:nvPr/>
        </p:nvGrpSpPr>
        <p:grpSpPr>
          <a:xfrm>
            <a:off x="4268470" y="1822450"/>
            <a:ext cx="762000" cy="662940"/>
            <a:chOff x="6758" y="2870"/>
            <a:chExt cx="1200" cy="1044"/>
          </a:xfrm>
        </p:grpSpPr>
        <p:grpSp>
          <p:nvGrpSpPr>
            <p:cNvPr id="39942" name="组合 6146"/>
            <p:cNvGrpSpPr/>
            <p:nvPr/>
          </p:nvGrpSpPr>
          <p:grpSpPr>
            <a:xfrm>
              <a:off x="6758" y="2870"/>
              <a:ext cx="1200" cy="1045"/>
              <a:chOff x="0" y="0"/>
              <a:chExt cx="1549" cy="1351"/>
            </a:xfrm>
          </p:grpSpPr>
          <p:sp>
            <p:nvSpPr>
              <p:cNvPr id="3994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994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9948" name="Text Box 13"/>
            <p:cNvSpPr/>
            <p:nvPr/>
          </p:nvSpPr>
          <p:spPr>
            <a:xfrm>
              <a:off x="7016" y="3025"/>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一</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7" name="组合 6"/>
          <p:cNvGrpSpPr/>
          <p:nvPr/>
        </p:nvGrpSpPr>
        <p:grpSpPr>
          <a:xfrm>
            <a:off x="4268153" y="4192270"/>
            <a:ext cx="762000" cy="663575"/>
            <a:chOff x="6588" y="6602"/>
            <a:chExt cx="1200" cy="1045"/>
          </a:xfrm>
        </p:grpSpPr>
        <p:sp>
          <p:nvSpPr>
            <p:cNvPr id="39964"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 name="组合 6146"/>
            <p:cNvGrpSpPr/>
            <p:nvPr/>
          </p:nvGrpSpPr>
          <p:grpSpPr>
            <a:xfrm>
              <a:off x="6588" y="6602"/>
              <a:ext cx="1200" cy="1045"/>
              <a:chOff x="0" y="0"/>
              <a:chExt cx="1549" cy="1351"/>
            </a:xfrm>
          </p:grpSpPr>
          <p:sp>
            <p:nvSpPr>
              <p:cNvPr id="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6"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四</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10" name="组合 9"/>
          <p:cNvGrpSpPr/>
          <p:nvPr/>
        </p:nvGrpSpPr>
        <p:grpSpPr>
          <a:xfrm>
            <a:off x="4268470" y="3402330"/>
            <a:ext cx="762000" cy="663575"/>
            <a:chOff x="6588" y="6602"/>
            <a:chExt cx="1200" cy="1045"/>
          </a:xfrm>
        </p:grpSpPr>
        <p:sp>
          <p:nvSpPr>
            <p:cNvPr id="11"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12" name="组合 6146"/>
            <p:cNvGrpSpPr/>
            <p:nvPr/>
          </p:nvGrpSpPr>
          <p:grpSpPr>
            <a:xfrm>
              <a:off x="6588" y="6602"/>
              <a:ext cx="1200" cy="1045"/>
              <a:chOff x="0" y="0"/>
              <a:chExt cx="1549" cy="1351"/>
            </a:xfrm>
          </p:grpSpPr>
          <p:sp>
            <p:nvSpPr>
              <p:cNvPr id="13"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4"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15"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19"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三</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grpSp>
        <p:nvGrpSpPr>
          <p:cNvPr id="27" name="组合 26"/>
          <p:cNvGrpSpPr/>
          <p:nvPr/>
        </p:nvGrpSpPr>
        <p:grpSpPr>
          <a:xfrm>
            <a:off x="4268470" y="2612390"/>
            <a:ext cx="762000" cy="663575"/>
            <a:chOff x="6588" y="6602"/>
            <a:chExt cx="1200" cy="1045"/>
          </a:xfrm>
        </p:grpSpPr>
        <p:sp>
          <p:nvSpPr>
            <p:cNvPr id="28" name="Text Box 13"/>
            <p:cNvSpPr/>
            <p:nvPr/>
          </p:nvSpPr>
          <p:spPr>
            <a:xfrm>
              <a:off x="7040" y="6758"/>
              <a:ext cx="688" cy="628"/>
            </a:xfrm>
            <a:prstGeom prst="rect">
              <a:avLst/>
            </a:prstGeom>
            <a:noFill/>
            <a:ln w="9525">
              <a:noFill/>
            </a:ln>
          </p:spPr>
          <p:txBody>
            <a:bodyPr wrap="none" anchor="t">
              <a:spAutoFit/>
            </a:bodyPr>
            <a:p>
              <a:pPr algn="ctr">
                <a:buFont typeface="Wingdings" panose="05000000000000000000" pitchFamily="2" charset="2"/>
              </a:pPr>
              <a:r>
                <a:rPr lang="zh-CN" altLang="en-US" sz="2000" b="1">
                  <a:latin typeface="Times New Roman" panose="02020703060505090304" pitchFamily="2" charset="-20"/>
                  <a:ea typeface="微软雅黑" panose="020B0503020204020204" pitchFamily="34" charset="-122"/>
                  <a:sym typeface="Arial" panose="020B0604020202090204" charset="-122"/>
                </a:rPr>
                <a:t>四</a:t>
              </a:r>
              <a:endParaRPr lang="en-US" altLang="zh-CN" sz="2000" b="1">
                <a:latin typeface="Times New Roman" panose="02020703060505090304" pitchFamily="2" charset="-20"/>
                <a:ea typeface="微软雅黑" panose="020B0503020204020204" pitchFamily="34" charset="-122"/>
                <a:sym typeface="Arial" panose="020B0604020202090204" charset="-122"/>
              </a:endParaRPr>
            </a:p>
          </p:txBody>
        </p:sp>
        <p:grpSp>
          <p:nvGrpSpPr>
            <p:cNvPr id="29" name="组合 6146"/>
            <p:cNvGrpSpPr/>
            <p:nvPr/>
          </p:nvGrpSpPr>
          <p:grpSpPr>
            <a:xfrm>
              <a:off x="6588" y="6602"/>
              <a:ext cx="1200" cy="1045"/>
              <a:chOff x="0" y="0"/>
              <a:chExt cx="1549" cy="1351"/>
            </a:xfrm>
          </p:grpSpPr>
          <p:sp>
            <p:nvSpPr>
              <p:cNvPr id="30" name="AutoShape 8"/>
              <p:cNvSpPr/>
              <p:nvPr/>
            </p:nvSpPr>
            <p:spPr>
              <a:xfrm>
                <a:off x="13" y="23"/>
                <a:ext cx="1536" cy="1328"/>
              </a:xfrm>
              <a:prstGeom prst="hexagon">
                <a:avLst>
                  <a:gd name="adj" fmla="val 28915"/>
                  <a:gd name="vf" fmla="val 115470"/>
                </a:avLst>
              </a:prstGeom>
              <a:solidFill>
                <a:srgbClr val="808080"/>
              </a:solidFill>
              <a:ln w="9525">
                <a:noFill/>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1" name="AutoShape 9"/>
              <p:cNvSpPr/>
              <p:nvPr/>
            </p:nvSpPr>
            <p:spPr>
              <a:xfrm>
                <a:off x="0" y="0"/>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sp>
            <p:nvSpPr>
              <p:cNvPr id="32" name="AutoShape 10"/>
              <p:cNvSpPr/>
              <p:nvPr/>
            </p:nvSpPr>
            <p:spPr>
              <a:xfrm>
                <a:off x="90" y="80"/>
                <a:ext cx="1350" cy="1168"/>
              </a:xfrm>
              <a:prstGeom prst="hexagon">
                <a:avLst>
                  <a:gd name="adj" fmla="val 28895"/>
                  <a:gd name="vf" fmla="val 115470"/>
                </a:avLst>
              </a:prstGeom>
              <a:gradFill rotWithShape="1">
                <a:gsLst>
                  <a:gs pos="50000">
                    <a:srgbClr val="007BD3"/>
                  </a:gs>
                  <a:gs pos="100000">
                    <a:srgbClr val="034373"/>
                  </a:gs>
                </a:gsLst>
                <a:lin ang="2700000" scaled="0"/>
              </a:gradFill>
              <a:ln w="9525" cap="flat" cmpd="sng">
                <a:solidFill>
                  <a:schemeClr val="tx1"/>
                </a:solidFill>
                <a:prstDash val="solid"/>
                <a:miter/>
                <a:headEnd type="none" w="med" len="med"/>
                <a:tailEnd type="none" w="med" len="med"/>
              </a:ln>
            </p:spPr>
            <p:txBody>
              <a:bodyPr wrap="none" anchor="ctr"/>
              <a:p>
                <a:pPr>
                  <a:buFont typeface="Wingdings" panose="05000000000000000000" pitchFamily="2" charset="2"/>
                </a:pPr>
                <a:endParaRPr lang="en-US" altLang="en-US" sz="2000">
                  <a:latin typeface="微软雅黑" panose="020B0503020204020204" pitchFamily="34" charset="-122"/>
                  <a:ea typeface="微软雅黑" panose="020B0503020204020204" pitchFamily="34" charset="-122"/>
                  <a:sym typeface="Arial" panose="020B0604020202090204" charset="-122"/>
                </a:endParaRPr>
              </a:p>
            </p:txBody>
          </p:sp>
        </p:grpSp>
        <p:sp>
          <p:nvSpPr>
            <p:cNvPr id="33" name="Text Box 13"/>
            <p:cNvSpPr/>
            <p:nvPr/>
          </p:nvSpPr>
          <p:spPr>
            <a:xfrm>
              <a:off x="6846" y="6757"/>
              <a:ext cx="688" cy="628"/>
            </a:xfrm>
            <a:prstGeom prst="rect">
              <a:avLst/>
            </a:prstGeom>
            <a:noFill/>
            <a:ln w="9525">
              <a:noFill/>
            </a:ln>
          </p:spPr>
          <p:txBody>
            <a:bodyPr wrap="none" anchor="t">
              <a:spAutoFit/>
            </a:bodyPr>
            <a:p>
              <a:pPr algn="ctr">
                <a:buFont typeface="Wingdings" panose="05000000000000000000" pitchFamily="2" charset="2"/>
              </a:pPr>
              <a:r>
                <a:rPr lang="zh-CN" altLang="zh-CN" sz="2000" b="1">
                  <a:latin typeface="Times New Roman" panose="02020703060505090304" pitchFamily="2" charset="-20"/>
                  <a:ea typeface="微软雅黑" panose="020B0503020204020204" pitchFamily="34" charset="-122"/>
                  <a:sym typeface="Arial" panose="020B0604020202090204" charset="-122"/>
                </a:rPr>
                <a:t>二</a:t>
              </a:r>
              <a:endParaRPr lang="zh-CN" altLang="zh-CN" sz="2000" b="1">
                <a:latin typeface="Times New Roman" panose="02020703060505090304" pitchFamily="2" charset="-20"/>
                <a:ea typeface="微软雅黑" panose="020B0503020204020204" pitchFamily="34" charset="-122"/>
                <a:sym typeface="Arial" panose="020B0604020202090204" charset="-122"/>
              </a:endParaRPr>
            </a:p>
          </p:txBody>
        </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请示事项</a:t>
            </a:r>
            <a:endParaRPr lang="zh-CN" altLang="en-US"/>
          </a:p>
        </p:txBody>
      </p:sp>
      <p:sp>
        <p:nvSpPr>
          <p:cNvPr id="4" name="灯片编号占位符 3"/>
          <p:cNvSpPr>
            <a:spLocks noGrp="1"/>
          </p:cNvSpPr>
          <p:nvPr>
            <p:ph type="sldNum" sz="quarter" idx="12"/>
          </p:nvPr>
        </p:nvSpPr>
        <p:spPr/>
        <p:txBody>
          <a:bodyPr/>
          <a:p>
            <a:pPr fontAlgn="auto"/>
            <a:endParaRPr lang="zh-CN" altLang="en-US" strike="noStrike" noProof="1" smtClean="0"/>
          </a:p>
        </p:txBody>
      </p:sp>
      <p:sp>
        <p:nvSpPr>
          <p:cNvPr id="228354" name="TextBox 3"/>
          <p:cNvSpPr/>
          <p:nvPr/>
        </p:nvSpPr>
        <p:spPr>
          <a:xfrm>
            <a:off x="698500" y="1079500"/>
            <a:ext cx="10431780" cy="1089025"/>
          </a:xfrm>
          <a:prstGeom prst="rect">
            <a:avLst/>
          </a:prstGeom>
          <a:noFill/>
          <a:ln w="19050" cap="flat" cmpd="sng">
            <a:solidFill>
              <a:schemeClr val="accent1"/>
            </a:solidFill>
            <a:prstDash val="lgDash"/>
            <a:miter/>
            <a:headEnd type="none" w="med" len="med"/>
            <a:tailEnd type="none" w="med" len="med"/>
          </a:ln>
        </p:spPr>
        <p:txBody>
          <a:bodyPr wrap="square" anchor="t"/>
          <a:p>
            <a:pPr eaLnBrk="0" hangingPunct="0">
              <a:lnSpc>
                <a:spcPct val="120000"/>
              </a:lnSpc>
              <a:buFont typeface="Wingdings" panose="05000000000000000000" pitchFamily="2" charset="2"/>
            </a:pPr>
            <a:r>
              <a:rPr lang="zh-CN" altLang="en-US" b="1" dirty="0">
                <a:latin typeface="微软雅黑" panose="020B0503020204020204" pitchFamily="34" charset="-122"/>
                <a:ea typeface="微软雅黑" panose="020B0503020204020204" pitchFamily="34" charset="-122"/>
                <a:sym typeface="Arial" panose="020B0604020202090204" charset="-122"/>
              </a:rPr>
              <a:t>方案是否合理。</a:t>
            </a:r>
            <a:endParaRPr lang="zh-CN" altLang="en-US" b="1" dirty="0">
              <a:latin typeface="微软雅黑" panose="020B0503020204020204" pitchFamily="34" charset="-122"/>
              <a:ea typeface="微软雅黑" panose="020B0503020204020204" pitchFamily="34" charset="-122"/>
              <a:sym typeface="Arial" panose="020B060402020209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Picture 2" descr="未标题-2"/>
          <p:cNvPicPr>
            <a:picLocks noChangeAspect="1"/>
          </p:cNvPicPr>
          <p:nvPr/>
        </p:nvPicPr>
        <p:blipFill>
          <a:blip r:embed="rId1"/>
          <a:stretch>
            <a:fillRect/>
          </a:stretch>
        </p:blipFill>
        <p:spPr>
          <a:xfrm>
            <a:off x="0" y="5519420"/>
            <a:ext cx="12206605" cy="1338580"/>
          </a:xfrm>
          <a:prstGeom prst="rect">
            <a:avLst/>
          </a:prstGeom>
          <a:noFill/>
          <a:ln w="9525">
            <a:noFill/>
          </a:ln>
        </p:spPr>
      </p:pic>
      <p:sp>
        <p:nvSpPr>
          <p:cNvPr id="29698" name="Text Box 5"/>
          <p:cNvSpPr txBox="1"/>
          <p:nvPr/>
        </p:nvSpPr>
        <p:spPr>
          <a:xfrm>
            <a:off x="5297488" y="4086225"/>
            <a:ext cx="1758950" cy="831850"/>
          </a:xfrm>
          <a:prstGeom prst="rect">
            <a:avLst/>
          </a:prstGeom>
          <a:noFill/>
          <a:ln w="9525">
            <a:noFill/>
          </a:ln>
        </p:spPr>
        <p:txBody>
          <a:bodyPr wrap="none" anchor="t">
            <a:spAutoFit/>
          </a:bodyPr>
          <a:p>
            <a:r>
              <a:rPr lang="zh-CN" altLang="en-US" sz="4800" dirty="0">
                <a:solidFill>
                  <a:srgbClr val="002B69"/>
                </a:solidFill>
                <a:latin typeface="Arial" panose="020B0604020202090204" pitchFamily="34" charset="0"/>
                <a:ea typeface="微软雅黑" panose="020B0503020204020204" pitchFamily="34" charset="-122"/>
              </a:rPr>
              <a:t>谢  谢</a:t>
            </a:r>
            <a:endParaRPr lang="zh-CN" altLang="zh-CN" sz="4800" dirty="0">
              <a:solidFill>
                <a:srgbClr val="002B69"/>
              </a:solidFill>
              <a:latin typeface="Arial" panose="020B0604020202090204" pitchFamily="34" charset="0"/>
              <a:ea typeface="微软雅黑" panose="020B0503020204020204" pitchFamily="34" charset="-122"/>
            </a:endParaRPr>
          </a:p>
        </p:txBody>
      </p:sp>
      <p:pic>
        <p:nvPicPr>
          <p:cNvPr id="29699" name="Picture 6" descr="未标题-2"/>
          <p:cNvPicPr>
            <a:picLocks noChangeAspect="1"/>
          </p:cNvPicPr>
          <p:nvPr/>
        </p:nvPicPr>
        <p:blipFill>
          <a:blip r:embed="rId2"/>
          <a:stretch>
            <a:fillRect/>
          </a:stretch>
        </p:blipFill>
        <p:spPr>
          <a:xfrm>
            <a:off x="8311515" y="6036945"/>
            <a:ext cx="2781300" cy="303213"/>
          </a:xfrm>
          <a:prstGeom prst="rect">
            <a:avLst/>
          </a:prstGeom>
          <a:noFill/>
          <a:ln w="9525">
            <a:noFill/>
          </a:ln>
        </p:spPr>
      </p:pic>
      <p:sp>
        <p:nvSpPr>
          <p:cNvPr id="29700" name="Text Box 7"/>
          <p:cNvSpPr txBox="1"/>
          <p:nvPr/>
        </p:nvSpPr>
        <p:spPr>
          <a:xfrm>
            <a:off x="1918018" y="6101080"/>
            <a:ext cx="1519237" cy="584200"/>
          </a:xfrm>
          <a:prstGeom prst="rect">
            <a:avLst/>
          </a:prstGeom>
          <a:noFill/>
          <a:ln w="9525">
            <a:noFill/>
          </a:ln>
        </p:spPr>
        <p:txBody>
          <a:bodyPr wrap="none" anchor="t">
            <a:spAutoFit/>
          </a:bodyPr>
          <a:p>
            <a:r>
              <a:rPr lang="zh-CN" altLang="zh-CN" sz="1400" dirty="0">
                <a:solidFill>
                  <a:srgbClr val="FFFFFF"/>
                </a:solidFill>
                <a:latin typeface="Arial" panose="020B0604020202090204" pitchFamily="34" charset="0"/>
                <a:ea typeface="宋体" panose="02010600030101010101" pitchFamily="2" charset="-122"/>
              </a:rPr>
              <a:t>www.csits.</a:t>
            </a:r>
            <a:r>
              <a:rPr lang="en-US" altLang="zh-CN" sz="1400" dirty="0">
                <a:solidFill>
                  <a:srgbClr val="FFFFFF"/>
                </a:solidFill>
                <a:latin typeface="Arial" panose="020B0604020202090204" pitchFamily="34" charset="0"/>
                <a:ea typeface="宋体" panose="02010600030101010101" pitchFamily="2" charset="-122"/>
              </a:rPr>
              <a:t>org.cn</a:t>
            </a:r>
            <a:endParaRPr lang="zh-CN" altLang="zh-CN" sz="1400" dirty="0">
              <a:solidFill>
                <a:srgbClr val="FFFFFF"/>
              </a:solidFill>
              <a:latin typeface="Arial" panose="020B0604020202090204" pitchFamily="34" charset="0"/>
              <a:ea typeface="宋体" panose="02010600030101010101" pitchFamily="2" charset="-122"/>
            </a:endParaRPr>
          </a:p>
          <a:p>
            <a:endParaRPr lang="zh-CN" altLang="zh-CN" dirty="0">
              <a:solidFill>
                <a:srgbClr val="000000"/>
              </a:solidFill>
              <a:latin typeface="Arial" panose="020B0604020202090204" pitchFamily="34" charset="0"/>
              <a:ea typeface="宋体" panose="02010600030101010101" pitchFamily="2" charset="-122"/>
            </a:endParaRPr>
          </a:p>
        </p:txBody>
      </p:sp>
      <p:pic>
        <p:nvPicPr>
          <p:cNvPr id="29701" name="图片 1" descr="微信图片_20200527103432"/>
          <p:cNvPicPr>
            <a:picLocks noChangeAspect="1"/>
          </p:cNvPicPr>
          <p:nvPr/>
        </p:nvPicPr>
        <p:blipFill>
          <a:blip r:embed="rId3"/>
          <a:stretch>
            <a:fillRect/>
          </a:stretch>
        </p:blipFill>
        <p:spPr>
          <a:xfrm>
            <a:off x="2049463" y="0"/>
            <a:ext cx="7335837" cy="458470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6.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17.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TABLE_ENDDRAG_ORIGIN_RECT" val="202*456"/>
  <p:tag name="TABLE_ENDDRAG_RECT" val="0*58*202*456"/>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UNIT_TABLE_BEAUTIFY" val="smartTable{66b9837d-2cef-48b9-80ac-99b39771cc35}"/>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 name="KSO_WM_DIAGRAM_VIRTUALLY_FRAME" val="{&quot;height&quot;:135.6,&quot;left&quot;:65.55,&quot;top&quot;:300.1,&quot;width&quot;:734.7}"/>
</p:tagLst>
</file>

<file path=ppt/tags/tag62.xml><?xml version="1.0" encoding="utf-8"?>
<p:tagLst xmlns:p="http://schemas.openxmlformats.org/presentationml/2006/main">
  <p:tag name="KSO_WM_BEAUTIFY_FLAG" val=""/>
  <p:tag name="KSO_WM_DIAGRAM_VIRTUALLY_FRAME" val="{&quot;height&quot;:135.6,&quot;left&quot;:65.55,&quot;top&quot;:300.1,&quot;width&quot;:734.7}"/>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 name="KSO_WM_DIAGRAM_VIRTUALLY_FRAME" val="{&quot;height&quot;:135.6,&quot;left&quot;:65.55,&quot;top&quot;:300.1,&quot;width&quot;:734.7}"/>
</p:tagLst>
</file>

<file path=ppt/tags/tag66.xml><?xml version="1.0" encoding="utf-8"?>
<p:tagLst xmlns:p="http://schemas.openxmlformats.org/presentationml/2006/main">
  <p:tag name="KSO_WM_BEAUTIFY_FLAG" val=""/>
  <p:tag name="KSO_WM_DIAGRAM_VIRTUALLY_FRAME" val="{&quot;height&quot;:135.6,&quot;left&quot;:65.55,&quot;top&quot;:300.1,&quot;width&quot;:734.7}"/>
</p:tagLst>
</file>

<file path=ppt/tags/tag67.xml><?xml version="1.0" encoding="utf-8"?>
<p:tagLst xmlns:p="http://schemas.openxmlformats.org/presentationml/2006/main">
  <p:tag name="KSO_WM_BEAUTIFY_FLAG" val=""/>
  <p:tag name="KSO_WM_DIAGRAM_VIRTUALLY_FRAME" val="{&quot;height&quot;:135.6,&quot;left&quot;:65.55,&quot;top&quot;:300.1,&quot;width&quot;:734.7}"/>
</p:tagLst>
</file>

<file path=ppt/tags/tag68.xml><?xml version="1.0" encoding="utf-8"?>
<p:tagLst xmlns:p="http://schemas.openxmlformats.org/presentationml/2006/main">
  <p:tag name="KSO_WM_BEAUTIFY_FLAG" val=""/>
  <p:tag name="KSO_WM_DIAGRAM_VIRTUALLY_FRAME" val="{&quot;height&quot;:135.6,&quot;left&quot;:65.55,&quot;top&quot;:300.1,&quot;width&quot;:734.7}"/>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UNIT_TABLE_BEAUTIFY" val="smartTable{43f073fd-112d-433c-a3e3-7d60374f5409}"/>
  <p:tag name="TABLE_ENDDRAG_ORIGIN_RECT" val="923*479"/>
  <p:tag name="TABLE_ENDDRAG_RECT" val="17*64*923*479"/>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UNIT_TABLE_BEAUTIFY" val="smartTable{f0ce9259-0b9f-4999-97c8-8c46c4fb3ac0}"/>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UNIT_TABLE_BEAUTIFY" val="smartTable{a65ba938-e5d0-4b51-a3fd-4a66ec0ea442}"/>
  <p:tag name="TABLE_ENDDRAG_ORIGIN_RECT" val="451*474"/>
  <p:tag name="TABLE_ENDDRAG_RECT" val="9*57*451*474"/>
</p:tagLst>
</file>

<file path=ppt/tags/tag123.xml><?xml version="1.0" encoding="utf-8"?>
<p:tagLst xmlns:p="http://schemas.openxmlformats.org/presentationml/2006/main">
  <p:tag name="KSO_WM_UNIT_TABLE_BEAUTIFY" val="smartTable{ae8e4dd7-3749-4893-93b5-ceedf3dccfa2}"/>
  <p:tag name="TABLE_ENDDRAG_ORIGIN_RECT" val="478*341"/>
  <p:tag name="TABLE_ENDDRAG_RECT" val="451*115*478*341"/>
  <p:tag name="KSO_WM_BEAUTIFY_FLAG" val=""/>
</p:tagLst>
</file>

<file path=ppt/tags/tag124.xml><?xml version="1.0" encoding="utf-8"?>
<p:tagLst xmlns:p="http://schemas.openxmlformats.org/presentationml/2006/main">
  <p:tag name="TABLE_ENDDRAG_ORIGIN_RECT" val="429*400"/>
  <p:tag name="TABLE_ENDDRAG_RECT" val="26*74*429*400"/>
</p:tagLst>
</file>

<file path=ppt/tags/tag125.xml><?xml version="1.0" encoding="utf-8"?>
<p:tagLst xmlns:p="http://schemas.openxmlformats.org/presentationml/2006/main">
  <p:tag name="KSO_WM_UNIT_TABLE_BEAUTIFY" val="smartTable{5e3ec443-624a-4c47-aa6e-995707a52145}"/>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5304</Words>
  <Application>WPS 表格</Application>
  <PresentationFormat>宽屏</PresentationFormat>
  <Paragraphs>1661</Paragraphs>
  <Slides>31</Slides>
  <Notes>4</Notes>
  <HiddenSlides>0</HiddenSlides>
  <MMClips>0</MMClips>
  <ScaleCrop>false</ScaleCrop>
  <HeadingPairs>
    <vt:vector size="8" baseType="variant">
      <vt:variant>
        <vt:lpstr>已用的字体</vt:lpstr>
      </vt:variant>
      <vt:variant>
        <vt:i4>27</vt:i4>
      </vt:variant>
      <vt:variant>
        <vt:lpstr>主题</vt:lpstr>
      </vt:variant>
      <vt:variant>
        <vt:i4>1</vt:i4>
      </vt:variant>
      <vt:variant>
        <vt:lpstr>嵌入 OLE 服务器</vt:lpstr>
      </vt:variant>
      <vt:variant>
        <vt:i4>2</vt:i4>
      </vt:variant>
      <vt:variant>
        <vt:lpstr>幻灯片标题</vt:lpstr>
      </vt:variant>
      <vt:variant>
        <vt:i4>31</vt:i4>
      </vt:variant>
    </vt:vector>
  </HeadingPairs>
  <TitlesOfParts>
    <vt:vector size="61" baseType="lpstr">
      <vt:lpstr>Arial</vt:lpstr>
      <vt:lpstr>宋体</vt:lpstr>
      <vt:lpstr>Wingdings</vt:lpstr>
      <vt:lpstr>微软雅黑</vt:lpstr>
      <vt:lpstr>黑体</vt:lpstr>
      <vt:lpstr>Wingdings</vt:lpstr>
      <vt:lpstr>Arial</vt:lpstr>
      <vt:lpstr>Times New Roman</vt:lpstr>
      <vt:lpstr>华文细黑</vt:lpstr>
      <vt:lpstr>等线</vt:lpstr>
      <vt:lpstr>汉仪中等线KW</vt:lpstr>
      <vt:lpstr>Arial Unicode MS</vt:lpstr>
      <vt:lpstr>Calibri</vt:lpstr>
      <vt:lpstr>华文楷体</vt:lpstr>
      <vt:lpstr>仿宋</vt:lpstr>
      <vt:lpstr>思源黑体 Bold</vt:lpstr>
      <vt:lpstr>Microsoft YaHei UI</vt:lpstr>
      <vt:lpstr>Times New Roman</vt:lpstr>
      <vt:lpstr>Arial</vt:lpstr>
      <vt:lpstr>黑体-简</vt:lpstr>
      <vt:lpstr>苹方-简</vt:lpstr>
      <vt:lpstr>Microsoft YaHei UI</vt:lpstr>
      <vt:lpstr>华文细黑</vt:lpstr>
      <vt:lpstr>思源黑体 Bold</vt:lpstr>
      <vt:lpstr>等线</vt:lpstr>
      <vt:lpstr>-apple-system</vt:lpstr>
      <vt:lpstr>Thonburi</vt:lpstr>
      <vt:lpstr>Office 主题​​</vt:lpstr>
      <vt:lpstr>Visio.Drawing.11</vt:lpstr>
      <vt:lpstr>Visio.Drawing.11</vt:lpstr>
      <vt:lpstr>外部委数据信息共享 税务总局 总体方案设计                            业务支撑系统-公共模块</vt:lpstr>
      <vt:lpstr>PowerPoint 演示文稿</vt:lpstr>
      <vt:lpstr>1.1基本情况</vt:lpstr>
      <vt:lpstr>PowerPoint 演示文稿</vt:lpstr>
      <vt:lpstr> 1.2业务规划</vt:lpstr>
      <vt:lpstr>目录页</vt:lpstr>
      <vt:lpstr>2.1外部委数据信息共享-税务总局整体架构</vt:lpstr>
      <vt:lpstr> 2.1总体架构</vt:lpstr>
      <vt:lpstr>目录页</vt:lpstr>
      <vt:lpstr>PowerPoint 演示文稿</vt:lpstr>
      <vt:lpstr>目录页</vt:lpstr>
      <vt:lpstr>2.2数据架构</vt:lpstr>
      <vt:lpstr>2.2数据架构-数据流向</vt:lpstr>
      <vt:lpstr> 2.2数据架构-数据流向</vt:lpstr>
      <vt:lpstr>目录页</vt:lpstr>
      <vt:lpstr>2.3基础架构-开发架构</vt:lpstr>
      <vt:lpstr>PowerPoint 演示文稿</vt:lpstr>
      <vt:lpstr>2.3基础架构-安全架构</vt:lpstr>
      <vt:lpstr>2.4基础架构-技术架构</vt:lpstr>
      <vt:lpstr>2.3基础架构-技术架构</vt:lpstr>
      <vt:lpstr>PowerPoint 演示文稿</vt:lpstr>
      <vt:lpstr>2.3部署架构</vt:lpstr>
      <vt:lpstr>2.3资源估算-软硬件估算</vt:lpstr>
      <vt:lpstr>2.4基础架构-非功能需求</vt:lpstr>
      <vt:lpstr>目录页</vt:lpstr>
      <vt:lpstr> 3.1时间计划</vt:lpstr>
      <vt:lpstr>目录页</vt:lpstr>
      <vt:lpstr> 3.2预期成果</vt:lpstr>
      <vt:lpstr>目录页</vt:lpstr>
      <vt:lpstr>请示事项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Renzb</cp:lastModifiedBy>
  <cp:revision>639</cp:revision>
  <dcterms:created xsi:type="dcterms:W3CDTF">2026-01-23T10:14:33Z</dcterms:created>
  <dcterms:modified xsi:type="dcterms:W3CDTF">2026-01-23T10:14:33Z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0BFF989440A1449782AAEF6BF4D7E4BB_13</vt:lpwstr>
  </property>
</Properties>
</file>